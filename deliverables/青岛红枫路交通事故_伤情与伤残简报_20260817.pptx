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1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C4A35A"/>
                </a:solidFill>
                <a:latin typeface="Microsoft YaHei"/>
                <a:ea typeface="Microsoft YaHei"/>
              </a:rPr>
              <a:t>山东大学齐鲁医院（青岛）云影像  ×  得到大脑通话整理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109728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Microsoft YaHei"/>
                <a:ea typeface="Microsoft YaHei"/>
              </a:rPr>
              <a:t>红枫路交通事故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icrosoft YaHei"/>
                <a:ea typeface="Microsoft YaHei"/>
              </a:rPr>
              <a:t>伤情鉴定与伤残情况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148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>
                <a:solidFill>
                  <a:srgbClr val="F3F6FA"/>
                </a:solidFill>
                <a:latin typeface="Microsoft YaHei"/>
                <a:ea typeface="Microsoft YaHei"/>
              </a:rPr>
              <a:t>伤者：胡某 · 男 · 64岁</a:t>
            </a:r>
          </a:p>
          <a:p>
            <a:pPr algn="l"/>
            <a:r>
              <a:rPr sz="1800" b="0">
                <a:solidFill>
                  <a:srgbClr val="F3F6FA"/>
                </a:solidFill>
                <a:latin typeface="Microsoft YaHei"/>
                <a:ea typeface="Microsoft YaHei"/>
              </a:rPr>
              <a:t>结论：影像已定性，伤残尚未鉴定，现在不能报残级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03504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5C6B7A"/>
                </a:solidFill>
                <a:latin typeface="Microsoft YaHei"/>
                <a:ea typeface="Microsoft YaHei"/>
              </a:rPr>
              <a:t>内部决策简报  ·  2026年8月17日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先看结论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3F6FA"/>
                </a:solidFill>
                <a:latin typeface="Microsoft YaHei"/>
                <a:ea typeface="Microsoft YaHei"/>
              </a:rPr>
              <a:t>病例链接打开后，只需要记住这三句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143000"/>
            <a:ext cx="3657600" cy="50292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143000"/>
            <a:ext cx="73152" cy="502920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1252728"/>
            <a:ext cx="3337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B2F5B"/>
                </a:solidFill>
                <a:latin typeface="Microsoft YaHei"/>
                <a:ea typeface="Microsoft YaHei"/>
              </a:rPr>
              <a:t>1. 谁受伤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1545336"/>
            <a:ext cx="3337560" cy="4526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只有 64 岁男性胡某。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/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三份 CT 都是他的：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右小腿、右足、术后右踝。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/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家属胡继刚是对接人，不是伤者。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骑手没有本次伤残材料。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1960" y="1143000"/>
            <a:ext cx="3657600" cy="50292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51960" y="1143000"/>
            <a:ext cx="73152" cy="5029200"/>
          </a:xfrm>
          <a:prstGeom prst="rect">
            <a:avLst/>
          </a:prstGeom>
          <a:solidFill>
            <a:srgbClr val="A63D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53128" y="1252728"/>
            <a:ext cx="3337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A63D2F"/>
                </a:solidFill>
                <a:latin typeface="Microsoft YaHei"/>
                <a:ea typeface="Microsoft YaHei"/>
              </a:rPr>
              <a:t>2. 伤了什么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53128" y="1545336"/>
            <a:ext cx="3337560" cy="4526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本次外伤（急诊 CT）：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• 右胫骨远端骨折，移位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• 右腓骨近端骨折，移位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• 右踝关节半脱位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• 距骨内缘、外踝撕脱骨折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/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8月15日已做内外固定，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复查固定在位、位线可。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2440" y="1143000"/>
            <a:ext cx="3657600" cy="50292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92440" y="1143000"/>
            <a:ext cx="73152" cy="5029200"/>
          </a:xfrm>
          <a:prstGeom prst="rect">
            <a:avLst/>
          </a:prstGeom>
          <a:solidFill>
            <a:srgbClr val="B57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93608" y="1252728"/>
            <a:ext cx="3337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B57A2A"/>
                </a:solidFill>
                <a:latin typeface="Microsoft YaHei"/>
                <a:ea typeface="Microsoft YaHei"/>
              </a:rPr>
              <a:t>3. 谁伤残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93608" y="1545336"/>
            <a:ext cx="3337560" cy="4526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现在：谁都还没有伤残等级。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/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CT 是影像诊断，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不是伤残鉴定书。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/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评残要等治疗终结后，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由司法鉴定机构做。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现在对外禁止说「几级残」。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510528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青岛红枫路交通事故 · 内部材料 · 2026-08-17 · 伤残尚未鉴定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齐鲁医院三份已审核 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3F6FA"/>
                </a:solidFill>
                <a:latin typeface="Microsoft YaHei"/>
                <a:ea typeface="Microsoft YaHei"/>
              </a:rPr>
              <a:t>检查号可直接用于病历和理赔材料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143000"/>
            <a:ext cx="3657600" cy="50292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143000"/>
            <a:ext cx="3657600" cy="640080"/>
          </a:xfrm>
          <a:prstGeom prst="rect">
            <a:avLst/>
          </a:prstGeom>
          <a:solidFill>
            <a:srgbClr val="A63D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261872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</a:rPr>
              <a:t>08-14 急诊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196596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F2A37"/>
                </a:solidFill>
                <a:latin typeface="Microsoft YaHei"/>
                <a:ea typeface="Microsoft YaHei"/>
              </a:rPr>
              <a:t>10008056847  右小腿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651760"/>
            <a:ext cx="329184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胫骨远端+腓骨近端骨折</a:t>
            </a:r>
          </a:p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踝关节半脱位</a:t>
            </a:r>
          </a:p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距骨内缘、外踝撕脱骨折</a:t>
            </a:r>
          </a:p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软组织肿胀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1960" y="1143000"/>
            <a:ext cx="3657600" cy="50292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51960" y="1143000"/>
            <a:ext cx="3657600" cy="640080"/>
          </a:xfrm>
          <a:prstGeom prst="rect">
            <a:avLst/>
          </a:prstGeom>
          <a:solidFill>
            <a:srgbClr val="2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34840" y="1261872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</a:rPr>
              <a:t>08-14 急诊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196596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F2A37"/>
                </a:solidFill>
                <a:latin typeface="Microsoft YaHei"/>
                <a:ea typeface="Microsoft YaHei"/>
              </a:rPr>
              <a:t>10008056848  右足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2651760"/>
            <a:ext cx="329184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组成骨完整，无新发骨折</a:t>
            </a:r>
          </a:p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退行性变、跟骨骨刺</a:t>
            </a:r>
          </a:p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第一跖骨头囊变</a:t>
            </a:r>
          </a:p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不计入本次评残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1143000"/>
            <a:ext cx="3657600" cy="50292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92440" y="1143000"/>
            <a:ext cx="3657600" cy="64008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75320" y="1261872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</a:rPr>
              <a:t>08-15 住院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1965960"/>
            <a:ext cx="3291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F2A37"/>
                </a:solidFill>
                <a:latin typeface="Microsoft YaHei"/>
                <a:ea typeface="Microsoft YaHei"/>
              </a:rPr>
              <a:t>10008059257  右踝术后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20" y="2651760"/>
            <a:ext cx="329184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手足与显微重建外科</a:t>
            </a:r>
          </a:p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内外固定在位，位线可</a:t>
            </a:r>
          </a:p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周围软组织仍肿</a:t>
            </a:r>
          </a:p>
          <a:p>
            <a:pPr algn="l"/>
            <a:r>
              <a:rPr sz="1500" b="0">
                <a:solidFill>
                  <a:srgbClr val="1F2A37"/>
                </a:solidFill>
                <a:latin typeface="Microsoft YaHei"/>
                <a:ea typeface="Microsoft YaHei"/>
              </a:rPr>
              <a:t>证明手术已在三甲完成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510528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青岛红枫路交通事故 · 内部材料 · 2026-08-17 · 伤残尚未鉴定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通话必须改口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3F6FA"/>
                </a:solidFill>
                <a:latin typeface="Microsoft YaHei"/>
                <a:ea typeface="Microsoft YaHei"/>
              </a:rPr>
              <a:t>得到大脑转写不能当诊断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097280"/>
            <a:ext cx="11338560" cy="1170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0700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A63D2F"/>
                </a:solidFill>
                <a:latin typeface="Microsoft YaHei"/>
                <a:ea typeface="Microsoft YaHei"/>
              </a:rPr>
              <a:t>不要再说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81328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F2A37"/>
                </a:solidFill>
                <a:latin typeface="Microsoft YaHei"/>
                <a:ea typeface="Microsoft YaHei"/>
              </a:rPr>
              <a:t>右脚后跟粉碎性骨折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82880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2F6B4F"/>
                </a:solidFill>
                <a:latin typeface="Microsoft YaHei"/>
                <a:ea typeface="Microsoft YaHei"/>
              </a:rPr>
              <a:t>右足 CT 无跟骨粉碎骨折，只有骨刺。粉碎在胫骨远端和踝关节。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2377440"/>
            <a:ext cx="11338560" cy="1170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48716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A63D2F"/>
                </a:solidFill>
                <a:latin typeface="Microsoft YaHei"/>
                <a:ea typeface="Microsoft YaHei"/>
              </a:rPr>
              <a:t>不要再说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761488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F2A37"/>
                </a:solidFill>
                <a:latin typeface="Microsoft YaHei"/>
                <a:ea typeface="Microsoft YaHei"/>
              </a:rPr>
              <a:t>只是腓骨下段断了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10896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2F6B4F"/>
                </a:solidFill>
                <a:latin typeface="Microsoft YaHei"/>
                <a:ea typeface="Microsoft YaHei"/>
              </a:rPr>
              <a:t>报告写腓骨近端骨折，另有外踝撕脱。两处都要记。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3657600"/>
            <a:ext cx="11338560" cy="1170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76732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A63D2F"/>
                </a:solidFill>
                <a:latin typeface="Microsoft YaHei"/>
                <a:ea typeface="Microsoft YaHei"/>
              </a:rPr>
              <a:t>不要再说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041648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F2A37"/>
                </a:solidFill>
                <a:latin typeface="Microsoft YaHei"/>
                <a:ea typeface="Microsoft YaHei"/>
              </a:rPr>
              <a:t>打了两根或四根钢钉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3891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2F6B4F"/>
                </a:solidFill>
                <a:latin typeface="Microsoft YaHei"/>
                <a:ea typeface="Microsoft YaHei"/>
              </a:rPr>
              <a:t>术后 CT：内外固定在位。以手术记录为准。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4937760"/>
            <a:ext cx="11338560" cy="1170432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04748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A63D2F"/>
                </a:solidFill>
                <a:latin typeface="Microsoft YaHei"/>
                <a:ea typeface="Microsoft YaHei"/>
              </a:rPr>
              <a:t>不要再说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321808"/>
            <a:ext cx="10972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F2A37"/>
                </a:solidFill>
                <a:latin typeface="Microsoft YaHei"/>
                <a:ea typeface="Microsoft YaHei"/>
              </a:rPr>
              <a:t>8月15日已经出院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66928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2F6B4F"/>
                </a:solidFill>
                <a:latin typeface="Microsoft YaHei"/>
                <a:ea typeface="Microsoft YaHei"/>
              </a:rPr>
              <a:t>当天住院 CT 在手足外科，仍在齐鲁术后复查。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510528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青岛红枫路交通事故 · 内部材料 · 2026-08-17 · 伤残尚未鉴定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伤残怎么处理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3F6FA"/>
                </a:solidFill>
                <a:latin typeface="Microsoft YaHei"/>
                <a:ea typeface="Microsoft YaHei"/>
              </a:rPr>
              <a:t>现在只准备，不报价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55680" cy="502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600" b="0">
                <a:solidFill>
                  <a:srgbClr val="1F2A37"/>
                </a:solidFill>
                <a:latin typeface="Microsoft YaHei"/>
                <a:ea typeface="Microsoft YaHei"/>
              </a:rPr>
              <a:t>评谁：只评伤者胡某。别人没有残。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600" b="0">
                <a:solidFill>
                  <a:srgbClr val="1F2A37"/>
                </a:solidFill>
                <a:latin typeface="Microsoft YaHei"/>
                <a:ea typeface="Microsoft YaHei"/>
              </a:rPr>
              <a:t>何时：治疗终结、临床相对稳定后。骨折内固定常见约伤后 3 个月以上，以鉴定机构书面要求为准。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600" b="0">
                <a:solidFill>
                  <a:srgbClr val="1F2A37"/>
                </a:solidFill>
                <a:latin typeface="Microsoft YaHei"/>
                <a:ea typeface="Microsoft YaHei"/>
              </a:rPr>
              <a:t>标准：道路交通事故用《人体损伤致残程度分级》。不要套工伤标准，不要用网上计算器报级。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600" b="0">
                <a:solidFill>
                  <a:srgbClr val="1F2A37"/>
                </a:solidFill>
                <a:latin typeface="Microsoft YaHei"/>
                <a:ea typeface="Microsoft YaHei"/>
              </a:rPr>
              <a:t>评什么：右踝功能、行走能力。右足骨刺、退变删掉。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600" b="0">
                <a:solidFill>
                  <a:srgbClr val="1F2A37"/>
                </a:solidFill>
                <a:latin typeface="Microsoft YaHei"/>
                <a:ea typeface="Microsoft YaHei"/>
              </a:rPr>
              <a:t>现在对外：禁止说已经几级。面谈不锁总包死价。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600" b="0">
                <a:solidFill>
                  <a:srgbClr val="1F2A37"/>
                </a:solidFill>
                <a:latin typeface="Microsoft YaHei"/>
                <a:ea typeface="Microsoft YaHei"/>
              </a:rPr>
              <a:t>医学内部判断：损伤较重，日后若踝关节明显受限，具备启动评残的基础；级数看功能，不看急诊片子。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10528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青岛红枫路交通事故 · 内部材料 · 2026-08-17 · 伤残尚未鉴定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交警视频排除全责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3F6FA"/>
                </a:solidFill>
                <a:latin typeface="Microsoft YaHei"/>
                <a:ea typeface="Microsoft YaHei"/>
              </a:rPr>
              <a:t>市北区 · 红枫路汽车市场外抚顺路 · 监控已调取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143000"/>
            <a:ext cx="5577840" cy="22860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143000"/>
            <a:ext cx="73152" cy="2286000"/>
          </a:xfrm>
          <a:prstGeom prst="rect">
            <a:avLst/>
          </a:prstGeom>
          <a:solidFill>
            <a:srgbClr val="B57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1252728"/>
            <a:ext cx="5257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B57A2A"/>
                </a:solidFill>
                <a:latin typeface="Microsoft YaHei"/>
                <a:ea typeface="Microsoft YaHei"/>
              </a:rPr>
              <a:t>三轮车（伤者）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1545336"/>
            <a:ext cx="5257800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• 交警认定属机动车，无正规号牌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• 转向灯失灵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• 掉头先右靠再大弧度左拐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143000"/>
            <a:ext cx="5577840" cy="22860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72200" y="1143000"/>
            <a:ext cx="73152" cy="228600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3368" y="1252728"/>
            <a:ext cx="5257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0B2F5B"/>
                </a:solidFill>
                <a:latin typeface="Microsoft YaHei"/>
                <a:ea typeface="Microsoft YaHei"/>
              </a:rPr>
              <a:t>美团二轮（女骑手）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3368" y="1545336"/>
            <a:ext cx="5257800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• 未保持安全车距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• 后方视野更好，有条件规避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• 无交强险，靠平台保险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3657600"/>
            <a:ext cx="11338560" cy="246888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79476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0B2F5B"/>
                </a:solidFill>
                <a:latin typeface="Microsoft YaHei"/>
                <a:ea typeface="Microsoft YaHei"/>
              </a:rPr>
              <a:t>可能结果只有两种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160520"/>
            <a:ext cx="109728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1F2A37"/>
                </a:solidFill>
                <a:latin typeface="Microsoft YaHei"/>
                <a:ea typeface="Microsoft YaHei"/>
              </a:rPr>
              <a:t>① 双方同等责任　　② 三轮次责、外卖主责</a:t>
            </a:r>
          </a:p>
          <a:p>
            <a:pPr algn="l"/>
            <a:r>
              <a:rPr sz="1600" b="0">
                <a:solidFill>
                  <a:srgbClr val="1F2A37"/>
                </a:solidFill>
                <a:latin typeface="Microsoft YaHei"/>
                <a:ea typeface="Microsoft YaHei"/>
              </a:rPr>
              <a:t>任何一方全责，交警明确排除。法院看视频也不会超出这个范围。</a:t>
            </a:r>
          </a:p>
          <a:p>
            <a:pPr algn="l"/>
            <a:r>
              <a:rPr sz="1600" b="0">
                <a:solidFill>
                  <a:srgbClr val="1F2A37"/>
                </a:solidFill>
                <a:latin typeface="Microsoft YaHei"/>
                <a:ea typeface="Microsoft YaHei"/>
              </a:rPr>
              <a:t>8月15–16日家属按全责讨论，从今天起停用。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510528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青岛红枫路交通事故 · 内部材料 · 2026-08-17 · 伤残尚未鉴定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程序和钱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3F6FA"/>
                </a:solidFill>
                <a:latin typeface="Microsoft YaHei"/>
                <a:ea typeface="Microsoft YaHei"/>
              </a:rPr>
              <a:t>不要用一般程序去赌全责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143000"/>
            <a:ext cx="5577840" cy="50292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143000"/>
            <a:ext cx="73152" cy="5029200"/>
          </a:xfrm>
          <a:prstGeom prst="rect">
            <a:avLst/>
          </a:prstGeom>
          <a:solidFill>
            <a:srgbClr val="2F6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1252728"/>
            <a:ext cx="5257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F6B4F"/>
                </a:solidFill>
                <a:latin typeface="Microsoft YaHei"/>
                <a:ea typeface="Microsoft YaHei"/>
              </a:rPr>
              <a:t>简易优先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" y="1545336"/>
            <a:ext cx="5257800" cy="4526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不审车辆手续和驾照，快出认定书。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交警建议先协商走简易，避免己方无牌/可能无证被罚。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/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前提：问清美团平台保险在该责任比例下能否赔医疗费和日后伤残。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143000"/>
            <a:ext cx="5577840" cy="50292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72200" y="1143000"/>
            <a:ext cx="73152" cy="5029200"/>
          </a:xfrm>
          <a:prstGeom prst="rect">
            <a:avLst/>
          </a:prstGeom>
          <a:solidFill>
            <a:srgbClr val="A63D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3368" y="1252728"/>
            <a:ext cx="5257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A63D2F"/>
                </a:solidFill>
                <a:latin typeface="Microsoft YaHei"/>
                <a:ea typeface="Microsoft YaHei"/>
              </a:rPr>
              <a:t>钱从保险来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3368" y="1545336"/>
            <a:ext cx="5257800" cy="4526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骑手个人偿付能力弱，交警已提醒判了也可能执行不到。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/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先要：保单/工号、理赔窗口、是否必须认定书。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费用两套口述（3.5万 / 7万）冲突，用发票重做台账。</a:t>
            </a:r>
          </a:p>
          <a:p>
            <a:pPr algn="l"/>
            <a:r>
              <a:rPr sz="1200" b="0">
                <a:solidFill>
                  <a:srgbClr val="1F2A37"/>
                </a:solidFill>
                <a:latin typeface="Microsoft YaHei"/>
                <a:ea typeface="Microsoft YaHei"/>
              </a:rPr>
              <a:t>责任方截至 8月16日一分未付。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510528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青岛红枫路交通事故 · 内部材料 · 2026-08-17 · 伤残尚未鉴定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转院报销卡住了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3F6FA"/>
                </a:solidFill>
                <a:latin typeface="Microsoft YaHei"/>
                <a:ea typeface="Microsoft YaHei"/>
              </a:rPr>
              <a:t>人已到人民医院，齐鲁出院未办，二甲入院办不成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55680" cy="502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6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600" b="0">
                <a:solidFill>
                  <a:srgbClr val="1F2A37"/>
                </a:solidFill>
                <a:latin typeface="Microsoft YaHei"/>
                <a:ea typeface="Microsoft YaHei"/>
              </a:rPr>
              <a:t>今天第一优先：办齐鲁出院结算，再办人民医院入院。人在床上没有住院号最危险。</a:t>
            </a:r>
          </a:p>
          <a:p>
            <a:pPr algn="l">
              <a:lnSpc>
                <a:spcPct val="122000"/>
              </a:lnSpc>
            </a:pPr>
            <a:r>
              <a:rPr sz="16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600" b="0">
                <a:solidFill>
                  <a:srgbClr val="1F2A37"/>
                </a:solidFill>
                <a:latin typeface="Microsoft YaHei"/>
                <a:ea typeface="Microsoft YaHei"/>
              </a:rPr>
              <a:t>医保能报，不等于美团平台险能报。两条分开问。向保险报医院全称。</a:t>
            </a:r>
          </a:p>
          <a:p>
            <a:pPr algn="l">
              <a:lnSpc>
                <a:spcPct val="122000"/>
              </a:lnSpc>
            </a:pPr>
            <a:r>
              <a:rPr sz="16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600" b="0">
                <a:solidFill>
                  <a:srgbClr val="1F2A37"/>
                </a:solidFill>
                <a:latin typeface="Microsoft YaHei"/>
                <a:ea typeface="Microsoft YaHei"/>
              </a:rPr>
              <a:t>对方是外卖电动车，没有交强险。认定单上未必有人保/平安。找美团平台险。</a:t>
            </a:r>
          </a:p>
          <a:p>
            <a:pPr algn="l">
              <a:lnSpc>
                <a:spcPct val="122000"/>
              </a:lnSpc>
            </a:pPr>
            <a:r>
              <a:rPr sz="16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600" b="0">
                <a:solidFill>
                  <a:srgbClr val="1F2A37"/>
                </a:solidFill>
                <a:latin typeface="Microsoft YaHei"/>
                <a:ea typeface="Microsoft YaHei"/>
              </a:rPr>
              <a:t>术后两天不是康复期。8月15日CT仍写软组织肿胀，不能按朋友说的「已经康复」处理。</a:t>
            </a:r>
          </a:p>
          <a:p>
            <a:pPr algn="l">
              <a:lnSpc>
                <a:spcPct val="122000"/>
              </a:lnSpc>
            </a:pPr>
            <a:r>
              <a:rPr sz="16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600" b="0">
                <a:solidFill>
                  <a:srgbClr val="1F2A37"/>
                </a:solidFill>
                <a:latin typeface="Microsoft YaHei"/>
                <a:ea typeface="Microsoft YaHei"/>
              </a:rPr>
              <a:t>院方说联合体、同一家医院；父亲好说话才同意。主治强硬，青岛没有上海那种关系。</a:t>
            </a:r>
          </a:p>
          <a:p>
            <a:pPr algn="l">
              <a:lnSpc>
                <a:spcPct val="122000"/>
              </a:lnSpc>
            </a:pPr>
            <a:r>
              <a:rPr sz="1600" b="0">
                <a:solidFill>
                  <a:srgbClr val="C4A35A"/>
                </a:solidFill>
                <a:latin typeface="Microsoft YaHei"/>
                <a:ea typeface="Microsoft YaHei"/>
              </a:rPr>
              <a:t>●  </a:t>
            </a:r>
            <a:r>
              <a:rPr sz="1600" b="0">
                <a:solidFill>
                  <a:srgbClr val="1F2A37"/>
                </a:solidFill>
                <a:latin typeface="Microsoft YaHei"/>
                <a:ea typeface="Microsoft YaHei"/>
              </a:rPr>
              <a:t>不做：装病、出院再入院绕考核、代扮交警、另找别的三甲碰运气。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10528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青岛红枫路交通事故 · 内部材料 · 2026-08-17 · 伤残尚未鉴定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本周只做六件事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3F6FA"/>
                </a:solidFill>
                <a:latin typeface="Microsoft YaHei"/>
                <a:ea typeface="Microsoft YaHei"/>
              </a:rPr>
              <a:t>先打通住院身份。残级、总包死价不谈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143000"/>
            <a:ext cx="3657600" cy="22860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7160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B2F5B"/>
                </a:solidFill>
                <a:latin typeface="Microsoft YaHei"/>
                <a:ea typeface="Microsoft YaHei"/>
              </a:rPr>
              <a:t>1  办出院入院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65960"/>
            <a:ext cx="3200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F2A37"/>
                </a:solidFill>
                <a:latin typeface="Microsoft YaHei"/>
                <a:ea typeface="Microsoft YaHei"/>
              </a:rPr>
              <a:t>齐鲁结算 → 人民医院入院，避免空窗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51960" y="1143000"/>
            <a:ext cx="3657600" cy="22860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80560" y="137160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B2F5B"/>
                </a:solidFill>
                <a:latin typeface="Microsoft YaHei"/>
                <a:ea typeface="Microsoft YaHei"/>
              </a:rPr>
              <a:t>2  问美团险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1965960"/>
            <a:ext cx="3200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F2A37"/>
                </a:solidFill>
                <a:latin typeface="Microsoft YaHei"/>
                <a:ea typeface="Microsoft YaHei"/>
              </a:rPr>
              <a:t>不是交强险。报医院全称：市北区人民医院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2440" y="1143000"/>
            <a:ext cx="3657600" cy="22860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137160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B2F5B"/>
                </a:solidFill>
                <a:latin typeface="Microsoft YaHei"/>
                <a:ea typeface="Microsoft YaHei"/>
              </a:rPr>
              <a:t>3  存病历发票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0" y="1965960"/>
            <a:ext cx="3200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F2A37"/>
                </a:solidFill>
                <a:latin typeface="Microsoft YaHei"/>
                <a:ea typeface="Microsoft YaHei"/>
              </a:rPr>
              <a:t>三份 CT、手术记录、费用明细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657600"/>
            <a:ext cx="3657600" cy="22860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88620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B2F5B"/>
                </a:solidFill>
                <a:latin typeface="Microsoft YaHei"/>
                <a:ea typeface="Microsoft YaHei"/>
              </a:rPr>
              <a:t>4  公对公留痕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480560"/>
            <a:ext cx="3200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F2A37"/>
                </a:solidFill>
                <a:latin typeface="Microsoft YaHei"/>
                <a:ea typeface="Microsoft YaHei"/>
              </a:rPr>
              <a:t>交警电话给赛主任，不换号不代扮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51960" y="3657600"/>
            <a:ext cx="3657600" cy="22860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0560" y="388620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B2F5B"/>
                </a:solidFill>
                <a:latin typeface="Microsoft YaHei"/>
                <a:ea typeface="Microsoft YaHei"/>
              </a:rPr>
              <a:t>5  保险进群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4480560"/>
            <a:ext cx="3200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F2A37"/>
                </a:solidFill>
                <a:latin typeface="Microsoft YaHei"/>
                <a:ea typeface="Microsoft YaHei"/>
              </a:rPr>
              <a:t>本周见到骑手，平台和保险进群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92440" y="3657600"/>
            <a:ext cx="3657600" cy="22860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21040" y="3886200"/>
            <a:ext cx="3200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B2F5B"/>
                </a:solidFill>
                <a:latin typeface="Microsoft YaHei"/>
                <a:ea typeface="Microsoft YaHei"/>
              </a:rPr>
              <a:t>6  只谈已发生费用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1040" y="4480560"/>
            <a:ext cx="3200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F2A37"/>
                </a:solidFill>
                <a:latin typeface="Microsoft YaHei"/>
                <a:ea typeface="Microsoft YaHei"/>
              </a:rPr>
              <a:t>不谈残级，不签一次性了结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510528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青岛红枫路交通事故 · 内部材料 · 2026-08-17 · 伤残尚未鉴定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F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45720"/>
          </a:xfrm>
          <a:prstGeom prst="rect">
            <a:avLst/>
          </a:prstGeom>
          <a:solidFill>
            <a:srgbClr val="C4A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471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面谈禁用清单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30352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F3F6FA"/>
                </a:solidFill>
                <a:latin typeface="Microsoft YaHei"/>
                <a:ea typeface="Microsoft YaHei"/>
              </a:rPr>
              <a:t>说错一句，责任和评残都会被对方抓住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097280"/>
            <a:ext cx="11338560" cy="6858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097280"/>
            <a:ext cx="109728" cy="685800"/>
          </a:xfrm>
          <a:prstGeom prst="rect">
            <a:avLst/>
          </a:prstGeom>
          <a:solidFill>
            <a:srgbClr val="A63D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261872"/>
            <a:ext cx="10789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A63D2F"/>
                </a:solidFill>
                <a:latin typeface="Microsoft YaHei"/>
                <a:ea typeface="Microsoft YaHei"/>
              </a:rPr>
              <a:t>对方全责 / 已经几级伤残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874520"/>
            <a:ext cx="11338560" cy="6858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11480" y="1874520"/>
            <a:ext cx="109728" cy="685800"/>
          </a:xfrm>
          <a:prstGeom prst="rect">
            <a:avLst/>
          </a:prstGeom>
          <a:solidFill>
            <a:srgbClr val="A63D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2039112"/>
            <a:ext cx="10789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A63D2F"/>
                </a:solidFill>
                <a:latin typeface="Microsoft YaHei"/>
                <a:ea typeface="Microsoft YaHei"/>
              </a:rPr>
              <a:t>右脚后跟粉碎性骨折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" y="2651760"/>
            <a:ext cx="11338560" cy="6858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" y="2651760"/>
            <a:ext cx="109728" cy="685800"/>
          </a:xfrm>
          <a:prstGeom prst="rect">
            <a:avLst/>
          </a:prstGeom>
          <a:solidFill>
            <a:srgbClr val="A63D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816352"/>
            <a:ext cx="10789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A63D2F"/>
                </a:solidFill>
                <a:latin typeface="Microsoft YaHei"/>
                <a:ea typeface="Microsoft YaHei"/>
              </a:rPr>
              <a:t>医保能报就是美团险能报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429000"/>
            <a:ext cx="11338560" cy="6858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11480" y="3429000"/>
            <a:ext cx="109728" cy="685800"/>
          </a:xfrm>
          <a:prstGeom prst="rect">
            <a:avLst/>
          </a:prstGeom>
          <a:solidFill>
            <a:srgbClr val="A63D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593592"/>
            <a:ext cx="10789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A63D2F"/>
                </a:solidFill>
                <a:latin typeface="Microsoft YaHei"/>
                <a:ea typeface="Microsoft YaHei"/>
              </a:rPr>
              <a:t>已经是康复期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" y="4206240"/>
            <a:ext cx="11338560" cy="6858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4206240"/>
            <a:ext cx="109728" cy="685800"/>
          </a:xfrm>
          <a:prstGeom prst="rect">
            <a:avLst/>
          </a:prstGeom>
          <a:solidFill>
            <a:srgbClr val="A63D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370832"/>
            <a:ext cx="10789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A63D2F"/>
                </a:solidFill>
                <a:latin typeface="Microsoft YaHei"/>
                <a:ea typeface="Microsoft YaHei"/>
              </a:rPr>
              <a:t>装病 / 出院再入院绕考核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4983480"/>
            <a:ext cx="11338560" cy="685800"/>
          </a:xfrm>
          <a:prstGeom prst="roundRect">
            <a:avLst>
              <a:gd name="adj" fmla="val 8000"/>
            </a:avLst>
          </a:prstGeom>
          <a:solidFill>
            <a:srgbClr val="F3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1480" y="4983480"/>
            <a:ext cx="109728" cy="685800"/>
          </a:xfrm>
          <a:prstGeom prst="rect">
            <a:avLst/>
          </a:prstGeom>
          <a:solidFill>
            <a:srgbClr val="A63D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5148072"/>
            <a:ext cx="107899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A63D2F"/>
                </a:solidFill>
                <a:latin typeface="Microsoft YaHei"/>
                <a:ea typeface="Microsoft YaHei"/>
              </a:rPr>
              <a:t>一次性打包，以后不再找你们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510528"/>
            <a:ext cx="9875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青岛红枫路交通事故 · 内部材料 · 2026-08-17 · 伤残尚未鉴定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7040" y="6510528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6B7A"/>
                </a:solidFill>
                <a:latin typeface="Microsoft YaHei"/>
                <a:ea typeface="Microsoft YaHei"/>
              </a:rP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