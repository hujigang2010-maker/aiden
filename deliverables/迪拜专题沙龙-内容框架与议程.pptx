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B9C4D4"/>
                </a:solidFill>
                <a:latin typeface="Noto Sans CJK SC"/>
              </a:rPr>
              <a:t>迪拜身份规划与中东投资机会专题沙龙 · 内部策划文件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B9C4D4"/>
                </a:solidFill>
                <a:latin typeface="Noto Sans CJK SC"/>
              </a:rP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394960"/>
            <a:ext cx="12191695" cy="254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E3C88A"/>
                </a:solidFill>
                <a:latin typeface="Noto Sans CJK SC"/>
              </a:rPr>
              <a:t>系列高净值客户闭门沙龙 · 第一期策划案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7899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5200" b="1">
                <a:solidFill>
                  <a:srgbClr val="FFFFFF"/>
                </a:solidFill>
                <a:latin typeface="Noto Sans CJK SC"/>
              </a:rPr>
              <a:t>出海新坐标：迪拜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3000" b="1">
                <a:solidFill>
                  <a:srgbClr val="C9A24B"/>
                </a:solidFill>
                <a:latin typeface="Noto Sans CJK SC"/>
              </a:rPr>
              <a:t>身份规划 × 中东地缘 × 算力投资机会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77639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B9C4D4"/>
                </a:solidFill>
                <a:latin typeface="Noto Sans CJK SC"/>
              </a:rPr>
              <a:t>15人闭门圆桌 | 一对一信任建立 | 系列化持续培育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B9C4D4"/>
                </a:solidFill>
                <a:latin typeface="Noto Sans CJK SC"/>
              </a:rPr>
              <a:t>拟联合主办：中东投资联盟 · 复旦大学住房政策研究中心 · 上海市杨浦区科技企业联合会 · 国际会客厅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B9C4D4"/>
                </a:solidFill>
                <a:latin typeface="Noto Sans CJK SC"/>
              </a:rPr>
              <a:t>特邀嘉宾（拟）：夏春先生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B9C4D4"/>
                </a:solidFill>
                <a:latin typeface="Noto Sans CJK SC"/>
              </a:rPr>
              <a:t>策划版本 V1.0 · 2026年7月 · 上海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B9C4D4"/>
                </a:solidFill>
                <a:latin typeface="Noto Sans CJK SC"/>
              </a:rPr>
              <a:t>迪拜身份规划与中东投资机会专题沙龙 · 内部策划文件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B9C4D4"/>
                </a:solidFill>
                <a:latin typeface="Noto Sans CJK S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Noto Sans CJK SC"/>
              </a:rPr>
              <a:t>策划逻辑总览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E3C88A"/>
                </a:solidFill>
                <a:latin typeface="Noto Sans CJK SC"/>
              </a:rPr>
              <a:t>从客户痛点出发，双主线内容，小沙龙精准转化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347472"/>
            <a:ext cx="1691640" cy="457200"/>
          </a:xfrm>
          <a:prstGeom prst="roundRect">
            <a:avLst>
              <a:gd name="adj" fmla="val 6000"/>
            </a:avLst>
          </a:prstGeom>
          <a:solidFill>
            <a:srgbClr val="1A355C"/>
          </a:solidFill>
          <a:ln w="1524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0" y="402336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3C88A"/>
                </a:solidFill>
                <a:latin typeface="Noto Sans CJK SC"/>
              </a:rPr>
              <a:t>总 览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1155680" cy="2032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B9C4D4"/>
                </a:solidFill>
                <a:latin typeface="Noto Sans CJK SC"/>
              </a:rPr>
              <a:t>迪拜身份规划与中东投资机会专题沙龙 · 内部策划文件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B9C4D4"/>
                </a:solidFill>
                <a:latin typeface="Noto Sans CJK SC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91640"/>
            <a:ext cx="3657600" cy="4206240"/>
          </a:xfrm>
          <a:prstGeom prst="roundRect">
            <a:avLst>
              <a:gd name="adj" fmla="val 6000"/>
            </a:avLst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2880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E3C88A"/>
                </a:solidFill>
                <a:latin typeface="Noto Sans CJK SC"/>
              </a:rPr>
              <a:t>为什么做（Why）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13432"/>
            <a:ext cx="3200400" cy="342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FFFFFF"/>
                </a:solidFill>
                <a:latin typeface="Noto Sans CJK SC"/>
              </a:rPr>
              <a:t>• CRS信息交换落地，高净值客户面临税务追缴与资产透明化压力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FFFFFF"/>
                </a:solidFill>
                <a:latin typeface="Noto Sans CJK SC"/>
              </a:rPr>
              <a:t>• 客户对“资产彻底隔离 + 人身安全 + 身份实用性”有强烈刚需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FFFFFF"/>
                </a:solidFill>
                <a:latin typeface="Noto Sans CJK SC"/>
              </a:rPr>
              <a:t>• 中东地缘冲突推高油价，市场关注度周期性上升，存在布局窗口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FFFFFF"/>
                </a:solidFill>
                <a:latin typeface="Noto Sans CJK SC"/>
              </a:rPr>
              <a:t>• 移民渠道普遍推土耳其（佣金高），迪拜方案存在市场空白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691640"/>
            <a:ext cx="3657600" cy="4206240"/>
          </a:xfrm>
          <a:prstGeom prst="roundRect">
            <a:avLst>
              <a:gd name="adj" fmla="val 6000"/>
            </a:avLst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82880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E3C88A"/>
                </a:solidFill>
                <a:latin typeface="Noto Sans CJK SC"/>
              </a:rPr>
              <a:t>讲什么（What）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313432"/>
            <a:ext cx="3200400" cy="342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FFFFFF"/>
                </a:solidFill>
                <a:latin typeface="Noto Sans CJK SC"/>
              </a:rPr>
              <a:t>• 主线一：身份规划——迪拜黄金签证 vs 土耳其购房入籍深度对比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FFFFFF"/>
                </a:solidFill>
                <a:latin typeface="Noto Sans CJK SC"/>
              </a:rPr>
              <a:t>• 主线二：产业投资——迪拜算力基建（中东最低电价+美元结算）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FFFFFF"/>
                </a:solidFill>
                <a:latin typeface="Noto Sans CJK SC"/>
              </a:rPr>
              <a:t>• 切入点：美股收益复盘 + CRS痛点，避免硬讲中东（热度已过）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FFFFFF"/>
                </a:solidFill>
                <a:latin typeface="Noto Sans CJK SC"/>
              </a:rPr>
              <a:t>• 嵌入热点话题（美股、世界杯）提升现场吸引力与传播性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691640"/>
            <a:ext cx="3657600" cy="4206240"/>
          </a:xfrm>
          <a:prstGeom prst="roundRect">
            <a:avLst>
              <a:gd name="adj" fmla="val 6000"/>
            </a:avLst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82880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E3C88A"/>
                </a:solidFill>
                <a:latin typeface="Noto Sans CJK SC"/>
              </a:rPr>
              <a:t>怎么做（How）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313432"/>
            <a:ext cx="3200400" cy="342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FFFFFF"/>
                </a:solidFill>
                <a:latin typeface="Noto Sans CJK SC"/>
              </a:rPr>
              <a:t>• 15人左右闭门小沙龙，拒绝大型峰会（转化效率低）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FFFFFF"/>
                </a:solidFill>
                <a:latin typeface="Noto Sans CJK SC"/>
              </a:rPr>
              <a:t>• 客群：高意向客户 + 渠道方（移民公司、金融机构）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FFFFFF"/>
                </a:solidFill>
                <a:latin typeface="Noto Sans CJK SC"/>
              </a:rPr>
              <a:t>• 邀请迪拜开发商外籍高管（如埃及籍负责人）背书，配实时翻译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FFFFFF"/>
                </a:solidFill>
                <a:latin typeface="Noto Sans CJK SC"/>
              </a:rPr>
              <a:t>• 系列化运营：每期一个主题，持续培育、分层转化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Noto Sans CJK SC"/>
              </a:rPr>
              <a:t>目标客群画像与转化路径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E3C88A"/>
                </a:solidFill>
                <a:latin typeface="Noto Sans CJK SC"/>
              </a:rPr>
              <a:t>小而精：一场沙龙 15 人，全部可命名、可跟进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347472"/>
            <a:ext cx="1691640" cy="457200"/>
          </a:xfrm>
          <a:prstGeom prst="roundRect">
            <a:avLst>
              <a:gd name="adj" fmla="val 6000"/>
            </a:avLst>
          </a:prstGeom>
          <a:solidFill>
            <a:srgbClr val="1A355C"/>
          </a:solidFill>
          <a:ln w="1524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0" y="402336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3C88A"/>
                </a:solidFill>
                <a:latin typeface="Noto Sans CJK SC"/>
              </a:rPr>
              <a:t>客 群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1155680" cy="2032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B9C4D4"/>
                </a:solidFill>
                <a:latin typeface="Noto Sans CJK SC"/>
              </a:rPr>
              <a:t>迪拜身份规划与中东投资机会专题沙龙 · 内部策划文件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B9C4D4"/>
                </a:solidFill>
                <a:latin typeface="Noto Sans CJK SC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91640"/>
            <a:ext cx="5532120" cy="2194560"/>
          </a:xfrm>
          <a:prstGeom prst="roundRect">
            <a:avLst>
              <a:gd name="adj" fmla="val 6000"/>
            </a:avLst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28800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E3C88A"/>
                </a:solidFill>
                <a:latin typeface="Noto Sans CJK SC"/>
              </a:rPr>
              <a:t>客群 A：高净值终端客户（8-10人）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13432"/>
            <a:ext cx="50749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FFFFFF"/>
                </a:solidFill>
                <a:latin typeface="Noto Sans CJK SC"/>
              </a:rPr>
              <a:t>• 可投资资产 ≥ 500万美元，已有或计划配置海外资产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FFFFFF"/>
                </a:solidFill>
                <a:latin typeface="Noto Sans CJK SC"/>
              </a:rPr>
              <a:t>• 痛点：CRS税务追缴风险、资产透明化、子女教育与出行便利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FFFFFF"/>
                </a:solidFill>
                <a:latin typeface="Noto Sans CJK SC"/>
              </a:rPr>
              <a:t>• 来源：私行客户经理转介、老客户带新、家族办公室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691640"/>
            <a:ext cx="5532120" cy="2194560"/>
          </a:xfrm>
          <a:prstGeom prst="roundRect">
            <a:avLst>
              <a:gd name="adj" fmla="val 6000"/>
            </a:avLst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28800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E3C88A"/>
                </a:solidFill>
                <a:latin typeface="Noto Sans CJK SC"/>
              </a:rPr>
              <a:t>客群 B：渠道合作方（5-7人）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13432"/>
            <a:ext cx="50749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FFFFFF"/>
                </a:solidFill>
                <a:latin typeface="Noto Sans CJK SC"/>
              </a:rPr>
              <a:t>• 移民公司负责人：补足其迪拜产品线（现有渠道动力不足）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FFFFFF"/>
                </a:solidFill>
                <a:latin typeface="Noto Sans CJK SC"/>
              </a:rPr>
              <a:t>• 金融机构/私行/三方财富：需要新的客户活动抓手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FFFFFF"/>
                </a:solidFill>
                <a:latin typeface="Noto Sans CJK SC"/>
              </a:rPr>
              <a:t>• 律所税务师：CRS合规咨询的天然入口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114800"/>
            <a:ext cx="11292840" cy="1828800"/>
          </a:xfrm>
          <a:prstGeom prst="roundRect">
            <a:avLst>
              <a:gd name="adj" fmla="val 6000"/>
            </a:avLst>
          </a:prstGeom>
          <a:solidFill>
            <a:srgbClr val="132B4E"/>
          </a:solidFill>
          <a:ln w="1524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5196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E3C88A"/>
                </a:solidFill>
                <a:latin typeface="Noto Sans CJK SC"/>
              </a:rPr>
              <a:t>四步转化路径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709160"/>
            <a:ext cx="2514600" cy="1051560"/>
          </a:xfrm>
          <a:prstGeom prst="roundRect">
            <a:avLst>
              <a:gd name="adj" fmla="val 6000"/>
            </a:avLst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791456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C9A24B"/>
                </a:solidFill>
                <a:latin typeface="Noto Sans CJK SC"/>
              </a:rPr>
              <a:t>① 沙龙触达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138928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Noto Sans CJK SC"/>
              </a:rPr>
              <a:t>热点内容引流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39496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Noto Sans CJK SC"/>
              </a:rPr>
              <a:t>建立初步信任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20440" y="4709160"/>
            <a:ext cx="2514600" cy="1051560"/>
          </a:xfrm>
          <a:prstGeom prst="roundRect">
            <a:avLst>
              <a:gd name="adj" fmla="val 6000"/>
            </a:avLst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4791456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C9A24B"/>
                </a:solidFill>
                <a:latin typeface="Noto Sans CJK SC"/>
              </a:rPr>
              <a:t>② 一对一面谈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138928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Noto Sans CJK SC"/>
              </a:rPr>
              <a:t>CRS/资产诊断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539496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Noto Sans CJK SC"/>
              </a:rPr>
              <a:t>明确身份需求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709160"/>
            <a:ext cx="2514600" cy="1051560"/>
          </a:xfrm>
          <a:prstGeom prst="roundRect">
            <a:avLst>
              <a:gd name="adj" fmla="val 6000"/>
            </a:avLst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791456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C9A24B"/>
                </a:solidFill>
                <a:latin typeface="Noto Sans CJK SC"/>
              </a:rPr>
              <a:t>③ 迪拜考察团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138928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Noto Sans CJK SC"/>
              </a:rPr>
              <a:t>实地看房+算力园区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39496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Noto Sans CJK SC"/>
              </a:rPr>
              <a:t>开发商高管接待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06840" y="4709160"/>
            <a:ext cx="2514600" cy="1051560"/>
          </a:xfrm>
          <a:prstGeom prst="roundRect">
            <a:avLst>
              <a:gd name="adj" fmla="val 6000"/>
            </a:avLst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0" y="4791456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C9A24B"/>
                </a:solidFill>
                <a:latin typeface="Noto Sans CJK SC"/>
              </a:rPr>
              <a:t>④ 签约落地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5138928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Noto Sans CJK SC"/>
              </a:rPr>
              <a:t>购房+签证办理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539496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Noto Sans CJK SC"/>
              </a:rPr>
              <a:t>转介绍裂变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Noto Sans CJK SC"/>
              </a:rPr>
              <a:t>沙龙内容框架：三大模块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E3C88A"/>
                </a:solidFill>
                <a:latin typeface="Noto Sans CJK SC"/>
              </a:rPr>
              <a:t>以痛点开场、以对比立信、以机会收口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347472"/>
            <a:ext cx="1691640" cy="457200"/>
          </a:xfrm>
          <a:prstGeom prst="roundRect">
            <a:avLst>
              <a:gd name="adj" fmla="val 6000"/>
            </a:avLst>
          </a:prstGeom>
          <a:solidFill>
            <a:srgbClr val="1A355C"/>
          </a:solidFill>
          <a:ln w="1524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0" y="402336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3C88A"/>
                </a:solidFill>
                <a:latin typeface="Noto Sans CJK SC"/>
              </a:rPr>
              <a:t>框 架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1155680" cy="2032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B9C4D4"/>
                </a:solidFill>
                <a:latin typeface="Noto Sans CJK SC"/>
              </a:rPr>
              <a:t>迪拜身份规划与中东投资机会专题沙龙 · 内部策划文件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B9C4D4"/>
                </a:solidFill>
                <a:latin typeface="Noto Sans CJK SC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91640"/>
            <a:ext cx="11292840" cy="1417320"/>
          </a:xfrm>
          <a:prstGeom prst="roundRect">
            <a:avLst>
              <a:gd name="adj" fmla="val 6000"/>
            </a:avLst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91640"/>
            <a:ext cx="109728" cy="141732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76479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50" b="1">
                <a:solidFill>
                  <a:srgbClr val="C9A24B"/>
                </a:solidFill>
                <a:latin typeface="Noto Sans CJK SC"/>
              </a:rPr>
              <a:t>模块一 · 破冰与痛点（30分钟）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103120"/>
            <a:ext cx="107899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Noto Sans CJK SC"/>
              </a:rPr>
              <a:t>• 美股收益复盘：用真实收益数据抓注意力（热点话题包装）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Noto Sans CJK SC"/>
              </a:rPr>
              <a:t>• CRS与税务合规：信息交换机制、追缴案例、高净值人群的真实焦虑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Noto Sans CJK SC"/>
              </a:rPr>
              <a:t>• 引出核心命题：为什么需要第二身份与资产隔离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227832"/>
            <a:ext cx="11292840" cy="1417320"/>
          </a:xfrm>
          <a:prstGeom prst="roundRect">
            <a:avLst>
              <a:gd name="adj" fmla="val 6000"/>
            </a:avLst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227832"/>
            <a:ext cx="109728" cy="1417320"/>
          </a:xfrm>
          <a:prstGeom prst="rect">
            <a:avLst/>
          </a:prstGeom>
          <a:solidFill>
            <a:srgbClr val="E3C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00984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50" b="1">
                <a:solidFill>
                  <a:srgbClr val="E3C88A"/>
                </a:solidFill>
                <a:latin typeface="Noto Sans CJK SC"/>
              </a:rPr>
              <a:t>模块二 · 身份规划方案对比（40分钟）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639312"/>
            <a:ext cx="107899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Noto Sans CJK SC"/>
              </a:rPr>
              <a:t>• 土耳其购房入籍：40万美元门槛、护照可改名、三年后可售房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Noto Sans CJK SC"/>
              </a:rPr>
              <a:t>• 土耳其风险提示：里拉贬值、房价虚高（实际常达50万+美元）、资产缩水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Noto Sans CJK SC"/>
              </a:rPr>
              <a:t>• 迪拜黄金签证：购房获签、零个税、美元资产、人身安全、离岸金融中心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Noto Sans CJK SC"/>
              </a:rPr>
              <a:t>• 结论导向：土耳其重“隔离”、迪拜重“实用+保值”，可组合配置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764024"/>
            <a:ext cx="11292840" cy="1417320"/>
          </a:xfrm>
          <a:prstGeom prst="roundRect">
            <a:avLst>
              <a:gd name="adj" fmla="val 6000"/>
            </a:avLst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764024"/>
            <a:ext cx="109728" cy="1417320"/>
          </a:xfrm>
          <a:prstGeom prst="rect">
            <a:avLst/>
          </a:prstGeom>
          <a:solidFill>
            <a:srgbClr val="4E9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837176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50" b="1">
                <a:solidFill>
                  <a:srgbClr val="4E9A6F"/>
                </a:solidFill>
                <a:latin typeface="Noto Sans CJK SC"/>
              </a:rPr>
              <a:t>模块三 · 中东机遇与算力投资（40分钟）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175504"/>
            <a:ext cx="107899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Noto Sans CJK SC"/>
              </a:rPr>
              <a:t>• 中东地缘：冲突周期（打-停-再打）与油价联动，如何把握窗口期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Noto Sans CJK SC"/>
              </a:rPr>
              <a:t>• 迪拜算力基建：中东最低电价 + 美元结算 + 政策友好 = 算力工厂洼地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Noto Sans CJK SC"/>
              </a:rPr>
              <a:t>• 中美分工：美国主导底层芯片，中国应用层（DeepSeek、豆包开源模型）出海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Noto Sans CJK SC"/>
              </a:rPr>
              <a:t>• 开发商高管现场分享（外籍嘉宾 + 实时翻译）：迪拜房产与园区一手信息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Noto Sans CJK SC"/>
              </a:rPr>
              <a:t>模块一详解：以 CRS 痛点切入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E3C88A"/>
                </a:solidFill>
                <a:latin typeface="Noto Sans CJK SC"/>
              </a:rPr>
              <a:t>先讲客户关心的钱，再讲客户害怕的税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347472"/>
            <a:ext cx="1691640" cy="457200"/>
          </a:xfrm>
          <a:prstGeom prst="roundRect">
            <a:avLst>
              <a:gd name="adj" fmla="val 6000"/>
            </a:avLst>
          </a:prstGeom>
          <a:solidFill>
            <a:srgbClr val="1A355C"/>
          </a:solidFill>
          <a:ln w="1524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0" y="402336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3C88A"/>
                </a:solidFill>
                <a:latin typeface="Noto Sans CJK SC"/>
              </a:rPr>
              <a:t>模块一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1155680" cy="2032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B9C4D4"/>
                </a:solidFill>
                <a:latin typeface="Noto Sans CJK SC"/>
              </a:rPr>
              <a:t>迪拜身份规划与中东投资机会专题沙龙 · 内部策划文件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B9C4D4"/>
                </a:solidFill>
                <a:latin typeface="Noto Sans CJK SC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91640"/>
            <a:ext cx="5532120" cy="4114800"/>
          </a:xfrm>
          <a:prstGeom prst="roundRect">
            <a:avLst>
              <a:gd name="adj" fmla="val 6000"/>
            </a:avLst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28800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E3C88A"/>
                </a:solidFill>
                <a:latin typeface="Noto Sans CJK SC"/>
              </a:rPr>
              <a:t>开场：美股收益与全球配置（15分钟）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13432"/>
            <a:ext cx="5074920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FFFFFF"/>
                </a:solidFill>
                <a:latin typeface="Noto Sans CJK SC"/>
              </a:rPr>
              <a:t>• 近一年美股/纳指收益复盘，对比国内资产表现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FFFFFF"/>
                </a:solidFill>
                <a:latin typeface="Noto Sans CJK SC"/>
              </a:rPr>
              <a:t>• 抛出问题：收益在海外，申报怎么办？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FFFFFF"/>
                </a:solidFill>
                <a:latin typeface="Noto Sans CJK SC"/>
              </a:rPr>
              <a:t>• 世界杯、油价等热点做暖场话题，降低商业感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FFFFFF"/>
                </a:solidFill>
                <a:latin typeface="Noto Sans CJK SC"/>
              </a:rPr>
              <a:t>• 话术要点：不直接讲移民，先讲“钱放哪里、怎么合规”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691640"/>
            <a:ext cx="5532120" cy="4114800"/>
          </a:xfrm>
          <a:prstGeom prst="roundRect">
            <a:avLst>
              <a:gd name="adj" fmla="val 6000"/>
            </a:avLst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28800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E3C88A"/>
                </a:solidFill>
                <a:latin typeface="Noto Sans CJK SC"/>
              </a:rPr>
              <a:t>主体：CRS 信息交换与税务风险（15分钟）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13432"/>
            <a:ext cx="5074920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FFFFFF"/>
                </a:solidFill>
                <a:latin typeface="Noto Sans CJK SC"/>
              </a:rPr>
              <a:t>• CRS机制科普：100+国家和地区自动交换金融账户信息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FFFFFF"/>
                </a:solidFill>
                <a:latin typeface="Noto Sans CJK SC"/>
              </a:rPr>
              <a:t>• 真实案例：境外账户被交换后收到税务核查通知的处理过程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FFFFFF"/>
                </a:solidFill>
                <a:latin typeface="Noto Sans CJK SC"/>
              </a:rPr>
              <a:t>• 补税与滞纳金测算演示：让风险“可计算、可感知”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FFFFFF"/>
                </a:solidFill>
                <a:latin typeface="Noto Sans CJK SC"/>
              </a:rPr>
              <a:t>• 过渡句：合规的终极方案，是让资产拥有一个新的身份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FFFFFF"/>
                </a:solidFill>
                <a:latin typeface="Noto Sans CJK SC"/>
              </a:rPr>
              <a:t>• 合规红线：不承诺避税，只讲“合法规划与申报优化”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Noto Sans CJK SC"/>
              </a:rPr>
              <a:t>核心对比：迪拜黄金签证 vs 土耳其购房入籍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E3C88A"/>
                </a:solidFill>
                <a:latin typeface="Noto Sans CJK SC"/>
              </a:rPr>
              <a:t>沙龙最重要的一页：用事实对比替客户做决策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347472"/>
            <a:ext cx="1691640" cy="457200"/>
          </a:xfrm>
          <a:prstGeom prst="roundRect">
            <a:avLst>
              <a:gd name="adj" fmla="val 6000"/>
            </a:avLst>
          </a:prstGeom>
          <a:solidFill>
            <a:srgbClr val="1A355C"/>
          </a:solidFill>
          <a:ln w="1524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0" y="402336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3C88A"/>
                </a:solidFill>
                <a:latin typeface="Noto Sans CJK SC"/>
              </a:rPr>
              <a:t>模块二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1155680" cy="2032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B9C4D4"/>
                </a:solidFill>
                <a:latin typeface="Noto Sans CJK SC"/>
              </a:rPr>
              <a:t>迪拜身份规划与中东投资机会专题沙龙 · 内部策划文件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B9C4D4"/>
                </a:solidFill>
                <a:latin typeface="Noto Sans CJK SC"/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645920"/>
            <a:ext cx="2011680" cy="47548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691640"/>
            <a:ext cx="179222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0B1F3A"/>
                </a:solidFill>
                <a:latin typeface="Noto Sans CJK SC"/>
              </a:rPr>
              <a:t>对比维度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14600" y="1645920"/>
            <a:ext cx="4663440" cy="47548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24328" y="1691640"/>
            <a:ext cx="444398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0B1F3A"/>
                </a:solidFill>
                <a:latin typeface="Noto Sans CJK SC"/>
              </a:rPr>
              <a:t>土耳其购房入籍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78040" y="1645920"/>
            <a:ext cx="4617720" cy="47548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87768" y="1691640"/>
            <a:ext cx="439826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0B1F3A"/>
                </a:solidFill>
                <a:latin typeface="Noto Sans CJK SC"/>
              </a:rPr>
              <a:t>迪拜黄金签证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141408"/>
            <a:ext cx="2011680" cy="530352"/>
          </a:xfrm>
          <a:prstGeom prst="rect">
            <a:avLst/>
          </a:prstGeom>
          <a:solidFill>
            <a:srgbClr val="13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2187128"/>
            <a:ext cx="179222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>
                <a:solidFill>
                  <a:srgbClr val="E3C88A"/>
                </a:solidFill>
                <a:latin typeface="Noto Sans CJK SC"/>
              </a:rPr>
              <a:t>投资门槛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14600" y="2141408"/>
            <a:ext cx="4663440" cy="530352"/>
          </a:xfrm>
          <a:prstGeom prst="rect">
            <a:avLst/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24328" y="2187128"/>
            <a:ext cx="44439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Noto Sans CJK SC"/>
              </a:rPr>
              <a:t>40万美元（评估价），实际售价常50万+美元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78040" y="2141408"/>
            <a:ext cx="4617720" cy="530352"/>
          </a:xfrm>
          <a:prstGeom prst="rect">
            <a:avLst/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87768" y="2187128"/>
            <a:ext cx="439826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Noto Sans CJK SC"/>
              </a:rPr>
              <a:t>购房约200万迪拉姆（约54万美元）起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691760"/>
            <a:ext cx="2011680" cy="530352"/>
          </a:xfrm>
          <a:prstGeom prst="rect">
            <a:avLst/>
          </a:prstGeom>
          <a:solidFill>
            <a:srgbClr val="13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2737480"/>
            <a:ext cx="179222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>
                <a:solidFill>
                  <a:srgbClr val="E3C88A"/>
                </a:solidFill>
                <a:latin typeface="Noto Sans CJK SC"/>
              </a:rPr>
              <a:t>身份性质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14600" y="2691760"/>
            <a:ext cx="4663440" cy="530352"/>
          </a:xfrm>
          <a:prstGeom prst="rect">
            <a:avLst/>
          </a:prstGeom>
          <a:solidFill>
            <a:srgbClr val="13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24328" y="2737480"/>
            <a:ext cx="44439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Noto Sans CJK SC"/>
              </a:rPr>
              <a:t>直接入籍拿护照，不影响中国国籍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78040" y="2691760"/>
            <a:ext cx="4617720" cy="530352"/>
          </a:xfrm>
          <a:prstGeom prst="rect">
            <a:avLst/>
          </a:prstGeom>
          <a:solidFill>
            <a:srgbClr val="13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87768" y="2737480"/>
            <a:ext cx="439826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Noto Sans CJK SC"/>
              </a:rPr>
              <a:t>10年长期居留签证（可续）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242112"/>
            <a:ext cx="2011680" cy="530352"/>
          </a:xfrm>
          <a:prstGeom prst="rect">
            <a:avLst/>
          </a:prstGeom>
          <a:solidFill>
            <a:srgbClr val="13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" y="3287832"/>
            <a:ext cx="179222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>
                <a:solidFill>
                  <a:srgbClr val="E3C88A"/>
                </a:solidFill>
                <a:latin typeface="Noto Sans CJK SC"/>
              </a:rPr>
              <a:t>资产隔离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14600" y="3242112"/>
            <a:ext cx="4663440" cy="530352"/>
          </a:xfrm>
          <a:prstGeom prst="rect">
            <a:avLst/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24328" y="3287832"/>
            <a:ext cx="44439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Noto Sans CJK SC"/>
              </a:rPr>
              <a:t>护照可改名，实现彻底隔离（核心卖点）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78040" y="3242112"/>
            <a:ext cx="4617720" cy="530352"/>
          </a:xfrm>
          <a:prstGeom prst="rect">
            <a:avLst/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87768" y="3287832"/>
            <a:ext cx="439826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Noto Sans CJK SC"/>
              </a:rPr>
              <a:t>居留身份，隔离效果弱于换护照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3792464"/>
            <a:ext cx="2011680" cy="530352"/>
          </a:xfrm>
          <a:prstGeom prst="rect">
            <a:avLst/>
          </a:prstGeom>
          <a:solidFill>
            <a:srgbClr val="13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" y="3838184"/>
            <a:ext cx="179222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>
                <a:solidFill>
                  <a:srgbClr val="E3C88A"/>
                </a:solidFill>
                <a:latin typeface="Noto Sans CJK SC"/>
              </a:rPr>
              <a:t>房产绑定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14600" y="3792464"/>
            <a:ext cx="4663440" cy="530352"/>
          </a:xfrm>
          <a:prstGeom prst="rect">
            <a:avLst/>
          </a:prstGeom>
          <a:solidFill>
            <a:srgbClr val="13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24328" y="3838184"/>
            <a:ext cx="44439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Noto Sans CJK SC"/>
              </a:rPr>
              <a:t>三年后可售房，护照仍有效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78040" y="3792464"/>
            <a:ext cx="4617720" cy="530352"/>
          </a:xfrm>
          <a:prstGeom prst="rect">
            <a:avLst/>
          </a:prstGeom>
          <a:solidFill>
            <a:srgbClr val="13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87768" y="3838184"/>
            <a:ext cx="439826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Noto Sans CJK SC"/>
              </a:rPr>
              <a:t>房产出售则签证失效，需持续持有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4342816"/>
            <a:ext cx="2011680" cy="530352"/>
          </a:xfrm>
          <a:prstGeom prst="rect">
            <a:avLst/>
          </a:prstGeom>
          <a:solidFill>
            <a:srgbClr val="13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8" y="4388536"/>
            <a:ext cx="179222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>
                <a:solidFill>
                  <a:srgbClr val="E3C88A"/>
                </a:solidFill>
                <a:latin typeface="Noto Sans CJK SC"/>
              </a:rPr>
              <a:t>主要风险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14600" y="4342816"/>
            <a:ext cx="4663440" cy="530352"/>
          </a:xfrm>
          <a:prstGeom prst="rect">
            <a:avLst/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24328" y="4388536"/>
            <a:ext cx="44439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Noto Sans CJK SC"/>
              </a:rPr>
              <a:t>里拉贬值、房价虚高，资产可能明显缩水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78040" y="4342816"/>
            <a:ext cx="4617720" cy="530352"/>
          </a:xfrm>
          <a:prstGeom prst="rect">
            <a:avLst/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87768" y="4388536"/>
            <a:ext cx="439826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Noto Sans CJK SC"/>
              </a:rPr>
              <a:t>房产流动性锁定；无入籍路径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4893168"/>
            <a:ext cx="2011680" cy="530352"/>
          </a:xfrm>
          <a:prstGeom prst="rect">
            <a:avLst/>
          </a:prstGeom>
          <a:solidFill>
            <a:srgbClr val="13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" y="4938888"/>
            <a:ext cx="179222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>
                <a:solidFill>
                  <a:srgbClr val="E3C88A"/>
                </a:solidFill>
                <a:latin typeface="Noto Sans CJK SC"/>
              </a:rPr>
              <a:t>资产币种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14600" y="4893168"/>
            <a:ext cx="4663440" cy="530352"/>
          </a:xfrm>
          <a:prstGeom prst="rect">
            <a:avLst/>
          </a:prstGeom>
          <a:solidFill>
            <a:srgbClr val="13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24328" y="4938888"/>
            <a:ext cx="44439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Noto Sans CJK SC"/>
              </a:rPr>
              <a:t>里拉资产，汇率风险高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178040" y="4893168"/>
            <a:ext cx="4617720" cy="530352"/>
          </a:xfrm>
          <a:prstGeom prst="rect">
            <a:avLst/>
          </a:prstGeom>
          <a:solidFill>
            <a:srgbClr val="13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87768" y="4938888"/>
            <a:ext cx="439826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Noto Sans CJK SC"/>
              </a:rPr>
              <a:t>美元挂钩（迪拉姆盯住美元），保值性强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5443520"/>
            <a:ext cx="2011680" cy="530352"/>
          </a:xfrm>
          <a:prstGeom prst="rect">
            <a:avLst/>
          </a:prstGeom>
          <a:solidFill>
            <a:srgbClr val="13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2648" y="5489240"/>
            <a:ext cx="179222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>
                <a:solidFill>
                  <a:srgbClr val="E3C88A"/>
                </a:solidFill>
                <a:latin typeface="Noto Sans CJK SC"/>
              </a:rPr>
              <a:t>渠道现状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514600" y="5443520"/>
            <a:ext cx="4663440" cy="530352"/>
          </a:xfrm>
          <a:prstGeom prst="rect">
            <a:avLst/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624328" y="5489240"/>
            <a:ext cx="44439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Noto Sans CJK SC"/>
              </a:rPr>
              <a:t>移民公司主推（房价做高、佣金高）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178040" y="5443520"/>
            <a:ext cx="4617720" cy="530352"/>
          </a:xfrm>
          <a:prstGeom prst="rect">
            <a:avLst/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87768" y="5489240"/>
            <a:ext cx="439826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Noto Sans CJK SC"/>
              </a:rPr>
              <a:t>佣金低、渠道动力不足 → 市场空白即机会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" y="6048736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C9A24B"/>
                </a:solidFill>
                <a:latin typeface="Noto Sans CJK SC"/>
              </a:rPr>
              <a:t>沙龙结论话术：追求“彻底隔离”选土耳其（接受资产缩水），追求“保值+实用+安全”选迪拜，高净值客户可双身份组合配置。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Noto Sans CJK SC"/>
              </a:rPr>
              <a:t>模块三详解 A：中东地缘与投资窗口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E3C88A"/>
                </a:solidFill>
                <a:latin typeface="Noto Sans CJK SC"/>
              </a:rPr>
              <a:t>冲突是周期性的，恐慌是布局的朋友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347472"/>
            <a:ext cx="1691640" cy="457200"/>
          </a:xfrm>
          <a:prstGeom prst="roundRect">
            <a:avLst>
              <a:gd name="adj" fmla="val 6000"/>
            </a:avLst>
          </a:prstGeom>
          <a:solidFill>
            <a:srgbClr val="1A355C"/>
          </a:solidFill>
          <a:ln w="1524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0" y="402336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3C88A"/>
                </a:solidFill>
                <a:latin typeface="Noto Sans CJK SC"/>
              </a:rPr>
              <a:t>模块三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1155680" cy="2032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B9C4D4"/>
                </a:solidFill>
                <a:latin typeface="Noto Sans CJK SC"/>
              </a:rPr>
              <a:t>迪拜身份规划与中东投资机会专题沙龙 · 内部策划文件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B9C4D4"/>
                </a:solidFill>
                <a:latin typeface="Noto Sans CJK SC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91640"/>
            <a:ext cx="5532120" cy="4114800"/>
          </a:xfrm>
          <a:prstGeom prst="roundRect">
            <a:avLst>
              <a:gd name="adj" fmla="val 6000"/>
            </a:avLst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28800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E3C88A"/>
                </a:solidFill>
                <a:latin typeface="Noto Sans CJK SC"/>
              </a:rPr>
              <a:t>地缘局势框架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13432"/>
            <a:ext cx="5074920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FFFFFF"/>
                </a:solidFill>
                <a:latin typeface="Noto Sans CJK SC"/>
              </a:rPr>
              <a:t>• 以伊冲突等呈周期性：打—停—再打，避免用单次事件下结论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FFFFFF"/>
                </a:solidFill>
                <a:latin typeface="Noto Sans CJK SC"/>
              </a:rPr>
              <a:t>• 冲突推高油价 → 海湾国家财政盈余增加 → 主权基金加大对外投资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FFFFFF"/>
                </a:solidFill>
                <a:latin typeface="Noto Sans CJK SC"/>
              </a:rPr>
              <a:t>• 迪拜的独特定位：中东的“安全岛”与资金避风港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FFFFFF"/>
                </a:solidFill>
                <a:latin typeface="Noto Sans CJK SC"/>
              </a:rPr>
              <a:t>• 内容提示：地缘只作背景板，当前热度已过、不做硬主题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691640"/>
            <a:ext cx="5532120" cy="4114800"/>
          </a:xfrm>
          <a:prstGeom prst="roundRect">
            <a:avLst>
              <a:gd name="adj" fmla="val 6000"/>
            </a:avLst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28800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E3C88A"/>
                </a:solidFill>
                <a:latin typeface="Noto Sans CJK SC"/>
              </a:rPr>
              <a:t>对客户的三个投资含义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13432"/>
            <a:ext cx="5074920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FFFFFF"/>
                </a:solidFill>
                <a:latin typeface="Noto Sans CJK SC"/>
              </a:rPr>
              <a:t>• 油价上行周期 = 海湾流动性充裕期，资产价格有支撑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FFFFFF"/>
                </a:solidFill>
                <a:latin typeface="Noto Sans CJK SC"/>
              </a:rPr>
              <a:t>• 冲突窗口期资产折价，是逆向布局迪拜房产/基建的时点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FFFFFF"/>
                </a:solidFill>
                <a:latin typeface="Noto Sans CJK SC"/>
              </a:rPr>
              <a:t>• 人身与资产安全叙事：迪拜治安、法治与自由区制度背书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FFFFFF"/>
                </a:solidFill>
                <a:latin typeface="Noto Sans CJK SC"/>
              </a:rPr>
              <a:t>• 话术：把“乱”讲成“别人的乱、迪拜的机会”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Noto Sans CJK SC"/>
              </a:rPr>
              <a:t>模块三详解 B：迪拜算力基础设施机会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E3C88A"/>
                </a:solidFill>
                <a:latin typeface="Noto Sans CJK SC"/>
              </a:rPr>
              <a:t>中东最低电价 × 美元结算 × 中国应用层出海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347472"/>
            <a:ext cx="1691640" cy="457200"/>
          </a:xfrm>
          <a:prstGeom prst="roundRect">
            <a:avLst>
              <a:gd name="adj" fmla="val 6000"/>
            </a:avLst>
          </a:prstGeom>
          <a:solidFill>
            <a:srgbClr val="1A355C"/>
          </a:solidFill>
          <a:ln w="1524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0" y="402336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3C88A"/>
                </a:solidFill>
                <a:latin typeface="Noto Sans CJK SC"/>
              </a:rPr>
              <a:t>模块三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1155680" cy="2032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B9C4D4"/>
                </a:solidFill>
                <a:latin typeface="Noto Sans CJK SC"/>
              </a:rPr>
              <a:t>迪拜身份规划与中东投资机会专题沙龙 · 内部策划文件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B9C4D4"/>
                </a:solidFill>
                <a:latin typeface="Noto Sans CJK SC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91640"/>
            <a:ext cx="3657600" cy="4114800"/>
          </a:xfrm>
          <a:prstGeom prst="roundRect">
            <a:avLst>
              <a:gd name="adj" fmla="val 6000"/>
            </a:avLst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2880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E3C88A"/>
                </a:solidFill>
                <a:latin typeface="Noto Sans CJK SC"/>
              </a:rPr>
              <a:t>成本优势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13432"/>
            <a:ext cx="3200400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FFFFFF"/>
                </a:solidFill>
                <a:latin typeface="Noto Sans CJK SC"/>
              </a:rPr>
              <a:t>• 迪拜为中东电价最低地区，电力成本是算力工厂第一成本项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FFFFFF"/>
                </a:solidFill>
                <a:latin typeface="Noto Sans CJK SC"/>
              </a:rPr>
              <a:t>• 土地与能源政策友好，自由区税收优惠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FFFFFF"/>
                </a:solidFill>
                <a:latin typeface="Noto Sans CJK SC"/>
              </a:rPr>
              <a:t>• 美元结算，收入与成本币种匹配，无汇兑损耗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691640"/>
            <a:ext cx="3657600" cy="4114800"/>
          </a:xfrm>
          <a:prstGeom prst="roundRect">
            <a:avLst>
              <a:gd name="adj" fmla="val 6000"/>
            </a:avLst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82880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E3C88A"/>
                </a:solidFill>
                <a:latin typeface="Noto Sans CJK SC"/>
              </a:rPr>
              <a:t>产业格局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313432"/>
            <a:ext cx="3200400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FFFFFF"/>
                </a:solidFill>
                <a:latin typeface="Noto Sans CJK SC"/>
              </a:rPr>
              <a:t>• 底层芯片仍由美国主导（英伟达等），采购与合规是关键变量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FFFFFF"/>
                </a:solidFill>
                <a:latin typeface="Noto Sans CJK SC"/>
              </a:rPr>
              <a:t>• 中国在应用层表现突出：DeepSeek、豆包等开源模型生态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FFFFFF"/>
                </a:solidFill>
                <a:latin typeface="Noto Sans CJK SC"/>
              </a:rPr>
              <a:t>• “美国芯片 + 中国应用 + 中东能源与资本”的三方组合叙事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9016" y="1691640"/>
            <a:ext cx="3657600" cy="4114800"/>
          </a:xfrm>
          <a:prstGeom prst="roundRect">
            <a:avLst>
              <a:gd name="adj" fmla="val 6000"/>
            </a:avLst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7616" y="182880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E3C88A"/>
                </a:solidFill>
                <a:latin typeface="Noto Sans CJK SC"/>
              </a:rPr>
              <a:t>落地路径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6" y="2313432"/>
            <a:ext cx="3200400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FFFFFF"/>
                </a:solidFill>
                <a:latin typeface="Noto Sans CJK SC"/>
              </a:rPr>
              <a:t>• 与迪拜开发商/园区合作，考察算力园区与数据中心地块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FFFFFF"/>
                </a:solidFill>
                <a:latin typeface="Noto Sans CJK SC"/>
              </a:rPr>
              <a:t>• 以专题内容切入：制作“迪拜算力”系列内容持续获客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FFFFFF"/>
                </a:solidFill>
                <a:latin typeface="Noto Sans CJK SC"/>
              </a:rPr>
              <a:t>• 远期：组织客户参与算力资产投资（份额/基建/REITs形式）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Noto Sans CJK SC"/>
              </a:rPr>
              <a:t>首期沙龙议程（半日闭门场）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E3C88A"/>
                </a:solidFill>
                <a:latin typeface="Noto Sans CJK SC"/>
              </a:rPr>
              <a:t>建议周六下午 14:00–18:00 · 国际会客厅（拟） · 限 15 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347472"/>
            <a:ext cx="1691640" cy="457200"/>
          </a:xfrm>
          <a:prstGeom prst="roundRect">
            <a:avLst>
              <a:gd name="adj" fmla="val 6000"/>
            </a:avLst>
          </a:prstGeom>
          <a:solidFill>
            <a:srgbClr val="1A355C"/>
          </a:solidFill>
          <a:ln w="1524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0" y="402336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3C88A"/>
                </a:solidFill>
                <a:latin typeface="Noto Sans CJK SC"/>
              </a:rPr>
              <a:t>议 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1155680" cy="2032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B9C4D4"/>
                </a:solidFill>
                <a:latin typeface="Noto Sans CJK SC"/>
              </a:rPr>
              <a:t>迪拜身份规划与中东投资机会专题沙龙 · 内部策划文件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B9C4D4"/>
                </a:solidFill>
                <a:latin typeface="Noto Sans CJK SC"/>
              </a:rPr>
              <a:t>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627632"/>
            <a:ext cx="1554480" cy="443484"/>
          </a:xfrm>
          <a:prstGeom prst="rect">
            <a:avLst/>
          </a:prstGeom>
          <a:solidFill>
            <a:srgbClr val="13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7400" y="1627632"/>
            <a:ext cx="2286000" cy="443484"/>
          </a:xfrm>
          <a:prstGeom prst="rect">
            <a:avLst/>
          </a:prstGeom>
          <a:solidFill>
            <a:srgbClr val="13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27632"/>
            <a:ext cx="5074920" cy="443484"/>
          </a:xfrm>
          <a:prstGeom prst="rect">
            <a:avLst/>
          </a:prstGeom>
          <a:solidFill>
            <a:srgbClr val="13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418320" y="1627632"/>
            <a:ext cx="2377440" cy="443484"/>
          </a:xfrm>
          <a:prstGeom prst="rect">
            <a:avLst/>
          </a:prstGeom>
          <a:solidFill>
            <a:srgbClr val="13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655064"/>
            <a:ext cx="1463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E3C88A"/>
                </a:solidFill>
                <a:latin typeface="Noto Sans CJK SC"/>
              </a:rPr>
              <a:t>13:30–14:00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1655064"/>
            <a:ext cx="2194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FFFFFF"/>
                </a:solidFill>
                <a:latin typeface="Noto Sans CJK SC"/>
              </a:rPr>
              <a:t>签到与茶歇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655064"/>
            <a:ext cx="4937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050" b="0">
                <a:solidFill>
                  <a:srgbClr val="B9C4D4"/>
                </a:solidFill>
                <a:latin typeface="Noto Sans CJK SC"/>
              </a:rPr>
              <a:t>一对一破冰，主办方逐一认识每位来宾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1655064"/>
            <a:ext cx="2240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050" b="0">
                <a:solidFill>
                  <a:srgbClr val="E3C88A"/>
                </a:solidFill>
                <a:latin typeface="Noto Sans CJK SC"/>
              </a:rPr>
              <a:t>全体工作人员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098548"/>
            <a:ext cx="1554480" cy="443484"/>
          </a:xfrm>
          <a:prstGeom prst="rect">
            <a:avLst/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57400" y="2098548"/>
            <a:ext cx="2286000" cy="443484"/>
          </a:xfrm>
          <a:prstGeom prst="rect">
            <a:avLst/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43400" y="2098548"/>
            <a:ext cx="5074920" cy="443484"/>
          </a:xfrm>
          <a:prstGeom prst="rect">
            <a:avLst/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418320" y="2098548"/>
            <a:ext cx="2377440" cy="443484"/>
          </a:xfrm>
          <a:prstGeom prst="rect">
            <a:avLst/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2125980"/>
            <a:ext cx="1463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E3C88A"/>
                </a:solidFill>
                <a:latin typeface="Noto Sans CJK SC"/>
              </a:rPr>
              <a:t>14:00–14:10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2125980"/>
            <a:ext cx="2194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FFFFFF"/>
                </a:solidFill>
                <a:latin typeface="Noto Sans CJK SC"/>
              </a:rPr>
              <a:t>开场致辞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2125980"/>
            <a:ext cx="4937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050" b="0">
                <a:solidFill>
                  <a:srgbClr val="B9C4D4"/>
                </a:solidFill>
                <a:latin typeface="Noto Sans CJK SC"/>
              </a:rPr>
              <a:t>沙龙定位与系列活动介绍，合作单位亮相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2125980"/>
            <a:ext cx="2240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050" b="0">
                <a:solidFill>
                  <a:srgbClr val="E3C88A"/>
                </a:solidFill>
                <a:latin typeface="Noto Sans CJK SC"/>
              </a:rPr>
              <a:t>主办方 + 中东投资联盟代表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2569464"/>
            <a:ext cx="1554480" cy="443484"/>
          </a:xfrm>
          <a:prstGeom prst="rect">
            <a:avLst/>
          </a:prstGeom>
          <a:solidFill>
            <a:srgbClr val="13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057400" y="2569464"/>
            <a:ext cx="2286000" cy="443484"/>
          </a:xfrm>
          <a:prstGeom prst="rect">
            <a:avLst/>
          </a:prstGeom>
          <a:solidFill>
            <a:srgbClr val="13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2569464"/>
            <a:ext cx="5074920" cy="443484"/>
          </a:xfrm>
          <a:prstGeom prst="rect">
            <a:avLst/>
          </a:prstGeom>
          <a:solidFill>
            <a:srgbClr val="13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18320" y="2569464"/>
            <a:ext cx="2377440" cy="443484"/>
          </a:xfrm>
          <a:prstGeom prst="rect">
            <a:avLst/>
          </a:prstGeom>
          <a:solidFill>
            <a:srgbClr val="13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2596896"/>
            <a:ext cx="1463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E3C88A"/>
                </a:solidFill>
                <a:latin typeface="Noto Sans CJK SC"/>
              </a:rPr>
              <a:t>14:10–14:40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48840" y="2596896"/>
            <a:ext cx="2194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FFFFFF"/>
                </a:solidFill>
                <a:latin typeface="Noto Sans CJK SC"/>
              </a:rPr>
              <a:t>模块一：美股收益与CRS合规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2596896"/>
            <a:ext cx="4937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050" b="0">
                <a:solidFill>
                  <a:srgbClr val="B9C4D4"/>
                </a:solidFill>
                <a:latin typeface="Noto Sans CJK SC"/>
              </a:rPr>
              <a:t>美股复盘引入 → CRS机制与追缴案例 → 引出身份命题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0" y="2596896"/>
            <a:ext cx="2240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050" b="0">
                <a:solidFill>
                  <a:srgbClr val="E3C88A"/>
                </a:solidFill>
                <a:latin typeface="Noto Sans CJK SC"/>
              </a:rPr>
              <a:t>主讲人（主办方）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3040380"/>
            <a:ext cx="1554480" cy="443484"/>
          </a:xfrm>
          <a:prstGeom prst="rect">
            <a:avLst/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57400" y="3040380"/>
            <a:ext cx="2286000" cy="443484"/>
          </a:xfrm>
          <a:prstGeom prst="rect">
            <a:avLst/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43400" y="3040380"/>
            <a:ext cx="5074920" cy="443484"/>
          </a:xfrm>
          <a:prstGeom prst="rect">
            <a:avLst/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418320" y="3040380"/>
            <a:ext cx="2377440" cy="443484"/>
          </a:xfrm>
          <a:prstGeom prst="rect">
            <a:avLst/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3067812"/>
            <a:ext cx="1463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E3C88A"/>
                </a:solidFill>
                <a:latin typeface="Noto Sans CJK SC"/>
              </a:rPr>
              <a:t>14:40–15:20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48840" y="3067812"/>
            <a:ext cx="2194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FFFFFF"/>
                </a:solidFill>
                <a:latin typeface="Noto Sans CJK SC"/>
              </a:rPr>
              <a:t>模块二：迪拜 vs 土耳其身份方案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4840" y="3067812"/>
            <a:ext cx="4937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050" b="0">
                <a:solidFill>
                  <a:srgbClr val="B9C4D4"/>
                </a:solidFill>
                <a:latin typeface="Noto Sans CJK SC"/>
              </a:rPr>
              <a:t>两大方案深度对比：门槛、隔离、风险、币种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9760" y="3067812"/>
            <a:ext cx="2240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050" b="0">
                <a:solidFill>
                  <a:srgbClr val="E3C88A"/>
                </a:solidFill>
                <a:latin typeface="Noto Sans CJK SC"/>
              </a:rPr>
              <a:t>主讲人 + 移民合作方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3511296"/>
            <a:ext cx="1554480" cy="443484"/>
          </a:xfrm>
          <a:prstGeom prst="rect">
            <a:avLst/>
          </a:prstGeom>
          <a:solidFill>
            <a:srgbClr val="13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057400" y="3511296"/>
            <a:ext cx="2286000" cy="443484"/>
          </a:xfrm>
          <a:prstGeom prst="rect">
            <a:avLst/>
          </a:prstGeom>
          <a:solidFill>
            <a:srgbClr val="13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343400" y="3511296"/>
            <a:ext cx="5074920" cy="443484"/>
          </a:xfrm>
          <a:prstGeom prst="rect">
            <a:avLst/>
          </a:prstGeom>
          <a:solidFill>
            <a:srgbClr val="13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418320" y="3511296"/>
            <a:ext cx="2377440" cy="443484"/>
          </a:xfrm>
          <a:prstGeom prst="rect">
            <a:avLst/>
          </a:prstGeom>
          <a:solidFill>
            <a:srgbClr val="13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" y="3538728"/>
            <a:ext cx="1463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E3C88A"/>
                </a:solidFill>
                <a:latin typeface="Noto Sans CJK SC"/>
              </a:rPr>
              <a:t>15:20–15:35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48840" y="3538728"/>
            <a:ext cx="2194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FFFFFF"/>
                </a:solidFill>
                <a:latin typeface="Noto Sans CJK SC"/>
              </a:rPr>
              <a:t>茶歇交流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34840" y="3538728"/>
            <a:ext cx="4937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050" b="0">
                <a:solidFill>
                  <a:srgbClr val="B9C4D4"/>
                </a:solidFill>
                <a:latin typeface="Noto Sans CJK SC"/>
              </a:rPr>
              <a:t>工作人员定向撮合：客户 × 嘉宾一对一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09760" y="3538728"/>
            <a:ext cx="2240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050" b="0">
                <a:solidFill>
                  <a:srgbClr val="E3C88A"/>
                </a:solidFill>
                <a:latin typeface="Noto Sans CJK SC"/>
              </a:rPr>
              <a:t>全体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3982212"/>
            <a:ext cx="1554480" cy="443484"/>
          </a:xfrm>
          <a:prstGeom prst="rect">
            <a:avLst/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057400" y="3982212"/>
            <a:ext cx="2286000" cy="443484"/>
          </a:xfrm>
          <a:prstGeom prst="rect">
            <a:avLst/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343400" y="3982212"/>
            <a:ext cx="5074920" cy="443484"/>
          </a:xfrm>
          <a:prstGeom prst="rect">
            <a:avLst/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418320" y="3982212"/>
            <a:ext cx="2377440" cy="443484"/>
          </a:xfrm>
          <a:prstGeom prst="rect">
            <a:avLst/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" y="4009644"/>
            <a:ext cx="1463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E3C88A"/>
                </a:solidFill>
                <a:latin typeface="Noto Sans CJK SC"/>
              </a:rPr>
              <a:t>15:35–16:05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48840" y="4009644"/>
            <a:ext cx="2194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FFFFFF"/>
                </a:solidFill>
                <a:latin typeface="Noto Sans CJK SC"/>
              </a:rPr>
              <a:t>特邀分享：全球资产配置视角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34840" y="4009644"/>
            <a:ext cx="4937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050" b="0">
                <a:solidFill>
                  <a:srgbClr val="B9C4D4"/>
                </a:solidFill>
                <a:latin typeface="Noto Sans CJK SC"/>
              </a:rPr>
              <a:t>宏观与资产配置框架下的中东机会（拟邀 夏春先生）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09760" y="4009644"/>
            <a:ext cx="2240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050" b="0">
                <a:solidFill>
                  <a:srgbClr val="E3C88A"/>
                </a:solidFill>
                <a:latin typeface="Noto Sans CJK SC"/>
              </a:rPr>
              <a:t>夏春先生（拟）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4453128"/>
            <a:ext cx="1554480" cy="443484"/>
          </a:xfrm>
          <a:prstGeom prst="rect">
            <a:avLst/>
          </a:prstGeom>
          <a:solidFill>
            <a:srgbClr val="13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057400" y="4453128"/>
            <a:ext cx="2286000" cy="443484"/>
          </a:xfrm>
          <a:prstGeom prst="rect">
            <a:avLst/>
          </a:prstGeom>
          <a:solidFill>
            <a:srgbClr val="13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343400" y="4453128"/>
            <a:ext cx="5074920" cy="443484"/>
          </a:xfrm>
          <a:prstGeom prst="rect">
            <a:avLst/>
          </a:prstGeom>
          <a:solidFill>
            <a:srgbClr val="13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418320" y="4453128"/>
            <a:ext cx="2377440" cy="443484"/>
          </a:xfrm>
          <a:prstGeom prst="rect">
            <a:avLst/>
          </a:prstGeom>
          <a:solidFill>
            <a:srgbClr val="13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4360" y="4480560"/>
            <a:ext cx="1463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E3C88A"/>
                </a:solidFill>
                <a:latin typeface="Noto Sans CJK SC"/>
              </a:rPr>
              <a:t>16:05–16:35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148840" y="4480560"/>
            <a:ext cx="2194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FFFFFF"/>
                </a:solidFill>
                <a:latin typeface="Noto Sans CJK SC"/>
              </a:rPr>
              <a:t>模块三：中东地缘与迪拜算力投资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434840" y="4480560"/>
            <a:ext cx="4937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050" b="0">
                <a:solidFill>
                  <a:srgbClr val="B9C4D4"/>
                </a:solidFill>
                <a:latin typeface="Noto Sans CJK SC"/>
              </a:rPr>
              <a:t>冲突周期与油价 → 算力工厂逻辑 → 中国模型出海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09760" y="4480560"/>
            <a:ext cx="2240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050" b="0">
                <a:solidFill>
                  <a:srgbClr val="E3C88A"/>
                </a:solidFill>
                <a:latin typeface="Noto Sans CJK SC"/>
              </a:rPr>
              <a:t>主讲人 + 杨浦科技企联代表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4924044"/>
            <a:ext cx="1554480" cy="443484"/>
          </a:xfrm>
          <a:prstGeom prst="rect">
            <a:avLst/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057400" y="4924044"/>
            <a:ext cx="2286000" cy="443484"/>
          </a:xfrm>
          <a:prstGeom prst="rect">
            <a:avLst/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343400" y="4924044"/>
            <a:ext cx="5074920" cy="443484"/>
          </a:xfrm>
          <a:prstGeom prst="rect">
            <a:avLst/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418320" y="4924044"/>
            <a:ext cx="2377440" cy="443484"/>
          </a:xfrm>
          <a:prstGeom prst="rect">
            <a:avLst/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94360" y="4951476"/>
            <a:ext cx="1463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E3C88A"/>
                </a:solidFill>
                <a:latin typeface="Noto Sans CJK SC"/>
              </a:rPr>
              <a:t>16:35–17:05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48840" y="4951476"/>
            <a:ext cx="2194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FFFFFF"/>
                </a:solidFill>
                <a:latin typeface="Noto Sans CJK SC"/>
              </a:rPr>
              <a:t>开发商高管圆桌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434840" y="4951476"/>
            <a:ext cx="4937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050" b="0">
                <a:solidFill>
                  <a:srgbClr val="B9C4D4"/>
                </a:solidFill>
                <a:latin typeface="Noto Sans CJK SC"/>
              </a:rPr>
              <a:t>迪拜开发商外籍高管（如埃及籍负责人）分享，配实时翻译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509760" y="4951476"/>
            <a:ext cx="2240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050" b="0">
                <a:solidFill>
                  <a:srgbClr val="E3C88A"/>
                </a:solidFill>
                <a:latin typeface="Noto Sans CJK SC"/>
              </a:rPr>
              <a:t>开发商高管 + 翻译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920" y="5394960"/>
            <a:ext cx="1554480" cy="443484"/>
          </a:xfrm>
          <a:prstGeom prst="rect">
            <a:avLst/>
          </a:prstGeom>
          <a:solidFill>
            <a:srgbClr val="13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057400" y="5394960"/>
            <a:ext cx="2286000" cy="443484"/>
          </a:xfrm>
          <a:prstGeom prst="rect">
            <a:avLst/>
          </a:prstGeom>
          <a:solidFill>
            <a:srgbClr val="13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343400" y="5394960"/>
            <a:ext cx="5074920" cy="443484"/>
          </a:xfrm>
          <a:prstGeom prst="rect">
            <a:avLst/>
          </a:prstGeom>
          <a:solidFill>
            <a:srgbClr val="13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418320" y="5394960"/>
            <a:ext cx="2377440" cy="443484"/>
          </a:xfrm>
          <a:prstGeom prst="rect">
            <a:avLst/>
          </a:prstGeom>
          <a:solidFill>
            <a:srgbClr val="13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94360" y="5422392"/>
            <a:ext cx="1463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E3C88A"/>
                </a:solidFill>
                <a:latin typeface="Noto Sans CJK SC"/>
              </a:rPr>
              <a:t>17:05–17:45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148840" y="5422392"/>
            <a:ext cx="2194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FFFFFF"/>
                </a:solidFill>
                <a:latin typeface="Noto Sans CJK SC"/>
              </a:rPr>
              <a:t>自由交流与一对一咨询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434840" y="5422392"/>
            <a:ext cx="4937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050" b="0">
                <a:solidFill>
                  <a:srgbClr val="B9C4D4"/>
                </a:solidFill>
                <a:latin typeface="Noto Sans CJK SC"/>
              </a:rPr>
              <a:t>按意向分组：身份规划桌 / 算力投资桌 / 房产桌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509760" y="5422392"/>
            <a:ext cx="2240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050" b="0">
                <a:solidFill>
                  <a:srgbClr val="E3C88A"/>
                </a:solidFill>
                <a:latin typeface="Noto Sans CJK SC"/>
              </a:rPr>
              <a:t>全体嘉宾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02920" y="5865876"/>
            <a:ext cx="1554480" cy="443484"/>
          </a:xfrm>
          <a:prstGeom prst="rect">
            <a:avLst/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057400" y="5865876"/>
            <a:ext cx="2286000" cy="443484"/>
          </a:xfrm>
          <a:prstGeom prst="rect">
            <a:avLst/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343400" y="5865876"/>
            <a:ext cx="5074920" cy="443484"/>
          </a:xfrm>
          <a:prstGeom prst="rect">
            <a:avLst/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418320" y="5865876"/>
            <a:ext cx="2377440" cy="443484"/>
          </a:xfrm>
          <a:prstGeom prst="rect">
            <a:avLst/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94360" y="5893308"/>
            <a:ext cx="1463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E3C88A"/>
                </a:solidFill>
                <a:latin typeface="Noto Sans CJK SC"/>
              </a:rPr>
              <a:t>17:45–18:00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148840" y="5893308"/>
            <a:ext cx="2194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FFFFFF"/>
                </a:solidFill>
                <a:latin typeface="Noto Sans CJK SC"/>
              </a:rPr>
              <a:t>收尾与下期预告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434840" y="5893308"/>
            <a:ext cx="4937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050" b="0">
                <a:solidFill>
                  <a:srgbClr val="B9C4D4"/>
                </a:solidFill>
                <a:latin typeface="Noto Sans CJK SC"/>
              </a:rPr>
              <a:t>发放资料包，登记迪拜考察团意向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509760" y="5893308"/>
            <a:ext cx="2240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050" b="0">
                <a:solidFill>
                  <a:srgbClr val="E3C88A"/>
                </a:solidFill>
                <a:latin typeface="Noto Sans CJK SC"/>
              </a:rPr>
              <a:t>主办方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Noto Sans CJK SC"/>
              </a:rPr>
              <a:t>系列化活动规划（滚动四期）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E3C88A"/>
                </a:solidFill>
                <a:latin typeface="Noto Sans CJK SC"/>
              </a:rPr>
              <a:t>一场沙龙不做转化闭环，系列活动才做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347472"/>
            <a:ext cx="1691640" cy="457200"/>
          </a:xfrm>
          <a:prstGeom prst="roundRect">
            <a:avLst>
              <a:gd name="adj" fmla="val 6000"/>
            </a:avLst>
          </a:prstGeom>
          <a:solidFill>
            <a:srgbClr val="1A355C"/>
          </a:solidFill>
          <a:ln w="1524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0" y="402336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3C88A"/>
                </a:solidFill>
                <a:latin typeface="Noto Sans CJK SC"/>
              </a:rPr>
              <a:t>系 列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1155680" cy="2032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B9C4D4"/>
                </a:solidFill>
                <a:latin typeface="Noto Sans CJK SC"/>
              </a:rPr>
              <a:t>迪拜身份规划与中东投资机会专题沙龙 · 内部策划文件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B9C4D4"/>
                </a:solidFill>
                <a:latin typeface="Noto Sans CJK SC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737360"/>
            <a:ext cx="11292840" cy="1033271"/>
          </a:xfrm>
          <a:prstGeom prst="roundRect">
            <a:avLst>
              <a:gd name="adj" fmla="val 6000"/>
            </a:avLst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10512"/>
            <a:ext cx="3840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C9A24B"/>
                </a:solidFill>
                <a:latin typeface="Noto Sans CJK SC"/>
              </a:rPr>
              <a:t>第一期 · 出海新坐标：迪拜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810512"/>
            <a:ext cx="4206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Noto Sans CJK SC"/>
              </a:rPr>
              <a:t>身份规划 + CRS合规 + 算力机会总览（本方案）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1810512"/>
            <a:ext cx="2651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E3C88A"/>
                </a:solidFill>
                <a:latin typeface="Noto Sans CJK SC"/>
              </a:rPr>
              <a:t>目标：建立信任池，筛出高意向 5 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889504"/>
            <a:ext cx="11292840" cy="1033271"/>
          </a:xfrm>
          <a:prstGeom prst="roundRect">
            <a:avLst>
              <a:gd name="adj" fmla="val 6000"/>
            </a:avLst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962656"/>
            <a:ext cx="3840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C9A24B"/>
                </a:solidFill>
                <a:latin typeface="Noto Sans CJK SC"/>
              </a:rPr>
              <a:t>第二期 · 全球身份组合配置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962656"/>
            <a:ext cx="4206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Noto Sans CJK SC"/>
              </a:rPr>
              <a:t>土耳其/迪拜/其他方案组合策略；律所税务师联合场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962656"/>
            <a:ext cx="2651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E3C88A"/>
                </a:solidFill>
                <a:latin typeface="Noto Sans CJK SC"/>
              </a:rPr>
              <a:t>目标：一对一诊断 8 场，锁定 3 组签约意向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041648"/>
            <a:ext cx="11292840" cy="1033271"/>
          </a:xfrm>
          <a:prstGeom prst="roundRect">
            <a:avLst>
              <a:gd name="adj" fmla="val 6000"/>
            </a:avLst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114800"/>
            <a:ext cx="3840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C9A24B"/>
                </a:solidFill>
                <a:latin typeface="Noto Sans CJK SC"/>
              </a:rPr>
              <a:t>第三期 · 迪拜算力与新基建专场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114800"/>
            <a:ext cx="4206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Noto Sans CJK SC"/>
              </a:rPr>
              <a:t>算力园区项目路演；杨浦科技企联联合，邀科技企业主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4114800"/>
            <a:ext cx="2651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E3C88A"/>
                </a:solidFill>
                <a:latin typeface="Noto Sans CJK SC"/>
              </a:rPr>
              <a:t>目标：形成考察团名单 10 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193792"/>
            <a:ext cx="11292840" cy="1033271"/>
          </a:xfrm>
          <a:prstGeom prst="roundRect">
            <a:avLst>
              <a:gd name="adj" fmla="val 6000"/>
            </a:avLst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266944"/>
            <a:ext cx="3840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C9A24B"/>
                </a:solidFill>
                <a:latin typeface="Noto Sans CJK SC"/>
              </a:rPr>
              <a:t>第四期 · 迪拜实地考察团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5266944"/>
            <a:ext cx="4206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Noto Sans CJK SC"/>
              </a:rPr>
              <a:t>看房 + 算力园区 + 开发商高管接待 + 自由区注册咨询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5266944"/>
            <a:ext cx="2651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E3C88A"/>
                </a:solidFill>
                <a:latin typeface="Noto Sans CJK SC"/>
              </a:rPr>
              <a:t>目标：现场签约 2–3 单，形成案例素材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Noto Sans CJK SC"/>
              </a:rPr>
              <a:t>合作单位与分工（拟联络推进）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E3C88A"/>
                </a:solidFill>
                <a:latin typeface="Noto Sans CJK SC"/>
              </a:rPr>
              <a:t>五方资源互补：产业+学术+政企+专家+场地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347472"/>
            <a:ext cx="1691640" cy="457200"/>
          </a:xfrm>
          <a:prstGeom prst="roundRect">
            <a:avLst>
              <a:gd name="adj" fmla="val 6000"/>
            </a:avLst>
          </a:prstGeom>
          <a:solidFill>
            <a:srgbClr val="1A355C"/>
          </a:solidFill>
          <a:ln w="1524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0" y="402336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3C88A"/>
                </a:solidFill>
                <a:latin typeface="Noto Sans CJK SC"/>
              </a:rPr>
              <a:t>合 作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1155680" cy="2032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B9C4D4"/>
                </a:solidFill>
                <a:latin typeface="Noto Sans CJK SC"/>
              </a:rPr>
              <a:t>迪拜身份规划与中东投资机会专题沙龙 · 内部策划文件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B9C4D4"/>
                </a:solidFill>
                <a:latin typeface="Noto Sans CJK SC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45920"/>
            <a:ext cx="11292840" cy="868680"/>
          </a:xfrm>
          <a:prstGeom prst="roundRect">
            <a:avLst>
              <a:gd name="adj" fmla="val 6000"/>
            </a:avLst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700784"/>
            <a:ext cx="2743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Noto Sans CJK SC"/>
              </a:rPr>
              <a:t>中东投资联盟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700784"/>
            <a:ext cx="1920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C9A24B"/>
                </a:solidFill>
                <a:latin typeface="Noto Sans CJK SC"/>
              </a:rPr>
              <a:t>联合主办 / 产业资源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700784"/>
            <a:ext cx="6035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>
                <a:solidFill>
                  <a:srgbClr val="B9C4D4"/>
                </a:solidFill>
                <a:latin typeface="Noto Sans CJK SC"/>
              </a:rPr>
              <a:t>· 提供中东项目资源与开发商对接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>
                <a:solidFill>
                  <a:srgbClr val="B9C4D4"/>
                </a:solidFill>
                <a:latin typeface="Noto Sans CJK SC"/>
              </a:rPr>
              <a:t>· 联合背书提升沙龙公信力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>
                <a:solidFill>
                  <a:srgbClr val="B9C4D4"/>
                </a:solidFill>
                <a:latin typeface="Noto Sans CJK SC"/>
              </a:rPr>
              <a:t>· 输送中东投资意向客户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596896"/>
            <a:ext cx="11292840" cy="868680"/>
          </a:xfrm>
          <a:prstGeom prst="roundRect">
            <a:avLst>
              <a:gd name="adj" fmla="val 6000"/>
            </a:avLst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651760"/>
            <a:ext cx="2743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Noto Sans CJK SC"/>
              </a:rPr>
              <a:t>复旦大学住房政策研究中心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651760"/>
            <a:ext cx="1920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C9A24B"/>
                </a:solidFill>
                <a:latin typeface="Noto Sans CJK SC"/>
              </a:rPr>
              <a:t>学术支持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2651760"/>
            <a:ext cx="6035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>
                <a:solidFill>
                  <a:srgbClr val="B9C4D4"/>
                </a:solidFill>
                <a:latin typeface="Noto Sans CJK SC"/>
              </a:rPr>
              <a:t>· 提供房产市场研究视角与数据背书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>
                <a:solidFill>
                  <a:srgbClr val="B9C4D4"/>
                </a:solidFill>
                <a:latin typeface="Noto Sans CJK SC"/>
              </a:rPr>
              <a:t>· 拟邀研究员做“全球房产配置”客观分享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>
                <a:solidFill>
                  <a:srgbClr val="B9C4D4"/>
                </a:solidFill>
                <a:latin typeface="Noto Sans CJK SC"/>
              </a:rPr>
              <a:t>· 提升内容严肃性，弱化销售感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547872"/>
            <a:ext cx="11292840" cy="868680"/>
          </a:xfrm>
          <a:prstGeom prst="roundRect">
            <a:avLst>
              <a:gd name="adj" fmla="val 6000"/>
            </a:avLst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602736"/>
            <a:ext cx="2743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Noto Sans CJK SC"/>
              </a:rPr>
              <a:t>上海市杨浦区科技企业联合会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3602736"/>
            <a:ext cx="1920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C9A24B"/>
                </a:solidFill>
                <a:latin typeface="Noto Sans CJK SC"/>
              </a:rPr>
              <a:t>科技企业客群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3602736"/>
            <a:ext cx="6035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>
                <a:solidFill>
                  <a:srgbClr val="B9C4D4"/>
                </a:solidFill>
                <a:latin typeface="Noto Sans CJK SC"/>
              </a:rPr>
              <a:t>· 组织科技企业主参与算力专场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>
                <a:solidFill>
                  <a:srgbClr val="B9C4D4"/>
                </a:solidFill>
                <a:latin typeface="Noto Sans CJK SC"/>
              </a:rPr>
              <a:t>· 对接算力/AI企业出海需求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>
                <a:solidFill>
                  <a:srgbClr val="B9C4D4"/>
                </a:solidFill>
                <a:latin typeface="Noto Sans CJK SC"/>
              </a:rPr>
              <a:t>· 政企资源与场地备选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498848"/>
            <a:ext cx="11292840" cy="868680"/>
          </a:xfrm>
          <a:prstGeom prst="roundRect">
            <a:avLst>
              <a:gd name="adj" fmla="val 6000"/>
            </a:avLst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553712"/>
            <a:ext cx="2743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Noto Sans CJK SC"/>
              </a:rPr>
              <a:t>夏春先生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4553712"/>
            <a:ext cx="1920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C9A24B"/>
                </a:solidFill>
                <a:latin typeface="Noto Sans CJK SC"/>
              </a:rPr>
              <a:t>特邀经济学家（拟）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4553712"/>
            <a:ext cx="6035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>
                <a:solidFill>
                  <a:srgbClr val="B9C4D4"/>
                </a:solidFill>
                <a:latin typeface="Noto Sans CJK SC"/>
              </a:rPr>
              <a:t>· 全球资产配置与宏观视角主题分享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>
                <a:solidFill>
                  <a:srgbClr val="B9C4D4"/>
                </a:solidFill>
                <a:latin typeface="Noto Sans CJK SC"/>
              </a:rPr>
              <a:t>· 为“美股+CRS”模块提供专业站台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>
                <a:solidFill>
                  <a:srgbClr val="B9C4D4"/>
                </a:solidFill>
                <a:latin typeface="Noto Sans CJK SC"/>
              </a:rPr>
              <a:t>· 提升活动规格与传播话题性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449824"/>
            <a:ext cx="11292840" cy="868680"/>
          </a:xfrm>
          <a:prstGeom prst="roundRect">
            <a:avLst>
              <a:gd name="adj" fmla="val 6000"/>
            </a:avLst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504688"/>
            <a:ext cx="2743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Noto Sans CJK SC"/>
              </a:rPr>
              <a:t>国际会客厅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5504688"/>
            <a:ext cx="1920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C9A24B"/>
                </a:solidFill>
                <a:latin typeface="Noto Sans CJK SC"/>
              </a:rPr>
              <a:t>场地 / 涉外资源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0" y="5504688"/>
            <a:ext cx="6035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>
                <a:solidFill>
                  <a:srgbClr val="B9C4D4"/>
                </a:solidFill>
                <a:latin typeface="Noto Sans CJK SC"/>
              </a:rPr>
              <a:t>· 提供高规格涉外活动场地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>
                <a:solidFill>
                  <a:srgbClr val="B9C4D4"/>
                </a:solidFill>
                <a:latin typeface="Noto Sans CJK SC"/>
              </a:rPr>
              <a:t>· 协助外籍嘉宾接待与实时翻译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>
                <a:solidFill>
                  <a:srgbClr val="B9C4D4"/>
                </a:solidFill>
                <a:latin typeface="Noto Sans CJK SC"/>
              </a:rPr>
              <a:t>· 涉外活动流程合规把关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Noto Sans CJK SC"/>
              </a:rPr>
              <a:t>现场执行与风险合规要点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E3C88A"/>
                </a:solidFill>
                <a:latin typeface="Noto Sans CJK SC"/>
              </a:rPr>
              <a:t>小沙龙拼的是细节和分寸感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347472"/>
            <a:ext cx="1691640" cy="457200"/>
          </a:xfrm>
          <a:prstGeom prst="roundRect">
            <a:avLst>
              <a:gd name="adj" fmla="val 6000"/>
            </a:avLst>
          </a:prstGeom>
          <a:solidFill>
            <a:srgbClr val="1A355C"/>
          </a:solidFill>
          <a:ln w="1524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0" y="402336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3C88A"/>
                </a:solidFill>
                <a:latin typeface="Noto Sans CJK SC"/>
              </a:rPr>
              <a:t>执 行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1155680" cy="2032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B9C4D4"/>
                </a:solidFill>
                <a:latin typeface="Noto Sans CJK SC"/>
              </a:rPr>
              <a:t>迪拜身份规划与中东投资机会专题沙龙 · 内部策划文件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B9C4D4"/>
                </a:solidFill>
                <a:latin typeface="Noto Sans CJK SC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91640"/>
            <a:ext cx="5532120" cy="4114800"/>
          </a:xfrm>
          <a:prstGeom prst="roundRect">
            <a:avLst>
              <a:gd name="adj" fmla="val 6000"/>
            </a:avLst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28800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E3C88A"/>
                </a:solidFill>
                <a:latin typeface="Noto Sans CJK SC"/>
              </a:rPr>
              <a:t>现场执行细节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13432"/>
            <a:ext cx="5074920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FFFFFF"/>
                </a:solidFill>
                <a:latin typeface="Noto Sans CJK SC"/>
              </a:rPr>
              <a:t>• 外籍嘉宾（迪拜开发商高管）全程配实时翻译，提前对稿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FFFFFF"/>
                </a:solidFill>
                <a:latin typeface="Noto Sans CJK SC"/>
              </a:rPr>
              <a:t>• 座位按“客户+对应顾问”穿插安排，保证一对一覆盖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FFFFFF"/>
                </a:solidFill>
                <a:latin typeface="Noto Sans CJK SC"/>
              </a:rPr>
              <a:t>• PPT开场页用美股/世界杯热点，中东内容后置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FFFFFF"/>
                </a:solidFill>
                <a:latin typeface="Noto Sans CJK SC"/>
              </a:rPr>
              <a:t>• 资料包：对比表 + CRS自测表 + 迪拜项目册 + 考察团报名表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FFFFFF"/>
                </a:solidFill>
                <a:latin typeface="Noto Sans CJK SC"/>
              </a:rPr>
              <a:t>• 现场设三张主题桌：身份规划 / 算力投资 / 房产配置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691640"/>
            <a:ext cx="5532120" cy="4114800"/>
          </a:xfrm>
          <a:prstGeom prst="roundRect">
            <a:avLst>
              <a:gd name="adj" fmla="val 6000"/>
            </a:avLst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28800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E3C88A"/>
                </a:solidFill>
                <a:latin typeface="Noto Sans CJK SC"/>
              </a:rPr>
              <a:t>风险与合规提示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13432"/>
            <a:ext cx="5074920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FFFFFF"/>
                </a:solidFill>
                <a:latin typeface="Noto Sans CJK SC"/>
              </a:rPr>
              <a:t>• 敏感话题（美股、移民）借“全球资产配置”“国际教育”外壳包装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FFFFFF"/>
                </a:solidFill>
                <a:latin typeface="Noto Sans CJK SC"/>
              </a:rPr>
              <a:t>• 不承诺免税/避税，统一口径为“合法税务规划与申报”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FFFFFF"/>
                </a:solidFill>
                <a:latin typeface="Noto Sans CJK SC"/>
              </a:rPr>
              <a:t>• 土耳其方案风险（汇率、房价虚高）必须如实揭示，建立长期信任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FFFFFF"/>
                </a:solidFill>
                <a:latin typeface="Noto Sans CJK SC"/>
              </a:rPr>
              <a:t>• 涉外活动报备与宣传物料审核，由国际会客厅协助把关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FFFFFF"/>
                </a:solidFill>
                <a:latin typeface="Noto Sans CJK SC"/>
              </a:rPr>
              <a:t>• 热点营销卡点：地缘冲突话题仅作背景，避免蹭过期热点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Noto Sans CJK SC"/>
              </a:rPr>
              <a:t>目标 KPI 与下一步行动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E3C88A"/>
                </a:solidFill>
                <a:latin typeface="Noto Sans CJK SC"/>
              </a:rPr>
              <a:t>所有动作以“考察团成行、签约落地”为终点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347472"/>
            <a:ext cx="1691640" cy="457200"/>
          </a:xfrm>
          <a:prstGeom prst="roundRect">
            <a:avLst>
              <a:gd name="adj" fmla="val 6000"/>
            </a:avLst>
          </a:prstGeom>
          <a:solidFill>
            <a:srgbClr val="1A355C"/>
          </a:solidFill>
          <a:ln w="1524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0" y="402336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3C88A"/>
                </a:solidFill>
                <a:latin typeface="Noto Sans CJK SC"/>
              </a:rPr>
              <a:t>行 动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1155680" cy="2032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B9C4D4"/>
                </a:solidFill>
                <a:latin typeface="Noto Sans CJK SC"/>
              </a:rPr>
              <a:t>迪拜身份规划与中东投资机会专题沙龙 · 内部策划文件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B9C4D4"/>
                </a:solidFill>
                <a:latin typeface="Noto Sans CJK SC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9164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1A355C"/>
          </a:solidFill>
          <a:ln w="1524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10512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E3C88A"/>
                </a:solidFill>
                <a:latin typeface="Noto Sans CJK SC"/>
              </a:rPr>
              <a:t>到场人数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176272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</a:rPr>
              <a:t>15人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505456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B9C4D4"/>
                </a:solidFill>
                <a:latin typeface="Noto Sans CJK SC"/>
              </a:rPr>
              <a:t>（客户10 + 渠道5）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4992" y="169164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1A355C"/>
          </a:solidFill>
          <a:ln w="1524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64992" y="1810512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E3C88A"/>
                </a:solidFill>
                <a:latin typeface="Noto Sans CJK SC"/>
              </a:rPr>
              <a:t>一对一面谈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4992" y="2176272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</a:rPr>
              <a:t>≥ 8 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4992" y="2505456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B9C4D4"/>
                </a:solidFill>
                <a:latin typeface="Noto Sans CJK SC"/>
              </a:rPr>
              <a:t>（会后一周内）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169164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1A355C"/>
          </a:solidFill>
          <a:ln w="1524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27064" y="1810512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E3C88A"/>
                </a:solidFill>
                <a:latin typeface="Noto Sans CJK SC"/>
              </a:rPr>
              <a:t>考察团意向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7064" y="2176272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</a:rPr>
              <a:t>≥ 5 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7064" y="2505456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B9C4D4"/>
                </a:solidFill>
                <a:latin typeface="Noto Sans CJK SC"/>
              </a:rPr>
              <a:t>登记报名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89136" y="169164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1A355C"/>
          </a:solidFill>
          <a:ln w="1524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89136" y="1810512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E3C88A"/>
                </a:solidFill>
                <a:latin typeface="Noto Sans CJK SC"/>
              </a:rPr>
              <a:t>签约转化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89136" y="2176272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</a:rPr>
              <a:t>2–3 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2505456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B9C4D4"/>
                </a:solidFill>
                <a:latin typeface="Noto Sans CJK SC"/>
              </a:rPr>
              <a:t>（系列期内）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429000"/>
            <a:ext cx="1188720" cy="402336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465576"/>
            <a:ext cx="11887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B1F3A"/>
                </a:solidFill>
                <a:latin typeface="Noto Sans CJK SC"/>
              </a:rPr>
              <a:t>T+1周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91640" y="3429000"/>
            <a:ext cx="10104120" cy="402336"/>
          </a:xfrm>
          <a:prstGeom prst="rect">
            <a:avLst/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74519" y="3465576"/>
            <a:ext cx="9784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Noto Sans CJK SC"/>
              </a:rPr>
              <a:t>分别联络五家合作单位，确认联合主办意向与分工（详见Excel推进表）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913632"/>
            <a:ext cx="1188720" cy="402336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950208"/>
            <a:ext cx="11887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B1F3A"/>
                </a:solidFill>
                <a:latin typeface="Noto Sans CJK SC"/>
              </a:rPr>
              <a:t>T+1周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91640" y="3913632"/>
            <a:ext cx="10104120" cy="402336"/>
          </a:xfrm>
          <a:prstGeom prst="rect">
            <a:avLst/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74519" y="3950208"/>
            <a:ext cx="9784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Noto Sans CJK SC"/>
              </a:rPr>
              <a:t>筛选上海本地迪拜开发商代表（外籍高管优先），确认圆桌嘉宾与翻译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398264"/>
            <a:ext cx="1188720" cy="402336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434840"/>
            <a:ext cx="11887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B1F3A"/>
                </a:solidFill>
                <a:latin typeface="Noto Sans CJK SC"/>
              </a:rPr>
              <a:t>T+2周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91640" y="4398264"/>
            <a:ext cx="10104120" cy="402336"/>
          </a:xfrm>
          <a:prstGeom prst="rect">
            <a:avLst/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74519" y="4434840"/>
            <a:ext cx="9784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Noto Sans CJK SC"/>
              </a:rPr>
              <a:t>定稿沙龙PPT讲稿（美股+CRS开场版本），完成合规审核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4882896"/>
            <a:ext cx="1188720" cy="402336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4919472"/>
            <a:ext cx="11887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B1F3A"/>
                </a:solidFill>
                <a:latin typeface="Noto Sans CJK SC"/>
              </a:rPr>
              <a:t>T+2周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91640" y="4882896"/>
            <a:ext cx="10104120" cy="402336"/>
          </a:xfrm>
          <a:prstGeom prst="rect">
            <a:avLst/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74519" y="4919472"/>
            <a:ext cx="9784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Noto Sans CJK SC"/>
              </a:rPr>
              <a:t>确认场地（国际会客厅）、日期与15人邀约名单，发出定向邀请函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5367528"/>
            <a:ext cx="1188720" cy="402336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5404104"/>
            <a:ext cx="11887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B1F3A"/>
                </a:solidFill>
                <a:latin typeface="Noto Sans CJK SC"/>
              </a:rPr>
              <a:t>T+3周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691640" y="5367528"/>
            <a:ext cx="10104120" cy="402336"/>
          </a:xfrm>
          <a:prstGeom prst="rect">
            <a:avLst/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874519" y="5404104"/>
            <a:ext cx="9784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Noto Sans CJK SC"/>
              </a:rPr>
              <a:t>彩排走场：讲者对稿、翻译演练、一对一撮合分工到人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5852160"/>
            <a:ext cx="1188720" cy="402336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5888736"/>
            <a:ext cx="11887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B1F3A"/>
                </a:solidFill>
                <a:latin typeface="Noto Sans CJK SC"/>
              </a:rPr>
              <a:t>T+4周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691640" y="5852160"/>
            <a:ext cx="10104120" cy="402336"/>
          </a:xfrm>
          <a:prstGeom prst="rect">
            <a:avLst/>
          </a:prstGeom>
          <a:solidFill>
            <a:srgbClr val="1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874519" y="5888736"/>
            <a:ext cx="9784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Noto Sans CJK SC"/>
              </a:rPr>
              <a:t>第一期沙龙执行 → 会后48小时内完成全部一对一回访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B9C4D4"/>
                </a:solidFill>
                <a:latin typeface="Noto Sans CJK SC"/>
              </a:rPr>
              <a:t>迪拜身份规划与中东投资机会专题沙龙 · 内部策划文件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B9C4D4"/>
                </a:solidFill>
                <a:latin typeface="Noto Sans CJK SC"/>
              </a:rP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108960"/>
            <a:ext cx="12191695" cy="254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Noto Sans CJK SC"/>
              </a:rPr>
              <a:t>出海新坐标 · 迪拜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1200"/>
              </a:spcAft>
            </a:pPr>
            <a:r>
              <a:rPr sz="2000" b="0">
                <a:solidFill>
                  <a:srgbClr val="E3C88A"/>
                </a:solidFill>
                <a:latin typeface="Noto Sans CJK SC"/>
              </a:rPr>
              <a:t>以身份为锚，以算力为帆，以信任为舟</a:t>
            </a:r>
          </a:p>
          <a:p>
            <a:pPr algn="ctr">
              <a:lnSpc>
                <a:spcPct val="115000"/>
              </a:lnSpc>
              <a:spcAft>
                <a:spcPts val="1200"/>
              </a:spcAft>
            </a:pPr>
            <a:r>
              <a:rPr sz="1400" b="0">
                <a:solidFill>
                  <a:srgbClr val="B9C4D4"/>
                </a:solidFill>
                <a:latin typeface="Noto Sans CJK SC"/>
              </a:rPr>
              <a:t>配套执行文件：《迪拜沙龙-执行推进表.xlsx》（议程 / 合作单位联络 / 嘉宾筛选 / 待办跟踪）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