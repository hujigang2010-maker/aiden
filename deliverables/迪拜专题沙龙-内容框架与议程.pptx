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440680"/>
            <a:ext cx="12191695" cy="254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F0D99E"/>
                </a:solidFill>
                <a:latin typeface="微软雅黑"/>
              </a:rPr>
              <a:t>系列高净值客户闭门沙龙 · 第一期策划案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107899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5200" b="1">
                <a:solidFill>
                  <a:srgbClr val="FFFFFF"/>
                </a:solidFill>
                <a:latin typeface="微软雅黑"/>
              </a:rPr>
              <a:t>出海新坐标：迪拜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3000" b="1">
                <a:solidFill>
                  <a:srgbClr val="E0B95C"/>
                </a:solidFill>
                <a:latin typeface="微软雅黑"/>
              </a:rPr>
              <a:t>身份规划 × 中东地缘 × 算力投资机会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9476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3A2263"/>
          </a:solidFill>
          <a:ln w="15240">
            <a:solidFill>
              <a:srgbClr val="5E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9534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5ED3D3"/>
                </a:solidFill>
                <a:latin typeface="微软雅黑"/>
              </a:rPr>
              <a:t>观众视角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79476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3A2263"/>
          </a:solidFill>
          <a:ln w="15240">
            <a:solidFill>
              <a:srgbClr val="E0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89534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E06CB0"/>
                </a:solidFill>
                <a:latin typeface="微软雅黑"/>
              </a:rPr>
              <a:t>热点视角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3794760"/>
            <a:ext cx="2103120" cy="566928"/>
          </a:xfrm>
          <a:prstGeom prst="roundRect">
            <a:avLst>
              <a:gd name="adj" fmla="val 6000"/>
            </a:avLst>
          </a:prstGeom>
          <a:solidFill>
            <a:srgbClr val="3A2263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3895344"/>
            <a:ext cx="2103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E0B95C"/>
                </a:solidFill>
                <a:latin typeface="微软雅黑"/>
              </a:rPr>
              <a:t>利益视角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17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C3B8DA"/>
                </a:solidFill>
                <a:latin typeface="微软雅黑"/>
              </a:rPr>
              <a:t>15人闭门圆桌 | 一对一信任建立 | 系列化持续培育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C3B8DA"/>
                </a:solidFill>
                <a:latin typeface="微软雅黑"/>
              </a:rPr>
              <a:t>拟联合主办：中东投资联盟 · 复旦大学住房政策研究中心 · 上海市杨浦区科技企业联合会 · 国际会客厅 · 特邀 夏春先生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C7B2F0"/>
                </a:solidFill>
                <a:latin typeface="微软雅黑"/>
              </a:rPr>
              <a:t>策划版本 V2.0（三视角重构 · 紫金主题）· 2026年7月 · 上海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策划总纲：三视角驱动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以观众为起点、以热点为引信、以利益为落点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总 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3657600" cy="566928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144A"/>
                </a:solidFill>
                <a:latin typeface="微软雅黑"/>
              </a:rPr>
              <a:t>观众视角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为什么愿意来？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3246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精准邀约：只请对的人，15人闭门、拒绝大会式喧闹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低门槛入场：先讲“钱与合规”，不硬推移民、无压迫感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高规格体验：学术+专家+外籍高管背书，配实时翻译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稀缺感与社交价值：同层圈层链接，值得来、值得晒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64592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645920"/>
            <a:ext cx="3657600" cy="566928"/>
          </a:xfrm>
          <a:prstGeom prst="rect">
            <a:avLst/>
          </a:prstGeom>
          <a:solidFill>
            <a:srgbClr val="E0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15968" y="170992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144A"/>
                </a:solidFill>
                <a:latin typeface="微软雅黑"/>
              </a:rPr>
              <a:t>热点视角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31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凭什么被关注？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788920"/>
            <a:ext cx="3246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美股与全球资产收益：人人都在看的赚钱话题做钩子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CRS信息交换落地：高净值人群当下最真实的焦虑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AI算力浪潮：DeepSeek/豆包出海 + 迪拜算力洼地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世界杯/油价等话题暖场，规避过期地缘硬蹭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64592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1645920"/>
            <a:ext cx="3657600" cy="566928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70992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144A"/>
                </a:solidFill>
                <a:latin typeface="微软雅黑"/>
              </a:rPr>
              <a:t>利益视角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6" y="23317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能赚到什么？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2788920"/>
            <a:ext cx="324612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身份即资产：迪拜零个税、美元资产、保值+隔离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捡漏机会：中东窗口期资产折价、法拍别墅7-8折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产业红利：迪拜算力工厂成本洼地的投资入口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• 对渠道方：补齐迪拜产品线、共享高净值客源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观众视角：如何让对的人愿意来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获客的本质是“值得来 + 来了有收获 + 无压力”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观 众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109728" cy="429768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5ED3D3"/>
                </a:solidFill>
                <a:latin typeface="微软雅黑"/>
              </a:rPr>
              <a:t>谁来（精准客群）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04288"/>
            <a:ext cx="3200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高净值终端客户 8-10 人：可投资资产≥500万美元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渠道合作方 5-7 人：移民公司、私行、律所税务师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宁缺毋滥：每位来宾都可命名、可跟进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来源：私行转介、老客带新、家办、合作单位输送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64592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645920"/>
            <a:ext cx="109728" cy="429768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78308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为何来（吸引点）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304288"/>
            <a:ext cx="3200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主题钩子：美股收益 + CRS避坑，而非硬讲移民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嘉宾阵容：经济学家 + 高校研究 + 开发商外籍高管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稀缺闭门：15席限定，圈层社交价值高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即时获得感：现场做CRS自测与资产诊断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64592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645920"/>
            <a:ext cx="109728" cy="4297680"/>
          </a:xfrm>
          <a:prstGeom prst="rect">
            <a:avLst/>
          </a:prstGeom>
          <a:solidFill>
            <a:srgbClr val="E0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78308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C7B2F0"/>
                </a:solidFill>
                <a:latin typeface="微软雅黑"/>
              </a:rPr>
              <a:t>怎么来（邀约路径）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304288"/>
            <a:ext cx="3200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定向邀请函 + 合作单位联名背书，提升可信度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一对一电话邀约，讲清“为你解决什么问题”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老客户/渠道带客机制，给予转介绍礼遇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会前发预热资料，降低陌生感、锁定出席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6016752"/>
            <a:ext cx="11292840" cy="457200"/>
          </a:xfrm>
          <a:prstGeom prst="roundRect">
            <a:avLst>
              <a:gd name="adj" fmla="val 30000"/>
            </a:avLst>
          </a:prstGeom>
          <a:solidFill>
            <a:srgbClr val="3A2263"/>
          </a:solidFill>
          <a:ln w="15240">
            <a:solidFill>
              <a:srgbClr val="5ED3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062472"/>
            <a:ext cx="11292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观众视角一句话：把“被推销的顾虑”变成“怕错过的期待”。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热点视角：借势当下、精准卡点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热点是流量入口，但要“借壳包装、卡准窗口”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热 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5532120" cy="105156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109728" cy="1051560"/>
          </a:xfrm>
          <a:prstGeom prst="rect">
            <a:avLst/>
          </a:prstGeom>
          <a:solidFill>
            <a:srgbClr val="7E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647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7ED09A"/>
                </a:solidFill>
                <a:latin typeface="微软雅黑"/>
              </a:rPr>
              <a:t>美股与全球收益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4884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近一年美股/纳指收益复盘，全民关注的赚钱话题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自然引出：收益在海外，如何合规申报？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105156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109728" cy="1051560"/>
          </a:xfrm>
          <a:prstGeom prst="rect">
            <a:avLst/>
          </a:prstGeom>
          <a:solidFill>
            <a:srgbClr val="E0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647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E06CB0"/>
                </a:solidFill>
                <a:latin typeface="微软雅黑"/>
              </a:rPr>
              <a:t>CRS 信息交换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4884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100+国家和地区自动交换金融账户信息已落地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高净值人群最真实的税务焦虑，痛点即流量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880360"/>
            <a:ext cx="5532120" cy="105156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880360"/>
            <a:ext cx="109728" cy="105156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5ED3D3"/>
                </a:solidFill>
                <a:latin typeface="微软雅黑"/>
              </a:rPr>
              <a:t>AI 算力浪潮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3756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DeepSeek、豆包等中国开源模型出海热度高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迪拜最低电价+美元结算=算力工厂洼地叙事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880360"/>
            <a:ext cx="5532120" cy="105156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880360"/>
            <a:ext cx="109728" cy="105156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95351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50" b="1">
                <a:solidFill>
                  <a:srgbClr val="E0B95C"/>
                </a:solidFill>
                <a:latin typeface="微软雅黑"/>
              </a:rPr>
              <a:t>暖场轻热点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33756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世界杯、油价、金价等话题破冰，降低商业感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地缘冲突仅作背景板：3月流量红利已过，不硬蹭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92040"/>
            <a:ext cx="11292840" cy="1051560"/>
          </a:xfrm>
          <a:prstGeom prst="roundRect">
            <a:avLst>
              <a:gd name="adj" fmla="val 6000"/>
            </a:avLst>
          </a:prstGeom>
          <a:solidFill>
            <a:srgbClr val="3A2263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98348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0D99E"/>
                </a:solidFill>
                <a:latin typeface="微软雅黑"/>
              </a:rPr>
              <a:t>卡点原则（合规红线）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9496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微软雅黑"/>
              </a:rPr>
              <a:t>• 敏感话题（美股、移民）以“全球资产配置 / 国际教育”外壳包装；不承诺避税，只讲合法规划与申报优化；热点只做引子，落点始终回到迪拜身份与投资。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利益视角：为参会人创造真实收益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让投资人、渠道方、主办方都算得清这笔账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利 益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5532120" cy="21488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109728" cy="214884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对投资人 / 高净值客户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04288"/>
            <a:ext cx="5074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身份即资产：迪拜零个人所得税、美元资产、保值抗贬值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捡漏窗口：中东冲突周期资产折价、法拍别墅7-8折机会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产业入口：迪拜算力工厂/数据中心的成本洼地投资机会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风险对冲：资产隔离 + 人身安全 + 全球身份的实用性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532120" cy="21488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109728" cy="214884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78308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5ED3D3"/>
                </a:solidFill>
                <a:latin typeface="微软雅黑"/>
              </a:rPr>
              <a:t>对渠道合作方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04288"/>
            <a:ext cx="5074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补齐迪拜产品线，填补现有渠道动力不足的空白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共享高净值客源，联合活动降低各自获客成本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考察团与签约的佣金/分成机制，形成长期收益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联名背书提升品牌，沉淀可持续的客户资产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92840" cy="196596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96512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“收益可视化”表达法：把机会讲成可计算的账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E0B95C"/>
                </a:solidFill>
                <a:latin typeface="微软雅黑"/>
              </a:rPr>
              <a:t>迪拜购房+签证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9262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美元资产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23036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零个税持有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468112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签证续期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6160" y="4572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464515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E0B95C"/>
                </a:solidFill>
                <a:latin typeface="微软雅黑"/>
              </a:rPr>
              <a:t>法拍别墅捡漏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499262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7-8折入手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523036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打通银行-法院-业主链条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4572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64515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E0B95C"/>
                </a:solidFill>
                <a:latin typeface="微软雅黑"/>
              </a:rPr>
              <a:t>算力资产投资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99262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低电价+美元结算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23036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应用层出海红利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4572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1160" y="464515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E0B95C"/>
                </a:solidFill>
                <a:latin typeface="微软雅黑"/>
              </a:rPr>
              <a:t>土耳其对比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499262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彻底隔离但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5230368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微软雅黑"/>
              </a:rPr>
              <a:t>需揭示汇率/缩水风险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目标客群画像与转化路径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小而精：一场沙龙 15 人，全部可命名、可跟进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客 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5532120" cy="21488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109728" cy="214884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8308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客群 A：高净值终端客户（8-10人）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04288"/>
            <a:ext cx="5074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可投资资产 ≥ 500万美元，已有或计划配置海外资产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痛点：CRS税务追缴风险、资产透明化、子女教育与出行便利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来源：私行客户经理转介、老客户带新、家族办公室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532120" cy="214884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45920"/>
            <a:ext cx="109728" cy="214884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78308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客群 B：渠道合作方（5-7人）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04288"/>
            <a:ext cx="5074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移民公司负责人：补足其迪拜产品线（现有渠道动力不足）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金融机构/私行/三方财富：需要新的客户活动抓手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律所税务师：CRS合规咨询的天然入口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69080"/>
            <a:ext cx="11292840" cy="1874519"/>
          </a:xfrm>
          <a:prstGeom prst="roundRect">
            <a:avLst>
              <a:gd name="adj" fmla="val 6000"/>
            </a:avLst>
          </a:prstGeom>
          <a:solidFill>
            <a:srgbClr val="3A2263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062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四步转化路径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63440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2240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E0B95C"/>
                </a:solidFill>
                <a:latin typeface="微软雅黑"/>
              </a:rPr>
              <a:t>① 沙龙触达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206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热点内容引流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766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建立初步信任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4663440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2240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E0B95C"/>
                </a:solidFill>
                <a:latin typeface="微软雅黑"/>
              </a:rPr>
              <a:t>② 一对一面谈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1206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CRS/资产诊断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3766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明确身份需求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663440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754880"/>
            <a:ext cx="2240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E0B95C"/>
                </a:solidFill>
                <a:latin typeface="微软雅黑"/>
              </a:rPr>
              <a:t>③ 迪拜考察团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206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实地看房+算力园区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3766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开发商高管接待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4663440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4754880"/>
            <a:ext cx="2240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E0B95C"/>
                </a:solidFill>
                <a:latin typeface="微软雅黑"/>
              </a:rPr>
              <a:t>④ 签约落地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51206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购房+签证办理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3766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转介绍裂变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沙龙内容框架：三大模块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以痛点开场、以对比立信、以机会收口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框 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11292840" cy="141732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109728" cy="1417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647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B95C"/>
                </a:solidFill>
                <a:latin typeface="微软雅黑"/>
              </a:rPr>
              <a:t>模块一 · 破冰与痛点（30分钟）· 对应热点视角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美股收益复盘：用真实收益数据抓注意力（热点话题包装）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CRS与税务合规：信息交换机制、追缴案例、高净值人群的真实焦虑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引出核心命题：为什么需要第二身份与资产隔离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27832"/>
            <a:ext cx="11292840" cy="141732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27832"/>
            <a:ext cx="109728" cy="1417320"/>
          </a:xfrm>
          <a:prstGeom prst="rect">
            <a:avLst/>
          </a:prstGeom>
          <a:solidFill>
            <a:srgbClr val="F0D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3009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0D99E"/>
                </a:solidFill>
                <a:latin typeface="微软雅黑"/>
              </a:rPr>
              <a:t>模块二 · 身份规划方案对比（40分钟）· 对应利益视角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39312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土耳其购房入籍：40万美元门槛、护照可改名、三年后可售房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土耳其风险提示：里拉贬值、房价虚高（实际常达50万+美元）、资产缩水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迪拜黄金签证：购房获签、零个税、美元资产、人身安全、离岸金融中心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结论导向：土耳其重“隔离”、迪拜重“实用+保值”，可组合配置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64024"/>
            <a:ext cx="11292840" cy="141732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64024"/>
            <a:ext cx="109728" cy="141732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3717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5ED3D3"/>
                </a:solidFill>
                <a:latin typeface="微软雅黑"/>
              </a:rPr>
              <a:t>模块三 · 中东机遇与算力投资（40分钟）· 对应热点+利益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75504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中东地缘：冲突周期（打-停-再打）与油价联动，如何把握窗口期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迪拜算力基建：中东最低电价 + 美元结算 + 政策友好 = 算力工厂洼地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中美分工：美国主导底层芯片，中国应用层（DeepSeek、豆包开源模型）出海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• 开发商高管现场分享（外籍嘉宾 + 实时翻译）：迪拜房产与园区一手信息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模块一详解：以 CRS 痛点切入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先讲客户关心的钱，再讲客户害怕的税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模块一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109728" cy="4114800"/>
          </a:xfrm>
          <a:prstGeom prst="rect">
            <a:avLst/>
          </a:prstGeom>
          <a:solidFill>
            <a:srgbClr val="7E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开场：美股收益与全球配置（15分钟）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50008"/>
            <a:ext cx="5074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近一年美股/纳指收益复盘，对比国内资产表现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抛出问题：收益在海外，申报怎么办？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世界杯、油价等热点做暖场话题，降低商业感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话术要点：不直接讲移民，先讲“钱放哪里、怎么合规”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109728" cy="4114800"/>
          </a:xfrm>
          <a:prstGeom prst="rect">
            <a:avLst/>
          </a:prstGeom>
          <a:solidFill>
            <a:srgbClr val="E0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主体：CRS 信息交换与税务风险（15分钟）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50008"/>
            <a:ext cx="5074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CRS机制科普：100+国家和地区自动交换金融账户信息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真实案例：境外账户被交换后收到税务核查通知的处理过程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补税与滞纳金测算演示：让风险“可计算、可感知”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过渡句：合规的终极方案，是让资产拥有一个新的身份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合规红线：不承诺避税，只讲“合法规划与申报优化”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核心对比：迪拜黄金签证 vs 土耳其购房入籍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沙龙最重要的一页：用事实对比替客户做决策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模块二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45920"/>
            <a:ext cx="2011680" cy="475488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691640"/>
            <a:ext cx="179222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2A144A"/>
                </a:solidFill>
                <a:latin typeface="微软雅黑"/>
              </a:rPr>
              <a:t>对比维度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14600" y="1645920"/>
            <a:ext cx="4663440" cy="475488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1691640"/>
            <a:ext cx="444398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2A144A"/>
                </a:solidFill>
                <a:latin typeface="微软雅黑"/>
              </a:rPr>
              <a:t>土耳其购房入籍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1645920"/>
            <a:ext cx="4617720" cy="475488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7768" y="1691640"/>
            <a:ext cx="439826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2A144A"/>
                </a:solidFill>
                <a:latin typeface="微软雅黑"/>
              </a:rPr>
              <a:t>迪拜黄金签证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141408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187128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投资门槛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141408"/>
            <a:ext cx="466344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4328" y="2187128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40万美元（评估价），实际售价常50万+美元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2141408"/>
            <a:ext cx="461772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87768" y="2187128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购房约200万迪拉姆（约54万美元）起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91760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737480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身份性质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691760"/>
            <a:ext cx="4663440" cy="530352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24328" y="2737480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直接入籍拿护照，不影响中国国籍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2691760"/>
            <a:ext cx="4617720" cy="530352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7768" y="2737480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10年长期居留签证（可续）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242112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287832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资产隔离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242112"/>
            <a:ext cx="466344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4328" y="3287832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护照可改名，实现彻底隔离（核心卖点）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78040" y="3242112"/>
            <a:ext cx="461772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87768" y="3287832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居留身份，隔离效果弱于换护照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92464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3838184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房产绑定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3792464"/>
            <a:ext cx="4663440" cy="530352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4328" y="3838184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三年后可售房，护照仍有效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8040" y="3792464"/>
            <a:ext cx="4617720" cy="530352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3838184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房产出售则签证失效，需持续持有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342816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4388536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主要风险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4342816"/>
            <a:ext cx="466344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24328" y="4388536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里拉贬值、房价虚高，资产可能明显缩水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78040" y="4342816"/>
            <a:ext cx="461772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87768" y="4388536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房产流动性锁定；无入籍路径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893168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2648" y="4938888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资产币种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893168"/>
            <a:ext cx="4663440" cy="530352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4938888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里拉资产，汇率风险高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78040" y="4893168"/>
            <a:ext cx="4617720" cy="530352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87768" y="4938888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美元挂钩（迪拉姆盯住美元），保值性强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443520"/>
            <a:ext cx="2011680" cy="530352"/>
          </a:xfrm>
          <a:prstGeom prst="rect">
            <a:avLst/>
          </a:prstGeom>
          <a:solidFill>
            <a:srgbClr val="4A2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2648" y="5489240"/>
            <a:ext cx="1792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渠道现状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14600" y="5443520"/>
            <a:ext cx="466344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24328" y="5489240"/>
            <a:ext cx="44439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移民公司主推（房价做高、佣金高）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78040" y="5443520"/>
            <a:ext cx="4617720" cy="530352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87768" y="5489240"/>
            <a:ext cx="439826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微软雅黑"/>
              </a:rPr>
              <a:t>佣金低、渠道动力不足 → 市场空白即机会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048736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E0B95C"/>
                </a:solidFill>
                <a:latin typeface="微软雅黑"/>
              </a:rPr>
              <a:t>沙龙结论话术：追求“彻底隔离”选土耳其（接受资产缩水），追求“保值+实用+安全”选迪拜，高净值客户可双身份组合配置。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模块三详解 A：中东地缘与投资窗口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冲突是周期性的，恐慌是布局的朋友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模块三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109728" cy="4114800"/>
          </a:xfrm>
          <a:prstGeom prst="rect">
            <a:avLst/>
          </a:prstGeom>
          <a:solidFill>
            <a:srgbClr val="E0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地缘局势框架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50008"/>
            <a:ext cx="5074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以伊冲突等呈周期性：打—停—再打，避免用单次事件下结论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冲突推高油价 → 海湾国家财政盈余增加 → 主权基金加大对外投资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迪拜的独特定位：中东的“安全岛”与资金避风港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内容提示：地缘只作背景板，当前热度已过、不做硬主题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109728" cy="41148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对客户的三个投资含义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50008"/>
            <a:ext cx="5074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油价上行周期 = 海湾流动性充裕期，资产价格有支撑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冲突窗口期资产折价，是逆向布局迪拜房产/基建的时点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人身与资产安全叙事：迪拜治安、法治与自由区制度背书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话术：把“乱”讲成“别人的乱、迪拜的机会”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模块三详解 B：迪拜算力基础设施机会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中东最低电价 × 美元结算 × 中国应用层出海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模块三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109728" cy="4114800"/>
          </a:xfrm>
          <a:prstGeom prst="rect">
            <a:avLst/>
          </a:prstGeom>
          <a:solidFill>
            <a:srgbClr val="7ED0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7ED09A"/>
                </a:solidFill>
                <a:latin typeface="微软雅黑"/>
              </a:rPr>
              <a:t>成本优势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50008"/>
            <a:ext cx="3200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迪拜为中东电价最低地区，电力成本是算力工厂第一成本项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土地与能源政策友好，自由区税收优惠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美元结算，收入与成本币种匹配，无汇兑损耗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69164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691640"/>
            <a:ext cx="109728" cy="411480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5ED3D3"/>
                </a:solidFill>
                <a:latin typeface="微软雅黑"/>
              </a:rPr>
              <a:t>产业格局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3200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底层芯片仍由美国主导（英伟达等），采购与合规是关键变量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中国在应用层表现突出：DeepSeek、豆包等开源模型生态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“美国芯片 + 中国应用 + 中东能源与资本”的三方组合叙事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1691640"/>
            <a:ext cx="365760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9016" y="1691640"/>
            <a:ext cx="109728" cy="41148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6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E0B95C"/>
                </a:solidFill>
                <a:latin typeface="微软雅黑"/>
              </a:rPr>
              <a:t>落地路径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350008"/>
            <a:ext cx="3200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与迪拜开发商/园区合作，考察算力园区与数据中心地块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以专题内容切入：制作“迪拜算力”系列内容持续获客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远期：组织客户参与算力资产投资（份额/基建/REITs形式）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首期沙龙议程（半日闭门场）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建议周六下午 14:00–18:00 · 国际会客厅（拟） · 限 15 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议 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27632"/>
            <a:ext cx="155448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57400" y="1627632"/>
            <a:ext cx="228600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27632"/>
            <a:ext cx="507492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20" y="1627632"/>
            <a:ext cx="237744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655064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13:30–14:00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655064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签到与茶歇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55064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一对一破冰，主办方逐一认识每位来宾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655064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全体工作人员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098548"/>
            <a:ext cx="155448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7400" y="2098548"/>
            <a:ext cx="228600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2098548"/>
            <a:ext cx="507492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0" y="2098548"/>
            <a:ext cx="237744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12598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14:00–14:10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125980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开场致辞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125980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沙龙定位与系列活动介绍，合作单位亮相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125980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主办方 + 中东投资联盟代表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569464"/>
            <a:ext cx="155448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57400" y="2569464"/>
            <a:ext cx="228600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2569464"/>
            <a:ext cx="507492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18320" y="2569464"/>
            <a:ext cx="237744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596896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14:10–14:40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2596896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模块一：美股收益与CRS合规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2596896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美股复盘引入 → CRS机制与追缴案例 → 引出身份命题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596896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主讲人（主办方）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40380"/>
            <a:ext cx="155448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57400" y="3040380"/>
            <a:ext cx="228600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3040380"/>
            <a:ext cx="507492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20" y="3040380"/>
            <a:ext cx="237744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3067812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14:40–15:20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3067812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模块二：迪拜 vs 土耳其身份方案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3067812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两大方案深度对比：门槛、隔离、风险、币种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3067812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主讲人 + 移民合作方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11296"/>
            <a:ext cx="155448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57400" y="3511296"/>
            <a:ext cx="228600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43400" y="3511296"/>
            <a:ext cx="507492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20" y="3511296"/>
            <a:ext cx="237744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" y="3538728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15:20–15:35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3538728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茶歇交流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3538728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工作人员定向撮合：客户 × 嘉宾一对一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538728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全体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3982212"/>
            <a:ext cx="155448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57400" y="3982212"/>
            <a:ext cx="228600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43400" y="3982212"/>
            <a:ext cx="507492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20" y="3982212"/>
            <a:ext cx="237744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94360" y="4009644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15:35–16:05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4009644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特邀分享：全球资产配置视角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4840" y="4009644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宏观与资产配置框架下的中东机会（拟邀 夏春先生）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4009644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夏春先生（拟）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4453128"/>
            <a:ext cx="155448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57400" y="4453128"/>
            <a:ext cx="228600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343400" y="4453128"/>
            <a:ext cx="507492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20" y="4453128"/>
            <a:ext cx="237744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448056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16:05–16:35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4480560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模块三：中东地缘与迪拜算力投资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4840" y="4480560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冲突周期与油价 → 算力工厂逻辑 → 中国模型出海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4480560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主讲人 + 杨浦科技企联代表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924044"/>
            <a:ext cx="155448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57400" y="4924044"/>
            <a:ext cx="228600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43400" y="4924044"/>
            <a:ext cx="507492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20" y="4924044"/>
            <a:ext cx="237744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951476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16:35–17:05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48840" y="4951476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开发商高管圆桌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34840" y="4951476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迪拜开发商外籍高管（如埃及籍负责人）分享，配实时翻译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4951476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开发商高管 + 翻译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394960"/>
            <a:ext cx="155448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57400" y="5394960"/>
            <a:ext cx="228600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343400" y="5394960"/>
            <a:ext cx="507492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418320" y="5394960"/>
            <a:ext cx="2377440" cy="443484"/>
          </a:xfrm>
          <a:prstGeom prst="rect">
            <a:avLst/>
          </a:prstGeom>
          <a:solidFill>
            <a:srgbClr val="3A22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94360" y="5422392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17:05–17:45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48840" y="5422392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自由交流与一对一咨询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34840" y="5422392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按意向分组：身份规划桌 / 算力投资桌 / 房产桌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509760" y="5422392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全体嘉宾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5865876"/>
            <a:ext cx="155448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57400" y="5865876"/>
            <a:ext cx="228600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343400" y="5865876"/>
            <a:ext cx="507492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418320" y="5865876"/>
            <a:ext cx="2377440" cy="443484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94360" y="5893308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0D99E"/>
                </a:solidFill>
                <a:latin typeface="微软雅黑"/>
              </a:rPr>
              <a:t>17:45–18:00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48840" y="5893308"/>
            <a:ext cx="2194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收尾与下期预告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34840" y="5893308"/>
            <a:ext cx="49377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C3B8DA"/>
                </a:solidFill>
                <a:latin typeface="微软雅黑"/>
              </a:rPr>
              <a:t>发放资料包，登记迪拜考察团意向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09760" y="5893308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50" b="0">
                <a:solidFill>
                  <a:srgbClr val="F0D99E"/>
                </a:solidFill>
                <a:latin typeface="微软雅黑"/>
              </a:rPr>
              <a:t>主办方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系列化活动规划（滚动四期）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一场沙龙不做转化闭环，系列活动才做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系 列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11292840" cy="1033271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3840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B95C"/>
                </a:solidFill>
                <a:latin typeface="微软雅黑"/>
              </a:rPr>
              <a:t>第一期 · 出海新坐标：迪拜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10512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身份规划 + CRS合规 + 算力机会总览（本方案）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10512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7B2F0"/>
                </a:solidFill>
                <a:latin typeface="微软雅黑"/>
              </a:rPr>
              <a:t>目标：建立信任池，筛出高意向 5 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89504"/>
            <a:ext cx="11292840" cy="1033271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62656"/>
            <a:ext cx="3840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B95C"/>
                </a:solidFill>
                <a:latin typeface="微软雅黑"/>
              </a:rPr>
              <a:t>第二期 · 全球身份组合配置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62656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土耳其/迪拜/其他方案组合策略；律所税务师联合场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962656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7B2F0"/>
                </a:solidFill>
                <a:latin typeface="微软雅黑"/>
              </a:rPr>
              <a:t>目标：一对一诊断 8 场，锁定 3 组签约意向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92840" cy="1033271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114800"/>
            <a:ext cx="3840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B95C"/>
                </a:solidFill>
                <a:latin typeface="微软雅黑"/>
              </a:rPr>
              <a:t>第三期 · 迪拜算力与新基建专场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114800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算力园区项目路演；杨浦科技企联联合，邀科技企业主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114800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7B2F0"/>
                </a:solidFill>
                <a:latin typeface="微软雅黑"/>
              </a:rPr>
              <a:t>目标：形成考察团名单 10 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93792"/>
            <a:ext cx="11292840" cy="1033271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266944"/>
            <a:ext cx="3840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E0B95C"/>
                </a:solidFill>
                <a:latin typeface="微软雅黑"/>
              </a:rPr>
              <a:t>第四期 · 迪拜实地考察团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266944"/>
            <a:ext cx="4206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看房 + 算力园区 + 开发商高管接待 + 自由区注册咨询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5266944"/>
            <a:ext cx="26517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7B2F0"/>
                </a:solidFill>
                <a:latin typeface="微软雅黑"/>
              </a:rPr>
              <a:t>目标：现场签约 2–3 单，形成案例素材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合作单位与分工（拟联络推进）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五方资源互补：产业+学术+政企+专家+场地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合 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11292840" cy="868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00784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中东投资联盟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00784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E0B95C"/>
                </a:solidFill>
                <a:latin typeface="微软雅黑"/>
              </a:rPr>
              <a:t>联合主办 / 产业资源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700784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提供中东项目资源与开发商对接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联合背书提升沙龙公信力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输送中东投资意向客户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96896"/>
            <a:ext cx="11292840" cy="868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复旦大学住房政策研究中心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5176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E0B95C"/>
                </a:solidFill>
                <a:latin typeface="微软雅黑"/>
              </a:rPr>
              <a:t>学术支持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65176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提供房产市场研究视角与数据背书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拟邀研究员做“全球房产配置”客观分享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提升内容严肃性，弱化销售感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47872"/>
            <a:ext cx="11292840" cy="868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02736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上海市杨浦区科技企业联合会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602736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E0B95C"/>
                </a:solidFill>
                <a:latin typeface="微软雅黑"/>
              </a:rPr>
              <a:t>科技企业客群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3602736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组织科技企业主参与算力专场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对接算力/AI企业出海需求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政企资源与场地备选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98848"/>
            <a:ext cx="11292840" cy="868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53712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夏春先生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553712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E0B95C"/>
                </a:solidFill>
                <a:latin typeface="微软雅黑"/>
              </a:rPr>
              <a:t>特邀经济学家（拟）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553712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全球资产配置与宏观视角主题分享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为“美股+CRS”模块提供专业站台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提升活动规格与传播话题性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9824"/>
            <a:ext cx="11292840" cy="86868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504688"/>
            <a:ext cx="27432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国际会客厅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504688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E0B95C"/>
                </a:solidFill>
                <a:latin typeface="微软雅黑"/>
              </a:rPr>
              <a:t>场地 / 涉外资源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04688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提供高规格涉外活动场地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协助外籍嘉宾接待与实时翻译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· 涉外活动流程合规把关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现场执行与风险合规要点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小沙龙拼的是细节和分寸感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执 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109728" cy="4114800"/>
          </a:xfrm>
          <a:prstGeom prst="rect">
            <a:avLst/>
          </a:prstGeom>
          <a:solidFill>
            <a:srgbClr val="5ED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现场执行细节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50008"/>
            <a:ext cx="5074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外籍嘉宾（迪拜开发商高管）全程配实时翻译，提前对稿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座位按“客户+对应顾问”穿插安排，保证一对一覆盖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PPT开场页用美股/世界杯热点，中东内容后置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资料包：对比表 + CRS自测表 + 迪拜项目册 + 考察团报名表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现场设三张主题桌：身份规划 / 算力投资 / 房产配置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1148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109728" cy="4114800"/>
          </a:xfrm>
          <a:prstGeom prst="rect">
            <a:avLst/>
          </a:prstGeom>
          <a:solidFill>
            <a:srgbClr val="E0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F0D99E"/>
                </a:solidFill>
                <a:latin typeface="微软雅黑"/>
              </a:rPr>
              <a:t>风险与合规提示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50008"/>
            <a:ext cx="50749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敏感话题（美股、移民）借“全球资产配置”“国际教育”外壳包装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不承诺免税/避税，统一口径为“合法税务规划与申报”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土耳其方案风险（汇率、房价虚高）必须如实揭示，建立长期信任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涉外活动报备与宣传物料审核，由国际会客厅协助把关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>
                <a:solidFill>
                  <a:srgbClr val="FFFFFF"/>
                </a:solidFill>
                <a:latin typeface="微软雅黑"/>
              </a:rPr>
              <a:t>• 热点营销卡点：地缘冲突话题仅作背景，避免蹭过期热点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软雅黑"/>
              </a:rPr>
              <a:t>目标 KPI 与下一步行动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3268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D99E"/>
                </a:solidFill>
                <a:latin typeface="微软雅黑"/>
              </a:rPr>
              <a:t>所有动作以“考察团成行、签约落地”为终点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149840" y="347472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4A2E7A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0" y="41148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D99E"/>
                </a:solidFill>
                <a:latin typeface="微软雅黑"/>
              </a:rPr>
              <a:t>行 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11155680" cy="2032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9164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10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到场人数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15人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3B8DA"/>
                </a:solidFill>
                <a:latin typeface="微软雅黑"/>
              </a:rPr>
              <a:t>（客户10 + 渠道5）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69164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1810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一对一面谈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217627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≥ 8 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50545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3B8DA"/>
                </a:solidFill>
                <a:latin typeface="微软雅黑"/>
              </a:rPr>
              <a:t>（会后一周内）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7064" y="169164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7064" y="1810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考察团意向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217627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≥ 5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250545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3B8DA"/>
                </a:solidFill>
                <a:latin typeface="微软雅黑"/>
              </a:rPr>
              <a:t>登记报名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691640"/>
            <a:ext cx="2697480" cy="1371600"/>
          </a:xfrm>
          <a:prstGeom prst="roundRect">
            <a:avLst>
              <a:gd name="adj" fmla="val 6000"/>
            </a:avLst>
          </a:prstGeom>
          <a:solidFill>
            <a:srgbClr val="3E256B"/>
          </a:solidFill>
          <a:ln w="15240">
            <a:solidFill>
              <a:srgbClr val="E0B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10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0D99E"/>
                </a:solidFill>
                <a:latin typeface="微软雅黑"/>
              </a:rPr>
              <a:t>签约转化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17627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2–3 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50545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C3B8DA"/>
                </a:solidFill>
                <a:latin typeface="微软雅黑"/>
              </a:rPr>
              <a:t>（系列期内）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29000"/>
            <a:ext cx="1188720" cy="402336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465576"/>
            <a:ext cx="1188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A144A"/>
                </a:solidFill>
                <a:latin typeface="微软雅黑"/>
              </a:rPr>
              <a:t>T+1周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3429000"/>
            <a:ext cx="10104120" cy="402336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74519" y="3465576"/>
            <a:ext cx="9784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分别联络五家合作单位，确认联合主办意向与分工（详见Excel推进表）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913632"/>
            <a:ext cx="1188720" cy="402336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950208"/>
            <a:ext cx="1188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A144A"/>
                </a:solidFill>
                <a:latin typeface="微软雅黑"/>
              </a:rPr>
              <a:t>T+1周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91640" y="3913632"/>
            <a:ext cx="10104120" cy="402336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74519" y="3950208"/>
            <a:ext cx="9784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筛选上海本地迪拜开发商代表（外籍高管优先），确认圆桌嘉宾与翻译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398264"/>
            <a:ext cx="1188720" cy="402336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434840"/>
            <a:ext cx="1188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A144A"/>
                </a:solidFill>
                <a:latin typeface="微软雅黑"/>
              </a:rPr>
              <a:t>T+2周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398264"/>
            <a:ext cx="10104120" cy="402336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74519" y="4434840"/>
            <a:ext cx="9784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定稿沙龙PPT讲稿（美股+CRS开场版本），完成合规审核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882896"/>
            <a:ext cx="1188720" cy="402336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919472"/>
            <a:ext cx="1188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A144A"/>
                </a:solidFill>
                <a:latin typeface="微软雅黑"/>
              </a:rPr>
              <a:t>T+2周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91640" y="4882896"/>
            <a:ext cx="10104120" cy="402336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4519" y="4919472"/>
            <a:ext cx="9784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确认场地（国际会客厅）、日期与15人邀约名单，发出定向邀请函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367528"/>
            <a:ext cx="1188720" cy="402336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404104"/>
            <a:ext cx="1188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A144A"/>
                </a:solidFill>
                <a:latin typeface="微软雅黑"/>
              </a:rPr>
              <a:t>T+3周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91640" y="5367528"/>
            <a:ext cx="10104120" cy="402336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74519" y="5404104"/>
            <a:ext cx="9784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彩排走场：讲者对稿、翻译演练、一对一撮合分工到人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852160"/>
            <a:ext cx="1188720" cy="402336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888736"/>
            <a:ext cx="1188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2A144A"/>
                </a:solidFill>
                <a:latin typeface="微软雅黑"/>
              </a:rPr>
              <a:t>T+4周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852160"/>
            <a:ext cx="10104120" cy="402336"/>
          </a:xfrm>
          <a:prstGeom prst="rect">
            <a:avLst/>
          </a:prstGeom>
          <a:solidFill>
            <a:srgbClr val="3E2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74519" y="5888736"/>
            <a:ext cx="9784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微软雅黑"/>
              </a:rPr>
              <a:t>第一期沙龙执行 → 会后48小时内完成全部一对一回访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迪拜身份规划与中东投资机会专题沙龙 · 内部策划文件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000" b="0">
                <a:solidFill>
                  <a:srgbClr val="C3B8DA"/>
                </a:solidFill>
                <a:latin typeface="微软雅黑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E0B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软雅黑"/>
              </a:rPr>
              <a:t>出海新坐标 · 迪拜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2000" b="0">
                <a:solidFill>
                  <a:srgbClr val="F0D99E"/>
                </a:solidFill>
                <a:latin typeface="微软雅黑"/>
              </a:rPr>
              <a:t>观众为起点 · 热点为引信 · 利益为落点</a:t>
            </a:r>
          </a:p>
          <a:p>
            <a:pPr algn="ctr">
              <a:lnSpc>
                <a:spcPct val="115000"/>
              </a:lnSpc>
              <a:spcAft>
                <a:spcPts val="1200"/>
              </a:spcAft>
            </a:pPr>
            <a:r>
              <a:rPr sz="1400" b="0">
                <a:solidFill>
                  <a:srgbClr val="C7B2F0"/>
                </a:solidFill>
                <a:latin typeface="微软雅黑"/>
              </a:rPr>
              <a:t>配套执行文件：《迪拜沙龙-执行推进表.xlsx》（三视角策略 / 议程 / 合作单位联络 / 嘉宾筛选 / 待办跟踪）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