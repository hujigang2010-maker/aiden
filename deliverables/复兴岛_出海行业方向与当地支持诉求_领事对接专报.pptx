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148072"/>
            <a:ext cx="4389120" cy="3810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杨浦区 · 复兴岛｜给东亚/东南亚总领事的对接专报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69848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复兴岛出海企业行业方向与当地支持诉求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领事对接专报｜让总领事有的放矢回答与协调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配套主会：上海复兴岛「全球创客岛」阶段性成果发布暨科创出海与具身智能国际峰会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企业出海聚焦哪些行业？落地后最需要当地什么支持？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总领事如何有的放矢回答，甚至协助解决？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年 9 月 12 日（星期六 · 农历八月初二）　｜　分论坛 C / 国际酒会使用　｜　V3.3 · 建议稿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视觉模板与主方案一致 · 可单独呈送外事礼宾组与各总领事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WHY THIS BRIEF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专报用途：让总领事有的放矢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02/12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领事对接专报｜行业方向 × 当地支持｜V3.3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1155680" cy="9144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25880"/>
            <a:ext cx="109728" cy="91440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8191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把杨浦/复兴岛侧重点出海企业的行业方向说清楚，避免「泛泛谈合作」。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77440"/>
            <a:ext cx="11155680" cy="9144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77440"/>
            <a:ext cx="109728" cy="9144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3347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把出海后真正卡脖子的当地支持列成清单，方便总领事当场回应或会后指派。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29000"/>
            <a:ext cx="11155680" cy="9144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29000"/>
            <a:ext cx="109728" cy="9144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8503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按国别匹配优先对接议题，服务分论坛 C「领事×出海企业」圆桌与国际酒会。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80560"/>
            <a:ext cx="11155680" cy="9144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480560"/>
            <a:ext cx="109728" cy="9144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736592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不替代企业商务谈判；外事口径仍以区外办指导为准，本稿供策划与会务准备。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SIX DIRECTIONS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复兴岛侧重点出海 · 六大行业方向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03/12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领事对接专报｜行业方向 × 当地支持｜V3.3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3703320" cy="22860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1234440"/>
            <a:ext cx="3703320" cy="50800"/>
          </a:xfrm>
          <a:prstGeom prst="round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362456"/>
            <a:ext cx="3410712" cy="20299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智算云与数据基础设施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代表企业：优刻得、道客网络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优先市场：新加坡、马来西亚、泰国、印尼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区域云节点 / 算力调度 / 政企上云与出海企业「伴生云」服务…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234440"/>
            <a:ext cx="3703320" cy="22860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234440"/>
            <a:ext cx="3703320" cy="50800"/>
          </a:xfrm>
          <a:prstGeom prst="round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1362456"/>
            <a:ext cx="3410712" cy="20299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大模型与行业智能应用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代表企业：智谱 AI、声网 Agora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优先市场：新加坡、越南、印尼、泰国、马来西亚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行业大模型 API、智能体、实时互动/同传与本地化 SaaS 落地…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34440"/>
            <a:ext cx="3703320" cy="22860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234440"/>
            <a:ext cx="3703320" cy="50800"/>
          </a:xfrm>
          <a:prstGeom prst="roundRect">
            <a:avLst/>
          </a:prstGeom>
          <a:solidFill>
            <a:srgbClr val="1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1362456"/>
            <a:ext cx="3410712" cy="20299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具身智能与智能制造装备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代表企业：苏度、卓益得、傲鲨、清宝引擎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优先市场：日本、韩国、越南、泰国、马来西亚、印尼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工业/康养外骨骼、人形机器人示范产线、培训与售后本地化…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03320"/>
            <a:ext cx="3703320" cy="22860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5760" y="3703320"/>
            <a:ext cx="3703320" cy="50800"/>
          </a:xfrm>
          <a:prstGeom prst="round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3831336"/>
            <a:ext cx="3410712" cy="20299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智能终端与物理 AI 商业场景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代表企业：商米科技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优先市场：东南亚重点市场；日韩渠道协同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智能收银/终端 + AI 店务，服务本地零售餐饮连锁扩张…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03320"/>
            <a:ext cx="3703320" cy="22860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51960" y="3703320"/>
            <a:ext cx="3703320" cy="50800"/>
          </a:xfrm>
          <a:prstGeom prst="round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8264" y="3831336"/>
            <a:ext cx="3410712" cy="20299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低空经济与城市无人系统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代表企业：美团无人机（场景方）及生态伙伴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优先市场：新加坡、日本、韩国、马来西亚、泰国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城市物流试飞、景区/园区低空应用与标准互认探讨…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03320" cy="228600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703320" cy="50800"/>
          </a:xfrm>
          <a:prstGeom prst="roundRect">
            <a:avLst/>
          </a:prstGeom>
          <a:solidFill>
            <a:srgbClr val="1A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4" y="3831336"/>
            <a:ext cx="3410712" cy="2029968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 文旅科技与沉浸体验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代表企业：敦煌文旅科技意向方；声网等实时互动协同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优先市场：泰国、新加坡、日本、韩国、印尼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沉浸展陈、机器人导览、文旅数字化产品区域复制…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INDUSTRY DETAIL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行业详解 01–02：方向 · 支持 · 领事可做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04/12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领事对接专报｜行业方向 × 当地支持｜V3.3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88720"/>
            <a:ext cx="5715000" cy="49377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5715000" cy="5080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25880"/>
            <a:ext cx="5349240" cy="1234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智算云与数据基础设施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企业：优刻得、道客网络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计划：区域云节点 / 算力调度 / 政企上云与出海企业「伴生云」服务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市场：新加坡、马来西亚、泰国、印尼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5349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出海后需要的当地支持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17520"/>
            <a:ext cx="534924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数据本地化与跨境传输合规路径解读（PDPA 等）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机房/电力/土地审批与绿色电力对接窗口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主权云、政务云、电信运营商合作引荐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本地 IDC、系统集成商与法务合规律所清单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83480"/>
            <a:ext cx="5349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总领事可如何帮助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推荐合规顾问与运营商；协调投资促进机构见洽；说明数据中心能耗政策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715000" cy="49377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5715000" cy="508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325880"/>
            <a:ext cx="5349240" cy="1234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大模型与行业智能应用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企业：智谱 AI、声网 Agora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计划：行业大模型 API、智能体、实时互动/同传与本地化 SaaS 落地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市场：新加坡、越南、印尼、泰国、马来西亚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5349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出海后需要的当地支持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17520"/>
            <a:ext cx="534924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AI 内容/伦理监管与行业准入口径说明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本地语言语料、高校/科研院所合作对接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政企、金融、教育等可试点项目清单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云分发、支付、应用商店与渠道伙伴引荐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83480"/>
            <a:ext cx="5349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总领事可如何帮助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介绍数字经济主管部门；牵线行业协会与标杆政企客户；澄清敏感应用边界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INDUSTRY DETAIL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行业详解 03–04：方向 · 支持 · 领事可做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05/12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领事对接专报｜行业方向 × 当地支持｜V3.3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88720"/>
            <a:ext cx="5715000" cy="49377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5715000" cy="5080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25880"/>
            <a:ext cx="5349240" cy="1234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 具身智能与智能制造装备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企业：苏度、卓益得、傲鲨、清宝引擎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计划：工业/康养外骨骼、人形机器人示范产线、培训与售后本地化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市场：日本、韩国、越南、泰国、马来西亚、印尼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5349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出海后需要的当地支持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17520"/>
            <a:ext cx="534924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进出口、安全与电磁等认证路径（含检测机构）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工业园区示范线、仓储物流与康养场景试点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本地代理、系统集成与售后服务伙伴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技能培训、展会采购团与关税优惠政策解读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83480"/>
            <a:ext cx="5349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总领事可如何帮助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对接工业园/BOI 类机构；推荐认证实验室；组织买家与渠道见面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715000" cy="49377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5715000" cy="508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325880"/>
            <a:ext cx="5349240" cy="1234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 智能终端与物理 AI 商业场景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企业：商米科技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计划：智能收银/终端 + AI 店务，服务本地零售餐饮连锁扩张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市场：东南亚重点市场；日韩渠道协同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5349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出海后需要的当地支持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17520"/>
            <a:ext cx="534924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零售/餐饮头部连锁与经销商名录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清关、关税与本地售后仓储便利化建议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本地支付、发票财税合规合作伙伴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品牌保护、知识产权与打假协同渠道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83480"/>
            <a:ext cx="5349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总领事可如何帮助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引荐商协会与连锁总部；说明消费电子进口要点；协调展会摊位资源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INDUSTRY DETAIL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行业详解 05–06：方向 · 支持 · 领事可做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06/12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领事对接专报｜行业方向 × 当地支持｜V3.3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88720"/>
            <a:ext cx="5715000" cy="49377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5715000" cy="5080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325880"/>
            <a:ext cx="5349240" cy="1234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 低空经济与城市无人系统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企业：美团无人机（场景方）及生态伙伴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计划：城市物流试飞、景区/园区低空应用与标准互认探讨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市场：新加坡、日本、韩国、马来西亚、泰国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97480"/>
            <a:ext cx="5349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出海后需要的当地支持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017520"/>
            <a:ext cx="534924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空域法规、试飞许可与保险要求解读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可开放示范航线/园区场景清单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本地运营商、机场/物流枢纽合作接口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应急、公安与城管协同机制说明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83480"/>
            <a:ext cx="5349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总领事可如何帮助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介绍民航/交通主管部门窗口；协助申请观摩或试点对接；提示禁飞红线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715000" cy="49377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5715000" cy="508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325880"/>
            <a:ext cx="5349240" cy="1234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  文旅科技与沉浸体验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企业：敦煌文旅科技意向方；声网等实时互动协同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计划：沉浸展陈、机器人导览、文旅数字化产品区域复制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市场：泰国、新加坡、日本、韩国、印尼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97480"/>
            <a:ext cx="534924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出海后需要的当地支持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017520"/>
            <a:ext cx="534924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文旅主管部门与头部景区/博物馆对接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IP 授权、内容审查与演出展陈合规指引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本地运营 integrators 与场馆空间资源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· 旅游投资促进与联合推广活动机会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83480"/>
            <a:ext cx="534924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总领事可如何帮助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牵线文旅局与标杆场馆；说明内容审查要点；推荐本地运营伙伴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ENTERPRISE MAP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杨浦重点企业 × 出海行业对照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07/12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领事对接专报｜行业方向 × 当地支持｜V3.3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70432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28800"/>
                <a:gridCol w="393192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赛道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对应出海方向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杨浦关联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优刻得 UCloud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智算/云计算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智算云与数据基础设施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杨浦科创板云企；智算中心与大模型底座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智谱 AI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大模型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大模型与行业智能应用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与优刻得共建超千卡推理集群等生态合作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苏度科技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具身智能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具身智能与智能制造装备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杨浦重点具身智能企业；WAIC 相关签约与技术突破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卓益得机器人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人形/具身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具身智能与智能制造装备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上理成果转化；杨数浦/WAIC 杨浦团代表企业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傲鲨智能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外骨骼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具身智能与智能制造装备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杨浦专精特新；大学路/WAIC 杨浦团常客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清宝引擎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仿生人形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具身智能与智能制造装备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杨浦具身智能创新企业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声网 Agora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实时互动 AI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大模型与行业智能应用 / 06 文旅协同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大创智孵化培育代表企业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道客网络 DaoCloud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云原生/算力调度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智算云与数据基础设施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杨数浦 WAIC 参展企业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商米科技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 AI/智能终端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智能终端与物理 AI 商业场景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大学路物理 AI 样板商业落地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美团无人机（场景方）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低空经济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低空经济与城市无人系统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杨浦低空物流试点与杨数浦展示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COUNTRY MATCH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国别 × 优先行业：圆桌分桌依据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08/12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领事对接专报｜行业方向 × 当地支持｜V3.3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600" y="1097280"/>
          <a:ext cx="117043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3474720"/>
                <a:gridCol w="484632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国家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总领事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优先对接行业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会谈切入点</a:t>
                      </a:r>
                    </a:p>
                  </a:txBody>
                  <a:tcPr anchor="ctr">
                    <a:solidFill>
                      <a:srgbClr val="0A6E6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新加坡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陈子勤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智算云、大模型、低空、文旅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总部/合规/金融科技枢纽；优先谈数据合规与区域总部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马来西亚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沙哈菲兹·沙哈里斯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智算云、具身制造、智能终端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数据中心与电子制造；电力土地与 BOI 类激励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泰国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陈佩恩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智算云、具身、智能终端、文旅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智能制造+消费市场；EEC/投资促进与文旅场景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印尼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邯伯盼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智算云、大模型、具身、智能终端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人口与消费市场；本地化运营与渠道为先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越南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陈辉雄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大模型应用、具身制造、智能终端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电子制造与供应链；工厂自动化与培训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菲律宾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方明易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大模型应用、智能终端、文旅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BPO/数字服务与消费场景；渠道与人才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柬埔寨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宁维斯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智能终端、具身轻应用、文旅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产能合作与基建配套；务实项目制对接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老挝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维达万·桥本控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智能终端、文旅、通道物流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中老铁路沿线经贸与人文场景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日本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冈田胜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具身智能、低空、大模型行业应用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高端制造与康养；认证标准与示范产线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韩国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金英俊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具身、智能终端、大模型应用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消费电子与文创；渠道与技术标准协同</a:t>
                      </a:r>
                    </a:p>
                  </a:txBody>
                  <a:tcPr anchor="ctr">
                    <a:solidFill>
                      <a:srgbClr val="1A365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蒙古国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道尔吉德日木·宝勒德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智算轻应用、通道与资源数字化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E6F0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教育人文+跨境通道；量力务实项目</a:t>
                      </a:r>
                    </a:p>
                  </a:txBody>
                  <a:tcPr anchor="ctr">
                    <a:solidFill>
                      <a:srgbClr val="152E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SUPPORT PACKS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当地支持五包：领事可直接认领回应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09/12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领事对接专报｜行业方向 × 当地支持｜V3.3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11247120" cy="804672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2194560" cy="804672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80160"/>
            <a:ext cx="2194560" cy="8046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合规准入包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508760"/>
            <a:ext cx="8503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数据本地化、AI 伦理、产品认证、进出口与关税、内容审查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94560"/>
            <a:ext cx="11247120" cy="804672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194560"/>
            <a:ext cx="2194560" cy="804672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2194560" cy="8046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资源对接包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423160"/>
            <a:ext cx="8503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工业园/BOI、运营商、连锁渠道、景区场馆、高校科研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08960"/>
            <a:ext cx="11247120" cy="804672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2194560" cy="804672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2194560" cy="8046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场景试点包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3337560"/>
            <a:ext cx="8503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政企试点、示范产线、试飞航线、沉浸展陈落地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11247120" cy="804672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2194560" cy="804672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023360"/>
            <a:ext cx="2194560" cy="8046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伙伴撮合包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251960"/>
            <a:ext cx="8503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代理商、集成商、律所、保险、本地运维团队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937760"/>
            <a:ext cx="11247120" cy="804672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937760"/>
            <a:ext cx="2194560" cy="804672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2194560" cy="8046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活动赋能包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5166360"/>
            <a:ext cx="850392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本国展会摊位、采购代表团、联合推介与媒体背书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ROUNDTABLE SCRIPT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分论坛 C / 酒会建议提问（企业×领事共用）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10/12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领事对接专报｜行业方向 × 当地支持｜V3.3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80160"/>
            <a:ext cx="11155680" cy="804672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280160"/>
            <a:ext cx="822960" cy="804672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80160"/>
            <a:ext cx="822960" cy="8046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508760"/>
            <a:ext cx="97840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贵国近 12 个月最欢迎哪类中国科创投资？有无负面清单需提前规避？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194560"/>
            <a:ext cx="11155680" cy="804672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194560"/>
            <a:ext cx="822960" cy="804672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94560"/>
            <a:ext cx="822960" cy="8046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423160"/>
            <a:ext cx="97840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数据中心 / AI 应用 / 机器人进口，分别对应哪个主管窗口与典型周期？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108960"/>
            <a:ext cx="11155680" cy="804672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108960"/>
            <a:ext cx="822960" cy="804672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108960"/>
            <a:ext cx="822960" cy="8046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337560"/>
            <a:ext cx="97840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能否提供 3 家可本周内对接的本地伙伴（运营商/园区/渠道）？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023360"/>
            <a:ext cx="11155680" cy="804672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023360"/>
            <a:ext cx="822960" cy="804672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023360"/>
            <a:ext cx="822960" cy="8046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51960"/>
            <a:ext cx="97840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若企业拟设区域总部或售后中心，有哪些激励与一站式服务？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937760"/>
            <a:ext cx="11155680" cy="804672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937760"/>
            <a:ext cx="822960" cy="804672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937760"/>
            <a:ext cx="822960" cy="80467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66360"/>
            <a:ext cx="978408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希望杨浦/复兴岛侧提供什么反向支持（培训、联合实验室、会客厅常设对接）？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2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56032"/>
            <a:ext cx="76200" cy="50292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"/>
            <a:ext cx="9326880" cy="7772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CLOSED LOOP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会前装订 · 会上分桌 · 会后跟踪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320040"/>
            <a:ext cx="14630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11/12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0467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领事对接专报｜行业方向 × 当地支持｜V3.3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29260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5000"/>
              </a:lnSpc>
              <a:spcAft>
                <a:spcPts val="400"/>
              </a:spcAft>
            </a:pPr>
            <a:r>
              <a:rPr sz="9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建议日期 2026-09-12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645920"/>
            <a:ext cx="10332720" cy="10515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645920"/>
            <a:ext cx="1005840" cy="105156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45920"/>
            <a:ext cx="100584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965960"/>
            <a:ext cx="8778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会前：科企联收集企业「一国一页」诉求表，按国别装订给对应总领事。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926080"/>
            <a:ext cx="10332720" cy="10515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926080"/>
            <a:ext cx="1005840" cy="105156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100584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3246120"/>
            <a:ext cx="8778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会上：分论坛 C 按国别分桌；每桌固定 1 名领事 + 2–3 家对口企业。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206240"/>
            <a:ext cx="10332720" cy="1051560"/>
          </a:xfrm>
          <a:prstGeom prst="roundRect">
            <a:avLst/>
          </a:prstGeom>
          <a:solidFill>
            <a:srgbClr val="152E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206240"/>
            <a:ext cx="1005840" cy="1051560"/>
          </a:xfrm>
          <a:prstGeom prst="rect">
            <a:avLst/>
          </a:prstGeom>
          <a:solidFill>
            <a:srgbClr val="C4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1005840" cy="10515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526280"/>
            <a:ext cx="8778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会后 14 日内：形成《领事承诺/转介事项清单》，由外事组跟踪闭环。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91695" cy="38100"/>
          </a:xfrm>
          <a:prstGeom prst="rect">
            <a:avLst/>
          </a:prstGeom>
          <a:solidFill>
            <a:srgbClr val="0A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复兴岛出海企业行业方向与当地支持诉求</a:t>
            </a:r>
          </a:p>
          <a:p>
            <a:pPr algn="ctr"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48A2A"/>
                </a:solidFill>
                <a:latin typeface="Microsoft YaHei"/>
                <a:ea typeface="Microsoft YaHei"/>
                <a:cs typeface="Microsoft YaHei"/>
              </a:rPr>
              <a:t>行业说清楚 · 支持列明白 · 领事能接住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E6F0EE"/>
                </a:solidFill>
                <a:latin typeface="Microsoft YaHei"/>
                <a:ea typeface="Microsoft YaHei"/>
                <a:cs typeface="Microsoft YaHei"/>
              </a:rPr>
              <a:t>配套主方案：创客复兴·智汇杨浦</a:t>
            </a:r>
          </a:p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1A9B8E"/>
                </a:solidFill>
                <a:latin typeface="Microsoft YaHei"/>
                <a:ea typeface="Microsoft YaHei"/>
                <a:cs typeface="Microsoft YaHei"/>
              </a:rPr>
              <a:t>使用场景：外事邀约附页 · 分论坛 C 桌牌资料 · 总领事会前预读</a:t>
            </a:r>
          </a:p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正式对外口径与出席确认，仍以区外办 / 市外办指导为准</a:t>
            </a:r>
          </a:p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00" b="0">
                <a:solidFill>
                  <a:srgbClr val="9AA7BD"/>
                </a:solidFill>
                <a:latin typeface="Microsoft YaHei"/>
                <a:ea typeface="Microsoft YaHei"/>
                <a:cs typeface="Microsoft YaHei"/>
              </a:rPr>
              <a:t>V3.3 · 建议稿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