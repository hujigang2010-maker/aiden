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138928"/>
            <a:ext cx="4023360" cy="38100"/>
          </a:xfrm>
          <a:prstGeom prst="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640080"/>
            <a:ext cx="310896" cy="310896"/>
          </a:xfrm>
          <a:prstGeom prst="ellipse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61320" y="640080"/>
            <a:ext cx="310896" cy="310896"/>
          </a:xfrm>
          <a:prstGeom prst="ellipse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64240" y="640080"/>
            <a:ext cx="310896" cy="310896"/>
          </a:xfrm>
          <a:prstGeom prst="ellipse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联合主办 ｜ 复旦大学住房政策研究中心 · 杨浦区科技企业联合会  ×  腾讯云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69848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Agent · 算力 · Token —— 人工智能商业化落地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以 5·22「2026 人工智能商业化落地峰会」为蓝图  ｜  1 主论坛 + 多分论坛 + 黑客松 + 创意集市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活动建议时间：2026 年 8—9 月    ｜    建议地点：上海·杨浦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合作策划方案（建议稿）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呈现物：策划方案 PPT + 执行计划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5349240" cy="786384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554480"/>
            <a:ext cx="534924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55648"/>
            <a:ext cx="4946904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合作回顾与标杆案例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8 场活动 · 500+ 引荐 · 5·22 峰会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5349240" cy="786384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534924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755648"/>
            <a:ext cx="4946904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活动目标与双方优势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复旦学术品牌 × 腾讯云技术生态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487168"/>
            <a:ext cx="5349240" cy="786384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2487168"/>
            <a:ext cx="534924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688336"/>
            <a:ext cx="4946904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主题定位与三大核心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Agent · 算力 · Token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487168"/>
            <a:ext cx="5349240" cy="786384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2487168"/>
            <a:ext cx="534924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688336"/>
            <a:ext cx="4946904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 活动整体架构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1 主论坛 + 多分论坛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419856"/>
            <a:ext cx="5349240" cy="786384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419856"/>
            <a:ext cx="534924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621024"/>
            <a:ext cx="4946904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 嘉宾与环节设置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大咖卡位 · 黑客松 · 集市 · 开放麦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419856"/>
            <a:ext cx="5349240" cy="786384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60" y="3419856"/>
            <a:ext cx="534924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621024"/>
            <a:ext cx="4946904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  议程时间表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全天流程一览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352544"/>
            <a:ext cx="5349240" cy="786384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4352544"/>
            <a:ext cx="534924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553712"/>
            <a:ext cx="4946904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  知识产出与闭环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白皮书 · 榜单 · 社群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352544"/>
            <a:ext cx="5349240" cy="786384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4352544"/>
            <a:ext cx="534924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4553712"/>
            <a:ext cx="4946904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08  资源分工与赞助权益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品牌 · 证书 · 展位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285232"/>
            <a:ext cx="5349240" cy="786384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85800" y="5285232"/>
            <a:ext cx="534924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486400"/>
            <a:ext cx="4946904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  传播 · 预算 · 倒排期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影响力与落地保障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285232"/>
            <a:ext cx="5349240" cy="786384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09360" y="5285232"/>
            <a:ext cx="534924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5486400"/>
            <a:ext cx="4946904" cy="42062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 风险预案与下一步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推进建议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REVIEW · 合作回顾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半年八场，沉淀深度信任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2560320" cy="19202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00200"/>
            <a:ext cx="256032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25603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8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21945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连续联合举办的系列活动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（去年 11 月 — 今年 5 月）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600200"/>
            <a:ext cx="2560320" cy="19202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74720" y="1600200"/>
            <a:ext cx="256032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1828800"/>
            <a:ext cx="25603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500+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697480"/>
            <a:ext cx="21945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向腾讯云引荐的行业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专业人士 / 决策者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600200"/>
            <a:ext cx="2560320" cy="19202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1600200"/>
            <a:ext cx="256032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828800"/>
            <a:ext cx="25603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97480"/>
            <a:ext cx="21945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共同推动 5·22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人工智能商业化落地峰会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600200"/>
            <a:ext cx="2560320" cy="19202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1600200"/>
            <a:ext cx="256032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828800"/>
            <a:ext cx="25603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100%</a:t>
            </a: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 免费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97480"/>
            <a:ext cx="219456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为腾讯云提供品牌展示、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证书与展位支持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794760"/>
            <a:ext cx="10835640" cy="224028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3794760"/>
            <a:ext cx="1083564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3995928"/>
            <a:ext cx="10433304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合作机制已跑通：可复制、可放大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资源互补：复旦提供学术公信力、政产学研人脉与场地组织能力；腾讯云提供技术、产品与生态资源。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信任沉淀：8 场活动建立了稳定的双边协作流程与默契，沟通成本低、交付确定性高。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价值验证：5·22 峰会双方收益显著，腾讯云主动提出 8—9 月再度合办——本方案即为承接。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本次升级：在峰会成功模式上做「内容更深、互动更强、产出更实」的 2.0 版本。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BENCHMARK · 标杆案例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5·22「2026 人工智能商业化落地峰会」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5349240" cy="21031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554480"/>
            <a:ext cx="53492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55648"/>
            <a:ext cx="4946904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峰会概况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时间：2026 年 5 月 22 日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主办：腾讯云 × 复旦大学住房政策研究中心 联合举办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定位：聚焦人工智能商业化落地的年度行业盛会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公开可查：相关信息已在网络公开传播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349240" cy="21031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554480"/>
            <a:ext cx="534924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755648"/>
            <a:ext cx="4946904" cy="17373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我方为腾讯云提供的支持（免费）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品牌展示：主视觉、主舞台与传播物料中的品牌曝光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权威证书：联合颁发的合作 / 荣誉证书背书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展位支持：现场展位与展示空间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组织保障：嘉宾邀约、现场组织与传播协同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40480"/>
            <a:ext cx="10835640" cy="21945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1083564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041648"/>
            <a:ext cx="10433304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为何要做 2.0 升级版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从「单一峰会」升级为「主论坛 + 多分论坛」矩阵，覆盖更多细分人群与议题。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从「听会」升级为「参与」：新增黑客松、创意集市、集章集票、开放麦等强互动环节。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从「一次曝光」升级为「持续闭环」：沉淀白皮书 / 榜单 / 社群，形成可延续的知识资产。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GOALS · 目标与优势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充分发挥复旦 × 腾讯云双重优势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5349240" cy="19659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554480"/>
            <a:ext cx="53492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55648"/>
            <a:ext cx="4946904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复旦大学住房政策研究中心 · 杨浦科技企业联合会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学术公信力与权威背书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政产学研人脉与高质量人群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会议组织与本地资源整合能力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区域产业（杨浦）落地承接力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349240" cy="19659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554480"/>
            <a:ext cx="534924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755648"/>
            <a:ext cx="4946904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腾讯云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大模型 / Agent / 算力技术与产品矩阵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丰富的开发者与企业客户生态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品牌影响力与传播资源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云资源、API、Token 等可投入的硬通货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10835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四大活动目标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60520"/>
            <a:ext cx="2560320" cy="155448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160520"/>
            <a:ext cx="25603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361688"/>
            <a:ext cx="2157984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品牌共建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强化双方在 AI 领域的联合行业心智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4160520"/>
            <a:ext cx="2560320" cy="155448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0" y="4160520"/>
            <a:ext cx="25603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0168" y="4361688"/>
            <a:ext cx="2157984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商业落地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促成技术与场景、供给与需求的真实对接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160520"/>
            <a:ext cx="2560320" cy="155448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72200" y="4160520"/>
            <a:ext cx="25603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361688"/>
            <a:ext cx="2157984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人才生态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以黑客松汇聚开发者与创新团队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4160520"/>
            <a:ext cx="2560320" cy="155448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15400" y="4160520"/>
            <a:ext cx="25603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6568" y="4361688"/>
            <a:ext cx="2157984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知识闭环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沉淀白皮书 / 榜单 / 案例，持续运营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POSITIONING · 主题定位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聚焦 Agent · 算力 ·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1083564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主题（建议）：</a:t>
            </a:r>
            <a:r>
              <a:rPr sz="22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「智能体涌现 · 商业落地」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Slogan：让 Agent 真正干活，让算力与 Token 用在刀刃上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14600"/>
            <a:ext cx="3474720" cy="30175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514600"/>
            <a:ext cx="347472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715768"/>
            <a:ext cx="3072384" cy="2651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智能体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从 Demo 到生产级落地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多智能体协作与编排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企业场景 ROI 与案例</a:t>
            </a:r>
          </a:p>
        </p:txBody>
      </p:sp>
      <p:sp>
        <p:nvSpPr>
          <p:cNvPr id="14" name="Oval 13"/>
          <p:cNvSpPr/>
          <p:nvPr/>
        </p:nvSpPr>
        <p:spPr>
          <a:xfrm>
            <a:off x="2057400" y="2697480"/>
            <a:ext cx="731520" cy="731520"/>
          </a:xfrm>
          <a:prstGeom prst="ellipse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2697480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514600"/>
            <a:ext cx="3474720" cy="30175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2514600"/>
            <a:ext cx="34747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2715768"/>
            <a:ext cx="3072384" cy="2651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算力 Compute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训练 / 推理算力优化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成本、调度与弹性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国产化与异构算力</a:t>
            </a:r>
          </a:p>
        </p:txBody>
      </p:sp>
      <p:sp>
        <p:nvSpPr>
          <p:cNvPr id="19" name="Oval 18"/>
          <p:cNvSpPr/>
          <p:nvPr/>
        </p:nvSpPr>
        <p:spPr>
          <a:xfrm>
            <a:off x="5760720" y="2697480"/>
            <a:ext cx="731520" cy="731520"/>
          </a:xfrm>
          <a:prstGeom prst="ellipse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0" y="2697480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514600"/>
            <a:ext cx="3474720" cy="30175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2440" y="2514600"/>
            <a:ext cx="347472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2715768"/>
            <a:ext cx="3072384" cy="2651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Token 经济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大模型成本结构与定价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Token 消耗优化策略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商业模式与计量计费</a:t>
            </a:r>
          </a:p>
        </p:txBody>
      </p:sp>
      <p:sp>
        <p:nvSpPr>
          <p:cNvPr id="24" name="Oval 23"/>
          <p:cNvSpPr/>
          <p:nvPr/>
        </p:nvSpPr>
        <p:spPr>
          <a:xfrm>
            <a:off x="9464040" y="2697480"/>
            <a:ext cx="731520" cy="731520"/>
          </a:xfrm>
          <a:prstGeom prst="ellipse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697480"/>
            <a:ext cx="73152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ARCHITECTURE · 活动架构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个主论坛 + 多个分论坛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463040"/>
            <a:ext cx="5943600" cy="86868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463040"/>
            <a:ext cx="5943600" cy="8686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主论坛 ｜ 顶级大咖卡位分享 · 趋势发布 · 重磅签约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331720"/>
            <a:ext cx="38100" cy="320040"/>
          </a:xfrm>
          <a:prstGeom prst="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697480"/>
            <a:ext cx="2560320" cy="114300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697480"/>
            <a:ext cx="256032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256032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分论坛 A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落地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697480"/>
            <a:ext cx="2560320" cy="114300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74720" y="2697480"/>
            <a:ext cx="25603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697480"/>
            <a:ext cx="256032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分论坛 B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算力基础设施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97480"/>
            <a:ext cx="2560320" cy="114300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697480"/>
            <a:ext cx="256032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697480"/>
            <a:ext cx="256032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分论坛 C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Token 与大模型应用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2697480"/>
            <a:ext cx="2560320" cy="114300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2697480"/>
            <a:ext cx="256032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697480"/>
            <a:ext cx="256032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黑客松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Hackathon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160520"/>
            <a:ext cx="10835640" cy="1554480"/>
          </a:xfrm>
          <a:prstGeom prst="round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160520"/>
            <a:ext cx="1083564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97680"/>
            <a:ext cx="104241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2A44"/>
                </a:solidFill>
                <a:latin typeface="Microsoft YaHei"/>
                <a:ea typeface="Microsoft YaHei"/>
                <a:cs typeface="Microsoft YaHei"/>
              </a:rPr>
              <a:t>贯穿全场的体验层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983480"/>
            <a:ext cx="1965960" cy="384048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196596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展览区 / 企业展位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35808" y="4983480"/>
            <a:ext cx="1965960" cy="384048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35808" y="4983480"/>
            <a:ext cx="196596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创意集市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57216" y="4983480"/>
            <a:ext cx="1965960" cy="384048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57216" y="4983480"/>
            <a:ext cx="196596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集票 · 集章打卡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78624" y="4983480"/>
            <a:ext cx="1965960" cy="384048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8624" y="4983480"/>
            <a:ext cx="196596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临时开放麦 Open Mic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00032" y="4983480"/>
            <a:ext cx="1965960" cy="384048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4983480"/>
            <a:ext cx="196596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茶歇 · 自由社交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897880"/>
            <a:ext cx="10835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设计原则：主论坛立势、分论坛深耕、黑客松聚才、体验层引爆现场，四层联动形成知识产出闭环。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MAIN FORUM · 主论坛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顶级大咖卡位分享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5349240" cy="228600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554480"/>
            <a:ext cx="53492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55648"/>
            <a:ext cx="4946904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嘉宾阵容（卡位邀请方向）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复旦大学教授 / 院士级学者：AI 与产业趋势主旨演讲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腾讯云技术高管：大模型 / Agent / 算力战略发布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头部企业 CTO / CEO：商业化落地实战案例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知名投资人：AI 赛道资本视角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政府 / 园区领导：政策与产业环境致辞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349240" cy="228600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554480"/>
            <a:ext cx="534924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755648"/>
            <a:ext cx="4946904" cy="1920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主论坛环节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开场致辞（主办双方 + 政府）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主旨演讲 ×2（学术 + 产业）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腾讯云重磅趋势 / 产品发布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高峰对话：Agent 商业化圆桌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战略签约 / 联合倡议 / 颁证仪式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23360"/>
            <a:ext cx="10835640" cy="16916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4023360"/>
            <a:ext cx="1083564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224528"/>
            <a:ext cx="10433304" cy="13258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「卡位分享」机制说明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卡位 = 为重点嘉宾 / 赞助方预留主舞台黄金时段与议题位置，形成强曝光与强背书。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每位卡位嘉宾配套：主视觉露出 + 演讲 15—20 分钟 + 官方证书 + 传播通稿 + 集锦视频。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腾讯云作为联合主办享有主论坛核心卡位与发布窗口；复旦提供学术卡位与权威背书。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SUB-FORUMS · 分论坛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三大平行分论坛，深耕细分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3474720" cy="274320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00200"/>
            <a:ext cx="347472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801368"/>
            <a:ext cx="3072384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分论坛 A · Agent 落地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主题：从 PoC 到生产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形式：4 场演讲 + 1 圆桌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人群：企业技术 / 产品负责人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产出：Agent 落地案例集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474720" cy="274320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600200"/>
            <a:ext cx="34747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801368"/>
            <a:ext cx="3072384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分论坛 B · 算力基础设施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主题：算力降本增效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形式：4 场演讲 + Demo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人群：架构师 / 运维 / CTO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产出：算力优化实践指南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474720" cy="274320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600200"/>
            <a:ext cx="347472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801368"/>
            <a:ext cx="3072384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分论坛 C · Token 与应用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主题：Token 经济与定价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形式：4 场演讲 + 路演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人群：创业者 / 投资人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产出：商业模式白皮书章节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26280"/>
            <a:ext cx="10835640" cy="11887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526280"/>
            <a:ext cx="108356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727448"/>
            <a:ext cx="1043330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排期建议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上午主论坛聚势；下午三个分论坛平行进行，参会者按兴趣自由选择，黑客松全天并行。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每个分论坛配独立主持、速记与现场金句采集，便于会后内容沉淀与二次传播。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HACKATHON · 黑客松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实战黑客松挑战赛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5349240" cy="21945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554480"/>
            <a:ext cx="53492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55648"/>
            <a:ext cx="4946904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赛制设计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赛题：基于腾讯云能力构建可落地 Agent 应用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赛道：效率办公 / 行业垂类 / 创意应用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形式：赛前招募 → 现场 8—12h 冲刺 → 路演评审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规模：建议 20—30 支队伍 / 80—120 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54480"/>
            <a:ext cx="5349240" cy="21945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554480"/>
            <a:ext cx="534924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755648"/>
            <a:ext cx="4946904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资源与激励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腾讯云提供：算力 / API / Token 额度 + 技术导师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复旦提供：场地、评委、学术指导、媒体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奖项：冠亚季军 + 最佳创意 / 最佳商业潜力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奖励：奖金 + 云资源代金券 + 孵化对接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1083564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评审维度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434840"/>
            <a:ext cx="2011680" cy="384048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3484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创新性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52928" y="4434840"/>
            <a:ext cx="2011680" cy="384048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2928" y="443484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技术完成度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0056" y="4434840"/>
            <a:ext cx="2011680" cy="384048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0056" y="443484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商业可行性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87184" y="4434840"/>
            <a:ext cx="2011680" cy="384048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4" y="443484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落地价值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54312" y="4434840"/>
            <a:ext cx="2011680" cy="384048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2" y="4434840"/>
            <a:ext cx="2011680" cy="38404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现场路演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74920"/>
            <a:ext cx="10835640" cy="86868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5074920"/>
            <a:ext cx="1083564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276088"/>
            <a:ext cx="10433304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以赛聚才：汇聚开发者生态，沉淀腾讯云技术心智，优秀作品可纳入会后案例与孵化对接。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EXPERIENCE · 互动体验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展览 · 集市 · 集章 · 开放麦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5349240" cy="19659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554480"/>
            <a:ext cx="534924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55648"/>
            <a:ext cx="4946904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展览区 &amp; 企业展位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腾讯云能力展示区 + 合作企业展位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标准 / 精品展位分级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Demo 体验 + 现场答疑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349240" cy="19659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554480"/>
            <a:ext cx="534924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755648"/>
            <a:ext cx="4946904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创意集市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AI 文创 / 周边 / 开发者好物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初创团队产品试用摊位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轻松氛围促进自由交流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03320"/>
            <a:ext cx="5349240" cy="19659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703320"/>
            <a:ext cx="534924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904488"/>
            <a:ext cx="4946904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集票 · 集章打卡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参会护照 + 打卡地图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逛展 / 听会 / 互动盖章集票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集满兑换礼品 / 抽奖资格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03320"/>
            <a:ext cx="5349240" cy="19659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904488"/>
            <a:ext cx="4946904" cy="1600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临时开放麦 Open Mic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随时上台 3—5 分钟即兴分享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项目自荐 / 观点碰撞 / 招募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促进即兴交流与连接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AGENDA · 议程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全天议程时间表（建议）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508760"/>
            <a:ext cx="10835640" cy="4572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08760"/>
            <a:ext cx="2194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508760"/>
            <a:ext cx="67665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508760"/>
            <a:ext cx="1874519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板块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65960"/>
            <a:ext cx="10835640" cy="411480"/>
          </a:xfrm>
          <a:prstGeom prst="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65960"/>
            <a:ext cx="21031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09:00–09:30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965960"/>
            <a:ext cx="65836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签到 · 参会护照领取 · 展区开放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96596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全体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377440"/>
            <a:ext cx="10835640" cy="41148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377440"/>
            <a:ext cx="21031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09:30–10:00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377440"/>
            <a:ext cx="65836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开场致辞（主办双方 + 政府 / 园区）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37744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主论坛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788920"/>
            <a:ext cx="10835640" cy="411480"/>
          </a:xfrm>
          <a:prstGeom prst="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788920"/>
            <a:ext cx="21031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10:00–11:10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788920"/>
            <a:ext cx="65836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主旨演讲：学术趋势 + 腾讯云战略发布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78892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主论坛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200400"/>
            <a:ext cx="10835640" cy="41148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200400"/>
            <a:ext cx="21031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11:10–12:00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200400"/>
            <a:ext cx="65836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高峰对话 + 战略签约 / 颁证仪式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20040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主论坛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611880"/>
            <a:ext cx="10835640" cy="411480"/>
          </a:xfrm>
          <a:prstGeom prst="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611880"/>
            <a:ext cx="21031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12:00–13:30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611880"/>
            <a:ext cx="65836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午餐 · 创意集市 · 展位巡览 · 集章打卡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61188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体验层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023360"/>
            <a:ext cx="10835640" cy="41148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023360"/>
            <a:ext cx="21031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13:30–17:00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023360"/>
            <a:ext cx="65836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分论坛 A/B/C 平行进行（演讲 + 圆桌 + 路演）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02336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分论坛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434840"/>
            <a:ext cx="10835640" cy="411480"/>
          </a:xfrm>
          <a:prstGeom prst="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434840"/>
            <a:ext cx="21031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10:00–18:00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434840"/>
            <a:ext cx="65836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黑客松：现场冲刺（全天并行）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443484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黑客松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4846320"/>
            <a:ext cx="10835640" cy="41148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4846320"/>
            <a:ext cx="21031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16:00–17:30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4846320"/>
            <a:ext cx="65836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临时开放麦 Open Mic（体验区舞台）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484632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体验层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5257800"/>
            <a:ext cx="10835640" cy="411480"/>
          </a:xfrm>
          <a:prstGeom prst="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257800"/>
            <a:ext cx="21031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17:30–18:30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5257800"/>
            <a:ext cx="65836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黑客松路演 + 颁奖 + 集票抽奖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525780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5669280"/>
            <a:ext cx="10835640" cy="41148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669280"/>
            <a:ext cx="210312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18:30–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5669280"/>
            <a:ext cx="65836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自由交流 · 合影 · 散场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5669280"/>
            <a:ext cx="173736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全体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OUTPUT · 知识产出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形成有效知识产出与闭环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3200400" cy="23774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45920"/>
            <a:ext cx="320040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847088"/>
            <a:ext cx="2798064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会前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议题征集 / 嘉宾招募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黑客松赛队招募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预热传播 + 报名沉淀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377440"/>
            <a:ext cx="4572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645920"/>
            <a:ext cx="3200400" cy="23774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645920"/>
            <a:ext cx="320040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847088"/>
            <a:ext cx="2798064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会中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主 / 分论坛内容生产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现场金句 / Demo 采集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黑客松作品产出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377440"/>
            <a:ext cx="4572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45920"/>
            <a:ext cx="3200400" cy="23774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2440" y="1645920"/>
            <a:ext cx="320040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1847088"/>
            <a:ext cx="2798064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会后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联合白皮书 / 案例集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AI 落地榜单发布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3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社群运营 + 商机跟进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251960"/>
            <a:ext cx="10835640" cy="155448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251960"/>
            <a:ext cx="108356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453128"/>
            <a:ext cx="10433304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可沉淀的知识资产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《复旦 × 腾讯云 AI 商业化落地白皮书 2026（秋）》——双方联合署名，权威背书。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「AI 落地优秀案例 / 黑客松作品」榜单与案例库，可持续运营与二次传播。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高质量参会者社群与商机池，为下一场活动与长期合作蓄水。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ROLES · 资源分工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双方资源投入与分工建议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508760"/>
            <a:ext cx="10835640" cy="4572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08760"/>
            <a:ext cx="274320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板块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508760"/>
            <a:ext cx="406908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复旦中心 / 联合会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39" y="1508760"/>
            <a:ext cx="402336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腾讯云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65960"/>
            <a:ext cx="10835640" cy="566928"/>
          </a:xfrm>
          <a:prstGeom prst="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65960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主办背书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965960"/>
            <a:ext cx="39319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学术品牌 / 权威证书 / 政府对接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965960"/>
            <a:ext cx="3886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技术品牌 / 生态资源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532888"/>
            <a:ext cx="10835640" cy="5669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532888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嘉宾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32888"/>
            <a:ext cx="39319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学者 / 政产学研人脉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532888"/>
            <a:ext cx="3886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技术高管 / 客户案例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099816"/>
            <a:ext cx="10835640" cy="566928"/>
          </a:xfrm>
          <a:prstGeom prst="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099816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场地组织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099816"/>
            <a:ext cx="39319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场地 / 现场执行 / 志愿者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099816"/>
            <a:ext cx="3886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技术布展 / Demo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666744"/>
            <a:ext cx="10835640" cy="5669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666744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黑客松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666744"/>
            <a:ext cx="39319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评委 / 学术指导 / 场地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3666744"/>
            <a:ext cx="3886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算力 / API / Token / 导师 / 奖励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233672"/>
            <a:ext cx="10835640" cy="566928"/>
          </a:xfrm>
          <a:prstGeom prst="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33672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传播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233672"/>
            <a:ext cx="39319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校友 / 本地媒体 / 社群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4233672"/>
            <a:ext cx="3886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官方渠道 / 开发者社区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800600"/>
            <a:ext cx="10835640" cy="5669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800600"/>
            <a:ext cx="25603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800600"/>
            <a:ext cx="393192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白皮书学术编纂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800600"/>
            <a:ext cx="3886200" cy="56692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技术内容 / 案例供给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SPONSORSHIP · 赞助权益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招商与赞助权益（延续 5·22 模式）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3474720" cy="338328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554480"/>
            <a:ext cx="347472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55648"/>
            <a:ext cx="3072384" cy="3017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联合主办 / 首席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主论坛核心卡位 + 发布窗口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主视觉首位品牌露出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联合颁发权威证书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精品展位 + 创意集市位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黑客松冠名权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白皮书联合署名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474720" cy="338328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554480"/>
            <a:ext cx="347472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755648"/>
            <a:ext cx="3072384" cy="3017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钻石赞助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分论坛冠名 + 演讲席位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主视觉品牌露出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荣誉证书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标准展位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黑客松导师席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传播通稿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54480"/>
            <a:ext cx="3474720" cy="338328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554480"/>
            <a:ext cx="34747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755648"/>
            <a:ext cx="3072384" cy="3017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生态合作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展位 / 集市摊位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Logo 露出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参会证书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开放麦优先席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社群推荐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20640"/>
            <a:ext cx="10835640" cy="86868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5120640"/>
            <a:ext cx="1083564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5321808"/>
            <a:ext cx="10433304" cy="502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延续 5·22 为腾讯云提供品牌展示 / 证书 / 展位的成功做法；本次以分级权益吸引更多生态伙伴共建，分摊成本、放大声量。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PROMOTION · 传播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全周期传播与影响力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3474720" cy="26517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45920"/>
            <a:ext cx="34747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847088"/>
            <a:ext cx="3072384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预热期（T-30→T-7）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双方官方渠道联合预告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嘉宾 / 议题海报矩阵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报名 H5 + 黑客松招募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校友 / 社群 / 媒体扩散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45920"/>
            <a:ext cx="3474720" cy="26517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645920"/>
            <a:ext cx="347472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847088"/>
            <a:ext cx="3072384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爆发期（活动当天）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现场直播 + 图文快讯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金句卡片实时产出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KOL / 媒体现场报道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话题与短视频传播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45920"/>
            <a:ext cx="3474720" cy="26517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645920"/>
            <a:ext cx="347472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847088"/>
            <a:ext cx="3072384" cy="2286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长尾期（T+1→T+30）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白皮书 / 榜单发布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演讲实录 + 集锦视频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案例稿 + 复盘报道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社群持续运营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26280"/>
            <a:ext cx="10835640" cy="11887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526280"/>
            <a:ext cx="108356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727448"/>
            <a:ext cx="1043330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传播目标（建议 KPI）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到场 ≥ 500 人；线上观看 ≥ 50,000 人次；媒体 / 自媒体报道 ≥ 30 篇；黑客松报名 ≥ 25 队；沉淀名单 ≥ 1,000。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BUDGET · 预算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预算概览（建议区间，单位：万元）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5349240" cy="585216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356616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场地 &amp; 搭建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554480"/>
            <a:ext cx="155448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8 – 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5349240" cy="585216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356616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舞台 / 视觉 / 设备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1554480"/>
            <a:ext cx="155448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6 – 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267712"/>
            <a:ext cx="5349240" cy="585216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267712"/>
            <a:ext cx="356616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嘉宾差旅接待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267712"/>
            <a:ext cx="155448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4 –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267712"/>
            <a:ext cx="5349240" cy="585216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267712"/>
            <a:ext cx="356616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黑客松（奖金 / 算力 / 运营）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267712"/>
            <a:ext cx="155448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6 – 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2980944"/>
            <a:ext cx="5349240" cy="585216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2980944"/>
            <a:ext cx="356616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餐饮 &amp; 茶歇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980944"/>
            <a:ext cx="155448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5 – 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980944"/>
            <a:ext cx="5349240" cy="585216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980944"/>
            <a:ext cx="356616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传播 &amp; 物料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980944"/>
            <a:ext cx="155448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5 – 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694176"/>
            <a:ext cx="5349240" cy="585216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694176"/>
            <a:ext cx="356616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互动体验 / 礼品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694176"/>
            <a:ext cx="155448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3 – 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694176"/>
            <a:ext cx="5349240" cy="585216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694176"/>
            <a:ext cx="356616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执行 &amp; 不可预见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694176"/>
            <a:ext cx="1554480" cy="58521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4 –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212080"/>
            <a:ext cx="10835640" cy="77724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212080"/>
            <a:ext cx="68580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预算总区间（参考）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212080"/>
            <a:ext cx="352044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 41 – 81 万元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080760"/>
            <a:ext cx="10835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注：可通过赞助权益分级、生态共建与资源置换（如腾讯云算力 / Token）显著降低净支出。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TIMELINE · 倒排期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筹备里程碑（倒排）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3474720" cy="11887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554480"/>
            <a:ext cx="34747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755648"/>
            <a:ext cx="30723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T-8 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立项 · 双方确认主题 / 规模 / 预算 / 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474720" cy="11887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554480"/>
            <a:ext cx="347472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755648"/>
            <a:ext cx="30723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T-7 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确定时间地点 · 启动招商 · 嘉宾初邀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54480"/>
            <a:ext cx="3474720" cy="11887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554480"/>
            <a:ext cx="347472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755648"/>
            <a:ext cx="30723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T-6 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主视觉与议程框架 · 黑客松赛题与招募启动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26080"/>
            <a:ext cx="3474720" cy="11887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2926080"/>
            <a:ext cx="347472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127248"/>
            <a:ext cx="30723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T-4 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嘉宾确认 · 赞助签约 · 传播预热上线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926080"/>
            <a:ext cx="3474720" cy="11887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2926080"/>
            <a:ext cx="34747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127248"/>
            <a:ext cx="30723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T-3 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议程定稿 · 报名开放 · 物料制作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926080"/>
            <a:ext cx="3474720" cy="11887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2926080"/>
            <a:ext cx="3474720" cy="63500"/>
          </a:xfrm>
          <a:prstGeom prst="round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3127248"/>
            <a:ext cx="30723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T-2 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黑客松选手确认 · 现场动线与彩排方案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297680"/>
            <a:ext cx="3474720" cy="11887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4297680"/>
            <a:ext cx="347472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498848"/>
            <a:ext cx="30723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T-1 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全流程彩排 · 物料到位 · 应急预案确认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297680"/>
            <a:ext cx="3474720" cy="11887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9120" y="4297680"/>
            <a:ext cx="347472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4498848"/>
            <a:ext cx="30723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T-0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活动执行 · 现场指挥 · 直播传播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4297680"/>
            <a:ext cx="3474720" cy="118872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92440" y="4297680"/>
            <a:ext cx="34747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8" y="4498848"/>
            <a:ext cx="30723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T+2 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5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内容沉淀 · 白皮书 / 榜单 · 复盘与商机跟进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RISK · 风险预案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风险识别与应对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0200"/>
            <a:ext cx="5349240" cy="12344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00200"/>
            <a:ext cx="53492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801368"/>
            <a:ext cx="4946904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嘉宾变动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核心嘉宾设 A/B 备选，提前确认行程与备稿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00200"/>
            <a:ext cx="5349240" cy="12344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53492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801368"/>
            <a:ext cx="4946904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到场不足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精准定向邀约 + 报名审核 + 预约提醒机制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17520"/>
            <a:ext cx="5349240" cy="12344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017520"/>
            <a:ext cx="53492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218688"/>
            <a:ext cx="4946904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黑客松参与度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提前招募 + 算力激励 + 导师陪跑 + 孵化对接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17520"/>
            <a:ext cx="5349240" cy="12344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017520"/>
            <a:ext cx="53492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218688"/>
            <a:ext cx="4946904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现场动线 / 安全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分区动线设计 + 安保 / 医疗 + 应急通道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34840"/>
            <a:ext cx="5349240" cy="12344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434840"/>
            <a:ext cx="53492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636008"/>
            <a:ext cx="4946904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天气 / 不可抗力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室内主场 + 备用时间窗 + 线上同步直播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434840"/>
            <a:ext cx="5349240" cy="123444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4434840"/>
            <a:ext cx="5349240" cy="63500"/>
          </a:xfrm>
          <a:prstGeom prst="roundRect">
            <a:avLst/>
          </a:prstGeom>
          <a:solidFill>
            <a:srgbClr val="C0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4636008"/>
            <a:ext cx="4946904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预算超支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分级赞助 + 资源置换 + 预留不可预见费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8100"/>
          </a:xfrm>
          <a:prstGeom prst="rect">
            <a:avLst/>
          </a:prstGeom>
          <a:solidFill>
            <a:srgbClr val="006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310896"/>
            <a:ext cx="76200" cy="566928"/>
          </a:xfrm>
          <a:prstGeom prst="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"/>
            <a:ext cx="96012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NEXT · 下一步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推进建议与下一步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5B50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复旦大学住房政策研究中心 · 杨浦区科技企业联合会  ×  腾讯云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2026 秋季 AI 主题大会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2560320" cy="17373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45920"/>
            <a:ext cx="25603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847088"/>
            <a:ext cx="2157984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· 共识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确认主题、时间（8—9 月）、规模与预算框架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560320" cy="17373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1645920"/>
            <a:ext cx="25603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1847088"/>
            <a:ext cx="2157984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· 立项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成立联合筹备组，明确双方对接人与职责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645920"/>
            <a:ext cx="2560320" cy="17373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645920"/>
            <a:ext cx="25603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847088"/>
            <a:ext cx="2157984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· 启动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锁定场地与日期，启动嘉宾邀约与招商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645920"/>
            <a:ext cx="2560320" cy="173736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15400" y="1645920"/>
            <a:ext cx="2560320" cy="63500"/>
          </a:xfrm>
          <a:prstGeom prst="roundRect">
            <a:avLst/>
          </a:prstGeom>
          <a:solidFill>
            <a:srgbClr val="22C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1847088"/>
            <a:ext cx="2157984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· 落地</a:t>
            </a:r>
          </a:p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2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· 按倒排期推进，定期联合例会对齐进度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49039"/>
            <a:ext cx="10835640" cy="2011680"/>
          </a:xfrm>
          <a:prstGeom prst="roundRect">
            <a:avLst/>
          </a:prstGeom>
          <a:solidFill>
            <a:srgbClr val="1631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749039"/>
            <a:ext cx="10835640" cy="63500"/>
          </a:xfrm>
          <a:prstGeom prst="roundRect">
            <a:avLst/>
          </a:prstGeom>
          <a:solidFill>
            <a:srgbClr val="F5B5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069080"/>
            <a:ext cx="1024128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期待与腾讯云再度携手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在 8—9 月共同打造一场「内容更深、互动更强、产出更实」的 AI 主题大会，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E8EEF7"/>
                </a:solidFill>
                <a:latin typeface="Microsoft YaHei"/>
                <a:ea typeface="Microsoft YaHei"/>
                <a:cs typeface="Microsoft YaHei"/>
              </a:rPr>
              <a:t>延续 5·22 峰会的成功，把复旦 × 腾讯云的联合品牌做成行业标杆。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86400"/>
            <a:ext cx="10241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2C1E6"/>
                </a:solidFill>
                <a:latin typeface="Microsoft YaHei"/>
                <a:ea typeface="Microsoft YaHei"/>
                <a:cs typeface="Microsoft YaHei"/>
              </a:rPr>
              <a:t>配套呈现：本策划方案 PPT + 执行计划 Excel（议程 / 嘉宾 / 黑客松 / 预算 / 倒排期 / 物料 / KPI）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