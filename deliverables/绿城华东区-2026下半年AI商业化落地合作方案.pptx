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4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006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97280" cy="73152"/>
          </a:xfrm>
          <a:prstGeom prst="rect">
            <a:avLst/>
          </a:prstGeom>
          <a:solidFill>
            <a:srgbClr val="C8A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515600" cy="45720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1600" b="1">
                <a:solidFill>
                  <a:srgbClr val="C8A25B"/>
                </a:solidFill>
                <a:latin typeface="微软雅黑"/>
                <a:ea typeface="微软雅黑"/>
                <a:cs typeface="微软雅黑"/>
              </a:rPr>
              <a:t>绿城华东区战略合作洽谈稿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48840"/>
            <a:ext cx="10789920" cy="109728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2026下半年人工智能商业化落地</a:t>
            </a:r>
          </a:p>
          <a:p>
            <a:pPr algn="l"/>
            <a:r>
              <a:rPr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与绿城片区项目合作方案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657600"/>
            <a:ext cx="10515600" cy="82296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1500" b="0">
                <a:solidFill>
                  <a:srgbClr val="D8E8DF"/>
                </a:solidFill>
                <a:latin typeface="微软雅黑"/>
                <a:ea typeface="微软雅黑"/>
                <a:cs typeface="微软雅黑"/>
              </a:rPr>
              <a:t>聚焦黄浦 · 虹口 · 青浦</a:t>
            </a:r>
          </a:p>
          <a:p>
            <a:pPr algn="l"/>
            <a:r>
              <a:rPr sz="1500" b="0">
                <a:solidFill>
                  <a:srgbClr val="D8E8DF"/>
                </a:solidFill>
                <a:latin typeface="微软雅黑"/>
                <a:ea typeface="微软雅黑"/>
                <a:cs typeface="微软雅黑"/>
              </a:rPr>
              <a:t>以北外滩一滴水为枢纽，链接AI大厂、TMT圈层与高净值客户</a:t>
            </a:r>
          </a:p>
          <a:p>
            <a:pPr algn="l"/>
            <a:r>
              <a:rPr sz="1500" b="0">
                <a:solidFill>
                  <a:srgbClr val="D8E8DF"/>
                </a:solidFill>
                <a:latin typeface="微软雅黑"/>
                <a:ea typeface="微软雅黑"/>
                <a:cs typeface="微软雅黑"/>
              </a:rPr>
              <a:t>帮助区域总形成片区共识、客群资产与行政价值网络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669280"/>
            <a:ext cx="10515600" cy="82296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主办协同：上海市杨浦区科技企业联合会  |  见微知海新质商业生态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交付形式：PPT方案 + Excel权益与排期表  |  用途：华东区总经理一对一沟通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6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C8A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972800" cy="54864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01  给华东区总的一页纸：为什么值得做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68680"/>
            <a:ext cx="11155680" cy="32004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不是单项目活动赞助，而是帮您经营黄浦—虹口—青浦片区的客户与行政链接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371600"/>
            <a:ext cx="5577840" cy="2057400"/>
          </a:xfrm>
          <a:prstGeom prst="rect">
            <a:avLst/>
          </a:prstGeom>
          <a:solidFill>
            <a:srgbClr val="F5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371600"/>
            <a:ext cx="73152" cy="2057400"/>
          </a:xfrm>
          <a:prstGeom prst="rect">
            <a:avLst/>
          </a:prstGeom>
          <a:solidFill>
            <a:srgbClr val="C8A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481328"/>
            <a:ext cx="5303520" cy="32004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04A2C"/>
                </a:solidFill>
                <a:latin typeface="微软雅黑"/>
                <a:ea typeface="微软雅黑"/>
                <a:cs typeface="微软雅黑"/>
              </a:rPr>
              <a:t>对您的核心价值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828800"/>
            <a:ext cx="5303520" cy="150876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把AI圈层、大厂高管、基金与TMT决策人，转化为绿城片区可复用的客群资产与政商互动接口。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577840" cy="2057400"/>
          </a:xfrm>
          <a:prstGeom prst="rect">
            <a:avLst/>
          </a:prstGeom>
          <a:solidFill>
            <a:srgbClr val="F5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73152" cy="2057400"/>
          </a:xfrm>
          <a:prstGeom prst="rect">
            <a:avLst/>
          </a:prstGeom>
          <a:solidFill>
            <a:srgbClr val="C8A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481328"/>
            <a:ext cx="5303520" cy="32004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04A2C"/>
                </a:solidFill>
                <a:latin typeface="微软雅黑"/>
                <a:ea typeface="微软雅黑"/>
                <a:cs typeface="微软雅黑"/>
              </a:rPr>
              <a:t>为什么是区域总视角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828800"/>
            <a:ext cx="5303520" cy="150876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活动不绑死单一案场，而以片区轮动+统一品牌叙事，强化华东区对多项目的统筹话语权与共识。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3657600"/>
            <a:ext cx="5577840" cy="2057400"/>
          </a:xfrm>
          <a:prstGeom prst="rect">
            <a:avLst/>
          </a:prstGeom>
          <a:solidFill>
            <a:srgbClr val="F5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1480" y="3657600"/>
            <a:ext cx="73152" cy="2057400"/>
          </a:xfrm>
          <a:prstGeom prst="rect">
            <a:avLst/>
          </a:prstGeom>
          <a:solidFill>
            <a:srgbClr val="C8A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767328"/>
            <a:ext cx="5303520" cy="32004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04A2C"/>
                </a:solidFill>
                <a:latin typeface="微软雅黑"/>
                <a:ea typeface="微软雅黑"/>
                <a:cs typeface="微软雅黑"/>
              </a:rPr>
              <a:t>我们怎么帮您落地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114800"/>
            <a:ext cx="5303520" cy="150876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一滴水主场办行/办大众 + 杨浦虹口大厂参访 + 项目开放日，形成“看见—对话—成交”闭环。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3657600"/>
            <a:ext cx="5577840" cy="2057400"/>
          </a:xfrm>
          <a:prstGeom prst="rect">
            <a:avLst/>
          </a:prstGeom>
          <a:solidFill>
            <a:srgbClr val="F5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3657600"/>
            <a:ext cx="73152" cy="2057400"/>
          </a:xfrm>
          <a:prstGeom prst="rect">
            <a:avLst/>
          </a:prstGeom>
          <a:solidFill>
            <a:srgbClr val="C8A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3767328"/>
            <a:ext cx="5303520" cy="32004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04A2C"/>
                </a:solidFill>
                <a:latin typeface="微软雅黑"/>
                <a:ea typeface="微软雅黑"/>
                <a:cs typeface="微软雅黑"/>
              </a:rPr>
              <a:t>建议先拍板什么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114800"/>
            <a:ext cx="5303520" cy="150876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先定档位与主推片区（建议虹口北外滩枢纽+黄浦/青浦轮动），再锁下半年4–6场关键节点。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6473952"/>
            <a:ext cx="9144000" cy="256032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绿城华东区 × 人工智能商业化落地  |  2026下半年片区战略合作方案（内部洽谈稿）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0" y="6473952"/>
            <a:ext cx="1371600" cy="256032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02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6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C8A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972800" cy="54864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02  区域洞察：AI 正在改写片区经营逻辑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68680"/>
            <a:ext cx="11155680" cy="32004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华东区总需要的不是“再办一场会”，而是可沉淀的圈层与交易入口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325880"/>
            <a:ext cx="11338560" cy="1005840"/>
          </a:xfrm>
          <a:prstGeom prst="rect">
            <a:avLst/>
          </a:prstGeom>
          <a:solidFill>
            <a:srgbClr val="F5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325880"/>
            <a:ext cx="109728" cy="1005840"/>
          </a:xfrm>
          <a:prstGeom prst="rect">
            <a:avLst/>
          </a:prstGeom>
          <a:solidFill>
            <a:srgbClr val="006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63040"/>
            <a:ext cx="2011680" cy="73152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600" b="1">
                <a:solidFill>
                  <a:srgbClr val="004A2C"/>
                </a:solidFill>
                <a:latin typeface="微软雅黑"/>
                <a:ea typeface="微软雅黑"/>
                <a:cs typeface="微软雅黑"/>
              </a:rPr>
              <a:t>客群迁移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1508760"/>
            <a:ext cx="8503920" cy="68580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高净值与企业客户越来越通过产业社群、闭门沙龙、大厂参访获取信任，而非传统案场到访。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468880"/>
            <a:ext cx="11338560" cy="1005840"/>
          </a:xfrm>
          <a:prstGeom prst="rect">
            <a:avLst/>
          </a:prstGeom>
          <a:solidFill>
            <a:srgbClr val="F5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2468880"/>
            <a:ext cx="109728" cy="1005840"/>
          </a:xfrm>
          <a:prstGeom prst="rect">
            <a:avLst/>
          </a:prstGeom>
          <a:solidFill>
            <a:srgbClr val="006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606040"/>
            <a:ext cx="2011680" cy="73152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600" b="1">
                <a:solidFill>
                  <a:srgbClr val="004A2C"/>
                </a:solidFill>
                <a:latin typeface="微软雅黑"/>
                <a:ea typeface="微软雅黑"/>
                <a:cs typeface="微软雅黑"/>
              </a:rPr>
              <a:t>行政协同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651760"/>
            <a:ext cx="8503920" cy="68580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区级经信/科委/商会与园区平台，偏好有产业主题的跨项目活动，区域总出面最合适。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3611880"/>
            <a:ext cx="11338560" cy="1005840"/>
          </a:xfrm>
          <a:prstGeom prst="rect">
            <a:avLst/>
          </a:prstGeom>
          <a:solidFill>
            <a:srgbClr val="F5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1480" y="3611880"/>
            <a:ext cx="109728" cy="1005840"/>
          </a:xfrm>
          <a:prstGeom prst="rect">
            <a:avLst/>
          </a:prstGeom>
          <a:solidFill>
            <a:srgbClr val="006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749040"/>
            <a:ext cx="2011680" cy="73152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600" b="1">
                <a:solidFill>
                  <a:srgbClr val="004A2C"/>
                </a:solidFill>
                <a:latin typeface="微软雅黑"/>
                <a:ea typeface="微软雅黑"/>
                <a:cs typeface="微软雅黑"/>
              </a:rPr>
              <a:t>项目协同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3794760"/>
            <a:ext cx="8503920" cy="68580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黄浦城市更新、虹口北外滩、青浦新城等叙事不同，需要统一“绿城华东×AI人居”母品牌串起来。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4754880"/>
            <a:ext cx="11338560" cy="1005840"/>
          </a:xfrm>
          <a:prstGeom prst="rect">
            <a:avLst/>
          </a:prstGeom>
          <a:solidFill>
            <a:srgbClr val="F5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1480" y="4754880"/>
            <a:ext cx="109728" cy="1005840"/>
          </a:xfrm>
          <a:prstGeom prst="rect">
            <a:avLst/>
          </a:prstGeom>
          <a:solidFill>
            <a:srgbClr val="006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892040"/>
            <a:ext cx="2011680" cy="73152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600" b="1">
                <a:solidFill>
                  <a:srgbClr val="004A2C"/>
                </a:solidFill>
                <a:latin typeface="微软雅黑"/>
                <a:ea typeface="微软雅黑"/>
                <a:cs typeface="微软雅黑"/>
              </a:rPr>
              <a:t>交易机会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4937760"/>
            <a:ext cx="8503920" cy="68580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AI大厂、TMT、基金既是潜在买家/租户，也可能带来企业采购、联合办公、产业导入。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6473952"/>
            <a:ext cx="9144000" cy="256032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绿城华东区 × 人工智能商业化落地  |  2026下半年片区战略合作方案（内部洽谈稿）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0" y="6473952"/>
            <a:ext cx="1371600" cy="256032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03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6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C8A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972800" cy="54864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03  战略定位：三大价值引擎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68680"/>
            <a:ext cx="11155680" cy="32004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客户链接 × 行政链接 × 交易链接 —— 全部服务华东区片区经营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3703320" cy="4663440"/>
          </a:xfrm>
          <a:prstGeom prst="rect">
            <a:avLst/>
          </a:prstGeom>
          <a:solidFill>
            <a:srgbClr val="F5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3703320" cy="640080"/>
          </a:xfrm>
          <a:prstGeom prst="rect">
            <a:avLst/>
          </a:prstGeom>
          <a:solidFill>
            <a:srgbClr val="C8A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3337560" cy="45720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① 客户链接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240280"/>
            <a:ext cx="3246120" cy="356616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把AI/TMT高管、创业者、基金LP/GP、企业主变成绿城可触达客群</a:t>
            </a:r>
          </a:p>
          <a:p>
            <a:pPr algn="l"/>
            <a:r>
              <a:rPr sz="13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 algn="l"/>
            <a:r>
              <a:rPr sz="13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· 一滴水闭门宴 / 精品沙龙</a:t>
            </a:r>
          </a:p>
          <a:p>
            <a:pPr algn="l"/>
            <a:r>
              <a:rPr sz="13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· 项目夜访与私董会</a:t>
            </a:r>
          </a:p>
          <a:p>
            <a:pPr algn="l"/>
            <a:r>
              <a:rPr sz="13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· 高净值家庭日与企业包场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60" y="1371600"/>
            <a:ext cx="3703320" cy="4663440"/>
          </a:xfrm>
          <a:prstGeom prst="rect">
            <a:avLst/>
          </a:prstGeom>
          <a:solidFill>
            <a:srgbClr val="F5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51960" y="1371600"/>
            <a:ext cx="3703320" cy="640080"/>
          </a:xfrm>
          <a:prstGeom prst="rect">
            <a:avLst/>
          </a:prstGeom>
          <a:solidFill>
            <a:srgbClr val="006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1463040"/>
            <a:ext cx="3337560" cy="45720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② 行政链接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240280"/>
            <a:ext cx="3246120" cy="356616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借活动帮助区域总与区级平台、协会、园区建立常态互动</a:t>
            </a:r>
          </a:p>
          <a:p>
            <a:pPr algn="l"/>
            <a:r>
              <a:rPr sz="13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 algn="l"/>
            <a:r>
              <a:rPr sz="13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· 区级领导/协会出席接口</a:t>
            </a:r>
          </a:p>
          <a:p>
            <a:pPr algn="l"/>
            <a:r>
              <a:rPr sz="13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· 产业主题座谈会</a:t>
            </a:r>
          </a:p>
          <a:p>
            <a:pPr algn="l"/>
            <a:r>
              <a:rPr sz="13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· 片区共识发布与媒体叙事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1371600"/>
            <a:ext cx="3703320" cy="4663440"/>
          </a:xfrm>
          <a:prstGeom prst="rect">
            <a:avLst/>
          </a:prstGeom>
          <a:solidFill>
            <a:srgbClr val="F5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371600"/>
            <a:ext cx="3703320" cy="640080"/>
          </a:xfrm>
          <a:prstGeom prst="rect">
            <a:avLst/>
          </a:prstGeom>
          <a:solidFill>
            <a:srgbClr val="004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1463040"/>
            <a:ext cx="3337560" cy="45720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③ 交易链接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2240280"/>
            <a:ext cx="3246120" cy="356616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不止曝光，更推动看房、企业落位、合作洽谈与后续商机</a:t>
            </a:r>
          </a:p>
          <a:p>
            <a:pPr algn="l"/>
            <a:r>
              <a:rPr sz="13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 algn="l"/>
            <a:r>
              <a:rPr sz="13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· 大厂/TMT定向参访</a:t>
            </a:r>
          </a:p>
          <a:p>
            <a:pPr algn="l"/>
            <a:r>
              <a:rPr sz="13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· 供需对接会与路演</a:t>
            </a:r>
          </a:p>
          <a:p>
            <a:pPr algn="l"/>
            <a:r>
              <a:rPr sz="13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· 成交线索沉淀与回访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73952"/>
            <a:ext cx="9144000" cy="256032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绿城华东区 × 人工智能商业化落地  |  2026下半年片区战略合作方案（内部洽谈稿）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60" y="6473952"/>
            <a:ext cx="1371600" cy="256032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04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6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C8A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972800" cy="54864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04  片区共识地图：黄浦 · 虹口 · 青浦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68680"/>
            <a:ext cx="11155680" cy="32004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以虹口北外滩为一滴水主场，黄浦与青浦做主题轮动，形成华东区统一叙事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325880"/>
          <a:ext cx="11429999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59"/>
                <a:gridCol w="1371600"/>
                <a:gridCol w="2926080"/>
                <a:gridCol w="2743200"/>
                <a:gridCol w="3108960"/>
              </a:tblGrid>
              <a:tr h="77724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片区</a:t>
                      </a:r>
                    </a:p>
                  </a:txBody>
                  <a:tcPr marL="54864" marR="54864" marT="27432" marB="27432" anchor="ctr">
                    <a:solidFill>
                      <a:srgbClr val="006B3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角色</a:t>
                      </a:r>
                    </a:p>
                  </a:txBody>
                  <a:tcPr marL="54864" marR="54864" marT="27432" marB="27432" anchor="ctr">
                    <a:solidFill>
                      <a:srgbClr val="006B3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主打活动</a:t>
                      </a:r>
                    </a:p>
                  </a:txBody>
                  <a:tcPr marL="54864" marR="54864" marT="27432" marB="27432" anchor="ctr">
                    <a:solidFill>
                      <a:srgbClr val="006B3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项目联动</a:t>
                      </a:r>
                    </a:p>
                  </a:txBody>
                  <a:tcPr marL="54864" marR="54864" marT="27432" marB="27432" anchor="ctr">
                    <a:solidFill>
                      <a:srgbClr val="006B3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对区域总的意义</a:t>
                      </a:r>
                    </a:p>
                  </a:txBody>
                  <a:tcPr marL="54864" marR="54864" marT="27432" marB="27432" anchor="ctr">
                    <a:solidFill>
                      <a:srgbClr val="006B3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虹口 / 北外滩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主场枢纽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一滴水系列峰会、晚宴、闭门沙龙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潮鸣外滩等项目承接参观与私宴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强化北外滩高端人居与圈层地标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黄浦</a:t>
                      </a:r>
                    </a:p>
                  </a:txBody>
                  <a:tcPr marL="54864" marR="54864" marT="27432" marB="27432" anchor="ctr">
                    <a:solidFill>
                      <a:srgbClr val="EEF4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城市更新/企业客群</a:t>
                      </a:r>
                    </a:p>
                  </a:txBody>
                  <a:tcPr marL="54864" marR="54864" marT="27432" marB="27432" anchor="ctr">
                    <a:solidFill>
                      <a:srgbClr val="EEF4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CBD企业主沙龙、AI×商业空间专题</a:t>
                      </a:r>
                    </a:p>
                  </a:txBody>
                  <a:tcPr marL="54864" marR="54864" marT="27432" marB="27432" anchor="ctr">
                    <a:solidFill>
                      <a:srgbClr val="EEF4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黄浦项目开放日 / 城市更新对话</a:t>
                      </a:r>
                    </a:p>
                  </a:txBody>
                  <a:tcPr marL="54864" marR="54864" marT="27432" marB="27432" anchor="ctr">
                    <a:solidFill>
                      <a:srgbClr val="EEF4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链接中心城区决策人与企业总部</a:t>
                      </a:r>
                    </a:p>
                  </a:txBody>
                  <a:tcPr marL="54864" marR="54864" marT="27432" marB="27432" anchor="ctr">
                    <a:solidFill>
                      <a:srgbClr val="EEF4F0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青浦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新城产业导入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产业园区×AI应用落地交流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青浦项目企业包场与家庭日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服务新城置业与企业落位叙事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365760" y="4663440"/>
            <a:ext cx="11430000" cy="1417320"/>
          </a:xfrm>
          <a:prstGeom prst="rect">
            <a:avLst/>
          </a:prstGeom>
          <a:solidFill>
            <a:srgbClr val="F5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4663440"/>
            <a:ext cx="73152" cy="1417320"/>
          </a:xfrm>
          <a:prstGeom prst="rect">
            <a:avLst/>
          </a:prstGeom>
          <a:solidFill>
            <a:srgbClr val="C8A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4773168"/>
            <a:ext cx="11155680" cy="32004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04A2C"/>
                </a:solidFill>
                <a:latin typeface="微软雅黑"/>
                <a:ea typeface="微软雅黑"/>
                <a:cs typeface="微软雅黑"/>
              </a:rPr>
              <a:t>片区共识打法（建议向总经理强调）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120640"/>
            <a:ext cx="11155680" cy="86868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每一场活动都同时露出“绿城华东区”母品牌 + 当期主场项目；季度末做一次三区联动复盘会，把线索、嘉宾、行政互动沉淀为华东区资产，而不是项目部各自为战。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9144000" cy="256032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绿城华东区 × 人工智能商业化落地  |  2026下半年片区战略合作方案（内部洽谈稿）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60" y="6473952"/>
            <a:ext cx="1371600" cy="256032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05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6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C8A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972800" cy="54864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05  主场枢纽：北外滩一滴水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68680"/>
            <a:ext cx="11155680" cy="32004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距离近、调性高、适合办行也适合办大众，天然服务虹口及周边片区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2788920" cy="3291840"/>
          </a:xfrm>
          <a:prstGeom prst="rect">
            <a:avLst/>
          </a:prstGeom>
          <a:solidFill>
            <a:srgbClr val="F5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417320"/>
            <a:ext cx="2788920" cy="594360"/>
          </a:xfrm>
          <a:prstGeom prst="rect">
            <a:avLst/>
          </a:prstGeom>
          <a:solidFill>
            <a:srgbClr val="006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508760"/>
            <a:ext cx="2514600" cy="41148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办“行”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240280"/>
            <a:ext cx="2514600" cy="219456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闭门私董会、AI商业化圆桌、GP/LP晚宴</a:t>
            </a:r>
          </a:p>
          <a:p>
            <a:pPr algn="l"/>
            <a:r>
              <a:rPr sz="13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人数精、议题深、转化强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1417320"/>
            <a:ext cx="2788920" cy="3291840"/>
          </a:xfrm>
          <a:prstGeom prst="rect">
            <a:avLst/>
          </a:prstGeom>
          <a:solidFill>
            <a:srgbClr val="F5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91840" y="1417320"/>
            <a:ext cx="2788920" cy="594360"/>
          </a:xfrm>
          <a:prstGeom prst="rect">
            <a:avLst/>
          </a:prstGeom>
          <a:solidFill>
            <a:srgbClr val="C8A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9000" y="1508760"/>
            <a:ext cx="2514600" cy="41148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办“大众”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2240280"/>
            <a:ext cx="2514600" cy="219456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公开主题峰会、媒体日、青年科技人才交流</a:t>
            </a:r>
          </a:p>
          <a:p>
            <a:pPr algn="l"/>
            <a:r>
              <a:rPr sz="13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扩声量、扩圈层、做品牌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417320"/>
            <a:ext cx="2788920" cy="3291840"/>
          </a:xfrm>
          <a:prstGeom prst="rect">
            <a:avLst/>
          </a:prstGeom>
          <a:solidFill>
            <a:srgbClr val="F5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417320"/>
            <a:ext cx="2788920" cy="594360"/>
          </a:xfrm>
          <a:prstGeom prst="rect">
            <a:avLst/>
          </a:prstGeom>
          <a:solidFill>
            <a:srgbClr val="006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1508760"/>
            <a:ext cx="2514600" cy="41148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办“高质量”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240280"/>
            <a:ext cx="2514600" cy="219456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大厂高管对话、产业应用案例路演</a:t>
            </a:r>
          </a:p>
          <a:p>
            <a:pPr algn="l"/>
            <a:r>
              <a:rPr sz="13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保证嘉宾级别与内容密度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0" y="1417320"/>
            <a:ext cx="2788920" cy="3291840"/>
          </a:xfrm>
          <a:prstGeom prst="rect">
            <a:avLst/>
          </a:prstGeom>
          <a:solidFill>
            <a:srgbClr val="F5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4000" y="1417320"/>
            <a:ext cx="2788920" cy="594360"/>
          </a:xfrm>
          <a:prstGeom prst="rect">
            <a:avLst/>
          </a:prstGeom>
          <a:solidFill>
            <a:srgbClr val="C8A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81160" y="1508760"/>
            <a:ext cx="2514600" cy="41148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办“转化”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1160" y="2240280"/>
            <a:ext cx="2514600" cy="219456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会后即赴项目参观 / 企业对接</a:t>
            </a:r>
          </a:p>
          <a:p>
            <a:pPr algn="l"/>
            <a:r>
              <a:rPr sz="13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从场内热度变成案场动作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4937760"/>
            <a:ext cx="11338560" cy="109728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建议节奏：每月/每双月固定一滴水节点，黄浦与青浦各安排1–2场主题外溢，形成“主场稳定 + 片区轮动”。</a:t>
            </a:r>
          </a:p>
          <a:p>
            <a:pPr algn="l"/>
            <a:r>
              <a:rPr sz="13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已有合作基础：2026上半年潮鸣外滩晚宴冠名已验证绿城与AI峰会的现场联动模式，下半年可升级为片区体系。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6473952"/>
            <a:ext cx="9144000" cy="256032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绿城华东区 × 人工智能商业化落地  |  2026下半年片区战略合作方案（内部洽谈稿）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24160" y="6473952"/>
            <a:ext cx="1371600" cy="256032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06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6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C8A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972800" cy="54864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06  下半年产品矩阵：四类高质量活动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68680"/>
            <a:ext cx="11155680" cy="32004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可单独赞助，也可打包成华东区年度合作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1325880"/>
          <a:ext cx="11521437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2391"/>
                <a:gridCol w="1787809"/>
                <a:gridCol w="3178328"/>
                <a:gridCol w="2582391"/>
                <a:gridCol w="1390518"/>
              </a:tblGrid>
              <a:tr h="65836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产品线</a:t>
                      </a:r>
                    </a:p>
                  </a:txBody>
                  <a:tcPr marL="54864" marR="54864" marT="27432" marB="27432" anchor="ctr">
                    <a:solidFill>
                      <a:srgbClr val="006B3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主阵地</a:t>
                      </a:r>
                    </a:p>
                  </a:txBody>
                  <a:tcPr marL="54864" marR="54864" marT="27432" marB="27432" anchor="ctr">
                    <a:solidFill>
                      <a:srgbClr val="006B3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内容方向</a:t>
                      </a:r>
                    </a:p>
                  </a:txBody>
                  <a:tcPr marL="54864" marR="54864" marT="27432" marB="27432" anchor="ctr">
                    <a:solidFill>
                      <a:srgbClr val="006B3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对绿城价值</a:t>
                      </a:r>
                    </a:p>
                  </a:txBody>
                  <a:tcPr marL="54864" marR="54864" marT="27432" marB="27432" anchor="ctr">
                    <a:solidFill>
                      <a:srgbClr val="006B3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建议频次</a:t>
                      </a:r>
                    </a:p>
                  </a:txBody>
                  <a:tcPr marL="54864" marR="54864" marT="27432" marB="27432" anchor="ctr">
                    <a:solidFill>
                      <a:srgbClr val="006B3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A. 一滴水旗舰峰会/晚宴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虹口北外滩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AI商业化+人居/投资破局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品牌高光+高端客群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1–2场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B. 精品闭门沙龙</a:t>
                      </a:r>
                    </a:p>
                  </a:txBody>
                  <a:tcPr marL="54864" marR="54864" marT="27432" marB="27432" anchor="ctr">
                    <a:solidFill>
                      <a:srgbClr val="EEF4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一滴水/项目会所</a:t>
                      </a:r>
                    </a:p>
                  </a:txBody>
                  <a:tcPr marL="54864" marR="54864" marT="27432" marB="27432" anchor="ctr">
                    <a:solidFill>
                      <a:srgbClr val="EEF4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垂直议题（算力/应用/出海等）</a:t>
                      </a:r>
                    </a:p>
                  </a:txBody>
                  <a:tcPr marL="54864" marR="54864" marT="27432" marB="27432" anchor="ctr">
                    <a:solidFill>
                      <a:srgbClr val="EEF4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深度关系与线索</a:t>
                      </a:r>
                    </a:p>
                  </a:txBody>
                  <a:tcPr marL="54864" marR="54864" marT="27432" marB="27432" anchor="ctr">
                    <a:solidFill>
                      <a:srgbClr val="EEF4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2–3场</a:t>
                      </a:r>
                    </a:p>
                  </a:txBody>
                  <a:tcPr marL="54864" marR="54864" marT="27432" marB="27432" anchor="ctr">
                    <a:solidFill>
                      <a:srgbClr val="EEF4F0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C. 大厂 &amp; TMT 参访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杨浦·虹口产业带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腾讯云/字节/商汤/AI硬件等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行政与产业链接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2–3场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D. 片区项目联动日</a:t>
                      </a:r>
                    </a:p>
                  </a:txBody>
                  <a:tcPr marL="54864" marR="54864" marT="27432" marB="27432" anchor="ctr">
                    <a:solidFill>
                      <a:srgbClr val="EEF4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黄浦/虹口/青浦</a:t>
                      </a:r>
                    </a:p>
                  </a:txBody>
                  <a:tcPr marL="54864" marR="54864" marT="27432" marB="27432" anchor="ctr">
                    <a:solidFill>
                      <a:srgbClr val="EEF4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参观+座谈+晚宴</a:t>
                      </a:r>
                    </a:p>
                  </a:txBody>
                  <a:tcPr marL="54864" marR="54864" marT="27432" marB="27432" anchor="ctr">
                    <a:solidFill>
                      <a:srgbClr val="EEF4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直接服务去化与落位</a:t>
                      </a:r>
                    </a:p>
                  </a:txBody>
                  <a:tcPr marL="54864" marR="54864" marT="27432" marB="27432" anchor="ctr">
                    <a:solidFill>
                      <a:srgbClr val="EEF4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3场轮动</a:t>
                      </a:r>
                    </a:p>
                  </a:txBody>
                  <a:tcPr marL="54864" marR="54864" marT="27432" marB="27432" anchor="ctr">
                    <a:solidFill>
                      <a:srgbClr val="EEF4F0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320040" y="4800600"/>
            <a:ext cx="11521440" cy="1280160"/>
          </a:xfrm>
          <a:prstGeom prst="rect">
            <a:avLst/>
          </a:prstGeom>
          <a:solidFill>
            <a:srgbClr val="F5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4800600"/>
            <a:ext cx="73152" cy="1280160"/>
          </a:xfrm>
          <a:prstGeom prst="rect">
            <a:avLst/>
          </a:prstGeom>
          <a:solidFill>
            <a:srgbClr val="C8A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4910328"/>
            <a:ext cx="11247120" cy="32004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4A2C"/>
                </a:solidFill>
                <a:latin typeface="微软雅黑"/>
                <a:ea typeface="微软雅黑"/>
                <a:cs typeface="微软雅黑"/>
              </a:rPr>
              <a:t>摇人能力（我们侧承诺边界）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257800"/>
            <a:ext cx="11247120" cy="73152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依托杨浦科技企业联合会、见微知海生态与AI峰会嘉宾池，优先邀请人工智能大厂、TMT高管、基金与专精特新企业代表；行政嘉宾按议题匹配协调，不做无法兑现的硬承诺。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9144000" cy="256032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绿城华东区 × 人工智能商业化落地  |  2026下半年片区战略合作方案（内部洽谈稿）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60" y="6473952"/>
            <a:ext cx="1371600" cy="256032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07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6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C8A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972800" cy="54864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07  2026下半年关键节点（建议版）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68680"/>
            <a:ext cx="11155680" cy="32004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可按总经理日程与项目销售节奏微调；Excel表可直接改期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1325880"/>
          <a:ext cx="11521437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1873"/>
                <a:gridCol w="1489841"/>
                <a:gridCol w="3774264"/>
                <a:gridCol w="2483068"/>
                <a:gridCol w="2582391"/>
              </a:tblGrid>
              <a:tr h="6858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时间</a:t>
                      </a:r>
                    </a:p>
                  </a:txBody>
                  <a:tcPr marL="54864" marR="54864" marT="27432" marB="27432" anchor="ctr">
                    <a:solidFill>
                      <a:srgbClr val="006B3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阶段</a:t>
                      </a:r>
                    </a:p>
                  </a:txBody>
                  <a:tcPr marL="54864" marR="54864" marT="27432" marB="27432" anchor="ctr">
                    <a:solidFill>
                      <a:srgbClr val="006B3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建议动作</a:t>
                      </a:r>
                    </a:p>
                  </a:txBody>
                  <a:tcPr marL="54864" marR="54864" marT="27432" marB="27432" anchor="ctr">
                    <a:solidFill>
                      <a:srgbClr val="006B3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项目联动</a:t>
                      </a:r>
                    </a:p>
                  </a:txBody>
                  <a:tcPr marL="54864" marR="54864" marT="27432" marB="27432" anchor="ctr">
                    <a:solidFill>
                      <a:srgbClr val="006B3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对区域总动作</a:t>
                      </a:r>
                    </a:p>
                  </a:txBody>
                  <a:tcPr marL="54864" marR="54864" marT="27432" marB="27432" anchor="ctr">
                    <a:solidFill>
                      <a:srgbClr val="006B3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7–8月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启动与暖场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一滴水闭门沙龙（虹口）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虹口项目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锁档位、定片区轮动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9月</a:t>
                      </a:r>
                    </a:p>
                  </a:txBody>
                  <a:tcPr marL="54864" marR="54864" marT="27432" marB="27432" anchor="ctr">
                    <a:solidFill>
                      <a:srgbClr val="EEF4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旗舰高光</a:t>
                      </a:r>
                    </a:p>
                  </a:txBody>
                  <a:tcPr marL="54864" marR="54864" marT="27432" marB="27432" anchor="ctr">
                    <a:solidFill>
                      <a:srgbClr val="EEF4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一滴水AI商业化落地公开日/晚宴</a:t>
                      </a:r>
                    </a:p>
                  </a:txBody>
                  <a:tcPr marL="54864" marR="54864" marT="27432" marB="27432" anchor="ctr">
                    <a:solidFill>
                      <a:srgbClr val="EEF4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虹口+黄浦露出</a:t>
                      </a:r>
                    </a:p>
                  </a:txBody>
                  <a:tcPr marL="54864" marR="54864" marT="27432" marB="27432" anchor="ctr">
                    <a:solidFill>
                      <a:srgbClr val="EEF4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最大品牌场</a:t>
                      </a:r>
                    </a:p>
                  </a:txBody>
                  <a:tcPr marL="54864" marR="54864" marT="27432" marB="27432" anchor="ctr">
                    <a:solidFill>
                      <a:srgbClr val="EEF4F0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10月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产业走出去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杨浦/虹口大厂参访周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三区线索回流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行政+交易双线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11月</a:t>
                      </a:r>
                    </a:p>
                  </a:txBody>
                  <a:tcPr marL="54864" marR="54864" marT="27432" marB="27432" anchor="ctr">
                    <a:solidFill>
                      <a:srgbClr val="EEF4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片区轮动</a:t>
                      </a:r>
                    </a:p>
                  </a:txBody>
                  <a:tcPr marL="54864" marR="54864" marT="27432" marB="27432" anchor="ctr">
                    <a:solidFill>
                      <a:srgbClr val="EEF4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黄浦主题沙龙 + 青浦产业日</a:t>
                      </a:r>
                    </a:p>
                  </a:txBody>
                  <a:tcPr marL="54864" marR="54864" marT="27432" marB="27432" anchor="ctr">
                    <a:solidFill>
                      <a:srgbClr val="EEF4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黄浦/青浦项目</a:t>
                      </a:r>
                    </a:p>
                  </a:txBody>
                  <a:tcPr marL="54864" marR="54864" marT="27432" marB="27432" anchor="ctr">
                    <a:solidFill>
                      <a:srgbClr val="EEF4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服务去化节点</a:t>
                      </a:r>
                    </a:p>
                  </a:txBody>
                  <a:tcPr marL="54864" marR="54864" marT="27432" marB="27432" anchor="ctr">
                    <a:solidFill>
                      <a:srgbClr val="EEF4F0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12月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收官复盘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华东区三区联动私董宴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区域总主持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沉淀年度资产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11480" y="6473952"/>
            <a:ext cx="9144000" cy="256032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绿城华东区 × 人工智能商业化落地  |  2026下半年片区战略合作方案（内部洽谈稿）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473952"/>
            <a:ext cx="1371600" cy="256032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08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6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C8A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972800" cy="54864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08  大厂与 TMT 链接路径：从看见到交易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68680"/>
            <a:ext cx="11155680" cy="32004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把杨浦、虹口的产业密度，变成绿城华东区的客群与合作入口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463040"/>
            <a:ext cx="2194560" cy="3200400"/>
          </a:xfrm>
          <a:prstGeom prst="rect">
            <a:avLst/>
          </a:prstGeom>
          <a:solidFill>
            <a:srgbClr val="F5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463040"/>
            <a:ext cx="2194560" cy="640080"/>
          </a:xfrm>
          <a:prstGeom prst="rect">
            <a:avLst/>
          </a:prstGeom>
          <a:solidFill>
            <a:srgbClr val="006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572768"/>
            <a:ext cx="2011680" cy="45720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 邀约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31720"/>
            <a:ext cx="1920240" cy="210312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峰会/沙龙定向邀约</a:t>
            </a:r>
          </a:p>
          <a:p>
            <a:pPr algn="ctr"/>
            <a:r>
              <a:rPr sz="12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大厂业务线、创投、TMT CXO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51760" y="1463040"/>
            <a:ext cx="2194560" cy="3200400"/>
          </a:xfrm>
          <a:prstGeom prst="rect">
            <a:avLst/>
          </a:prstGeom>
          <a:solidFill>
            <a:srgbClr val="F5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51760" y="1463040"/>
            <a:ext cx="2194560" cy="640080"/>
          </a:xfrm>
          <a:prstGeom prst="rect">
            <a:avLst/>
          </a:prstGeom>
          <a:solidFill>
            <a:srgbClr val="006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0" y="1572768"/>
            <a:ext cx="2011680" cy="45720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 场内对话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2331720"/>
            <a:ext cx="1920240" cy="210312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圆桌+案例路演</a:t>
            </a:r>
          </a:p>
          <a:p>
            <a:pPr algn="ctr"/>
            <a:r>
              <a:rPr sz="12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绿城代表参与主持/致辞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83480" y="1463040"/>
            <a:ext cx="2194560" cy="3200400"/>
          </a:xfrm>
          <a:prstGeom prst="rect">
            <a:avLst/>
          </a:prstGeom>
          <a:solidFill>
            <a:srgbClr val="F5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83480" y="1463040"/>
            <a:ext cx="2194560" cy="640080"/>
          </a:xfrm>
          <a:prstGeom prst="rect">
            <a:avLst/>
          </a:prstGeom>
          <a:solidFill>
            <a:srgbClr val="006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74920" y="1572768"/>
            <a:ext cx="2011680" cy="45720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 参访走访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2331720"/>
            <a:ext cx="1920240" cy="210312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组织赴杨浦/虹口</a:t>
            </a:r>
          </a:p>
          <a:p>
            <a:pPr algn="ctr"/>
            <a:r>
              <a:rPr sz="12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大厂与园区深度交流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0" y="1463040"/>
            <a:ext cx="2194560" cy="3200400"/>
          </a:xfrm>
          <a:prstGeom prst="rect">
            <a:avLst/>
          </a:prstGeom>
          <a:solidFill>
            <a:srgbClr val="F5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0" y="1463040"/>
            <a:ext cx="2194560" cy="640080"/>
          </a:xfrm>
          <a:prstGeom prst="rect">
            <a:avLst/>
          </a:prstGeom>
          <a:solidFill>
            <a:srgbClr val="006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06640" y="1572768"/>
            <a:ext cx="2011680" cy="45720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 项目承接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52360" y="2331720"/>
            <a:ext cx="1920240" cy="210312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会后参观黄浦/</a:t>
            </a:r>
          </a:p>
          <a:p>
            <a:pPr algn="ctr"/>
            <a:r>
              <a:rPr sz="12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虹口/青浦项目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46920" y="1463040"/>
            <a:ext cx="2194560" cy="3200400"/>
          </a:xfrm>
          <a:prstGeom prst="rect">
            <a:avLst/>
          </a:prstGeom>
          <a:solidFill>
            <a:srgbClr val="F5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646920" y="1463040"/>
            <a:ext cx="2194560" cy="640080"/>
          </a:xfrm>
          <a:prstGeom prst="rect">
            <a:avLst/>
          </a:prstGeom>
          <a:solidFill>
            <a:srgbClr val="006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38360" y="1572768"/>
            <a:ext cx="2011680" cy="45720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 线索运营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0" y="2331720"/>
            <a:ext cx="1920240" cy="210312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建立华东区线索池</a:t>
            </a:r>
          </a:p>
          <a:p>
            <a:pPr algn="ctr"/>
            <a:r>
              <a:rPr sz="12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季度复盘与二次邀约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4892040"/>
            <a:ext cx="11521440" cy="1188720"/>
          </a:xfrm>
          <a:prstGeom prst="rect">
            <a:avLst/>
          </a:prstGeom>
          <a:solidFill>
            <a:srgbClr val="F5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0040" y="4892040"/>
            <a:ext cx="73152" cy="1188720"/>
          </a:xfrm>
          <a:prstGeom prst="rect">
            <a:avLst/>
          </a:prstGeom>
          <a:solidFill>
            <a:srgbClr val="C8A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5001768"/>
            <a:ext cx="11247120" cy="32004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4A2C"/>
                </a:solidFill>
                <a:latin typeface="微软雅黑"/>
                <a:ea typeface="微软雅黑"/>
                <a:cs typeface="微软雅黑"/>
              </a:rPr>
              <a:t>可优先触达的方向（示例，按议题动态匹配）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5349240"/>
            <a:ext cx="11247120" cy="64008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云计算与大模型应用、智能硬件、产业互联网、创投机构、专精特新与硬科技企业；目标不是“名单炫耀”，而是每次活动留下可跟进的企业/个人线索。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6473952"/>
            <a:ext cx="9144000" cy="256032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绿城华东区 × 人工智能商业化落地  |  2026下半年片区战略合作方案（内部洽谈稿）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24160" y="6473952"/>
            <a:ext cx="1371600" cy="256032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09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6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C8A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972800" cy="54864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09  项目联动设计：服务去化，不抢项目总风头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68680"/>
            <a:ext cx="11155680" cy="32004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区域总抓叙事与资源，项目总抓接待与转化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1325880"/>
          <a:ext cx="115214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926080"/>
                <a:gridCol w="3108960"/>
                <a:gridCol w="2926080"/>
              </a:tblGrid>
              <a:tr h="64008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项目片区</a:t>
                      </a:r>
                    </a:p>
                  </a:txBody>
                  <a:tcPr marL="54864" marR="54864" marT="27432" marB="27432" anchor="ctr">
                    <a:solidFill>
                      <a:srgbClr val="006B3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联动方式</a:t>
                      </a:r>
                    </a:p>
                  </a:txBody>
                  <a:tcPr marL="54864" marR="54864" marT="27432" marB="27432" anchor="ctr">
                    <a:solidFill>
                      <a:srgbClr val="006B3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现场动作</a:t>
                      </a:r>
                    </a:p>
                  </a:txBody>
                  <a:tcPr marL="54864" marR="54864" marT="27432" marB="27432" anchor="ctr">
                    <a:solidFill>
                      <a:srgbClr val="006B3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区域总可强调的点</a:t>
                      </a:r>
                    </a:p>
                  </a:txBody>
                  <a:tcPr marL="54864" marR="54864" marT="27432" marB="27432" anchor="ctr">
                    <a:solidFill>
                      <a:srgbClr val="006B3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虹口项目（如潮鸣外滩等）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一滴水主场后夜访/次日参观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高端圈层晚宴+样板体验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北外滩生活方式背书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黄浦项目</a:t>
                      </a:r>
                    </a:p>
                  </a:txBody>
                  <a:tcPr marL="54864" marR="54864" marT="27432" marB="27432" anchor="ctr">
                    <a:solidFill>
                      <a:srgbClr val="EEF4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企业主沙龙后专场参观</a:t>
                      </a:r>
                    </a:p>
                  </a:txBody>
                  <a:tcPr marL="54864" marR="54864" marT="27432" marB="27432" anchor="ctr">
                    <a:solidFill>
                      <a:srgbClr val="EEF4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CBD客群包场、城市更新对话</a:t>
                      </a:r>
                    </a:p>
                  </a:txBody>
                  <a:tcPr marL="54864" marR="54864" marT="27432" marB="27432" anchor="ctr">
                    <a:solidFill>
                      <a:srgbClr val="EEF4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中心城区企业置业叙事</a:t>
                      </a:r>
                    </a:p>
                  </a:txBody>
                  <a:tcPr marL="54864" marR="54864" marT="27432" marB="27432" anchor="ctr">
                    <a:solidFill>
                      <a:srgbClr val="EEF4F0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青浦项目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产业日/家庭日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企业落位座谈+产品讲解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新城置业与人才安居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320040" y="4114800"/>
            <a:ext cx="5577840" cy="1920240"/>
          </a:xfrm>
          <a:prstGeom prst="rect">
            <a:avLst/>
          </a:prstGeom>
          <a:solidFill>
            <a:srgbClr val="F5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4114800"/>
            <a:ext cx="73152" cy="1920240"/>
          </a:xfrm>
          <a:prstGeom prst="rect">
            <a:avLst/>
          </a:prstGeom>
          <a:solidFill>
            <a:srgbClr val="C8A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4224528"/>
            <a:ext cx="5303520" cy="32004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4A2C"/>
                </a:solidFill>
                <a:latin typeface="微软雅黑"/>
                <a:ea typeface="微软雅黑"/>
                <a:cs typeface="微软雅黑"/>
              </a:rPr>
              <a:t>区域总角色建议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572000"/>
            <a:ext cx="5303520" cy="137160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开场定调片区战略、关键场次致辞、与行政/大厂嘉宾合影与闭门交流；不对单盘说过度承诺。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80760" y="4114800"/>
            <a:ext cx="5760720" cy="1920240"/>
          </a:xfrm>
          <a:prstGeom prst="rect">
            <a:avLst/>
          </a:prstGeom>
          <a:solidFill>
            <a:srgbClr val="F5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80760" y="4114800"/>
            <a:ext cx="73152" cy="1920240"/>
          </a:xfrm>
          <a:prstGeom prst="rect">
            <a:avLst/>
          </a:prstGeom>
          <a:solidFill>
            <a:srgbClr val="C8A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4224528"/>
            <a:ext cx="5486400" cy="32004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4A2C"/>
                </a:solidFill>
                <a:latin typeface="微软雅黑"/>
                <a:ea typeface="微软雅黑"/>
                <a:cs typeface="微软雅黑"/>
              </a:rPr>
              <a:t>项目总角色建议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4572000"/>
            <a:ext cx="5486400" cy="137160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接待动线、产品讲解、意向跟进；活动物料统一打“绿城华东区×XX项目”，强化片区母品牌。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6473952"/>
            <a:ext cx="9144000" cy="256032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绿城华东区 × 人工智能商业化落地  |  2026下半年片区战略合作方案（内部洽谈稿）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60" y="6473952"/>
            <a:ext cx="1371600" cy="256032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6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C8A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972800" cy="54864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10  赞助档位建议（金额可谈）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68680"/>
            <a:ext cx="11155680" cy="32004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主推“华东区战略合作伙伴”打包，既有高度也有可执行颗粒度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1280160"/>
          <a:ext cx="1152144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1645920"/>
                <a:gridCol w="3291840"/>
                <a:gridCol w="3474720"/>
              </a:tblGrid>
              <a:tr h="64008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档位</a:t>
                      </a:r>
                    </a:p>
                  </a:txBody>
                  <a:tcPr marL="54864" marR="54864" marT="27432" marB="27432" anchor="ctr">
                    <a:solidFill>
                      <a:srgbClr val="006B3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建议金额</a:t>
                      </a:r>
                    </a:p>
                  </a:txBody>
                  <a:tcPr marL="54864" marR="54864" marT="27432" marB="27432" anchor="ctr">
                    <a:solidFill>
                      <a:srgbClr val="006B3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覆盖范围</a:t>
                      </a:r>
                    </a:p>
                  </a:txBody>
                  <a:tcPr marL="54864" marR="54864" marT="27432" marB="27432" anchor="ctr">
                    <a:solidFill>
                      <a:srgbClr val="006B3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沟通话术</a:t>
                      </a:r>
                    </a:p>
                  </a:txBody>
                  <a:tcPr marL="54864" marR="54864" marT="27432" marB="27432" anchor="ctr">
                    <a:solidFill>
                      <a:srgbClr val="006B3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钻石·华东区年度战略合作伙伴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¥500,000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下半年全系列主冠名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区域总首选，片区共识最强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铂金·片区首席合作伙伴</a:t>
                      </a:r>
                    </a:p>
                  </a:txBody>
                  <a:tcPr marL="54864" marR="54864" marT="27432" marB="27432" anchor="ctr">
                    <a:solidFill>
                      <a:srgbClr val="EEF4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¥300,000</a:t>
                      </a:r>
                    </a:p>
                  </a:txBody>
                  <a:tcPr marL="54864" marR="54864" marT="27432" marB="27432" anchor="ctr">
                    <a:solidFill>
                      <a:srgbClr val="EEF4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一滴水主场+2场片区联动</a:t>
                      </a:r>
                    </a:p>
                  </a:txBody>
                  <a:tcPr marL="54864" marR="54864" marT="27432" marB="27432" anchor="ctr">
                    <a:solidFill>
                      <a:srgbClr val="EEF4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性价比最高的主推档</a:t>
                      </a:r>
                    </a:p>
                  </a:txBody>
                  <a:tcPr marL="54864" marR="54864" marT="27432" marB="27432" anchor="ctr">
                    <a:solidFill>
                      <a:srgbClr val="EEF4F0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黄金·一滴水系列冠名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¥150,000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旗舰峰会/晚宴系列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适合先做品牌高光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银牌·项目专场赞助</a:t>
                      </a:r>
                    </a:p>
                  </a:txBody>
                  <a:tcPr marL="54864" marR="54864" marT="27432" marB="27432" anchor="ctr">
                    <a:solidFill>
                      <a:srgbClr val="EEF4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¥80,000</a:t>
                      </a:r>
                    </a:p>
                  </a:txBody>
                  <a:tcPr marL="54864" marR="54864" marT="27432" marB="27432" anchor="ctr">
                    <a:solidFill>
                      <a:srgbClr val="EEF4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单片区项目联动日</a:t>
                      </a:r>
                    </a:p>
                  </a:txBody>
                  <a:tcPr marL="54864" marR="54864" marT="27432" marB="27432" anchor="ctr">
                    <a:solidFill>
                      <a:srgbClr val="EEF4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项目总可分摊预算</a:t>
                      </a:r>
                    </a:p>
                  </a:txBody>
                  <a:tcPr marL="54864" marR="54864" marT="27432" marB="27432" anchor="ctr">
                    <a:solidFill>
                      <a:srgbClr val="EEF4F0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单场闭门沙龙/晚宴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¥50,000–100,000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单场冠名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灵活试水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11480" y="5349240"/>
            <a:ext cx="11338560" cy="73152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4A2C"/>
                </a:solidFill>
                <a:latin typeface="微软雅黑"/>
                <a:ea typeface="微软雅黑"/>
                <a:cs typeface="微软雅黑"/>
              </a:rPr>
              <a:t>明日沟通建议：优先锁定铂金¥30万或钻石¥50万；若预算敏感，可先签黄金¥15万启动9月旗舰场，再追加片区轮动。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9144000" cy="256032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绿城华东区 × 人工智能商业化落地  |  2026下半年片区战略合作方案（内部洽谈稿）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73952"/>
            <a:ext cx="1371600" cy="256032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6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C8A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972800" cy="54864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11  权益方案对照（核心权益摘要）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68680"/>
            <a:ext cx="11155680" cy="32004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完整勾选矩阵见配套 Excel「权益矩阵」页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1234440"/>
          <a:ext cx="11612877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71481"/>
                <a:gridCol w="2060349"/>
                <a:gridCol w="2060349"/>
                <a:gridCol w="2060349"/>
                <a:gridCol w="2060349"/>
              </a:tblGrid>
              <a:tr h="5283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权益项</a:t>
                      </a:r>
                    </a:p>
                  </a:txBody>
                  <a:tcPr marL="54864" marR="54864" marT="27432" marB="27432" anchor="ctr">
                    <a:solidFill>
                      <a:srgbClr val="006B3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钻石50万</a:t>
                      </a:r>
                    </a:p>
                  </a:txBody>
                  <a:tcPr marL="54864" marR="54864" marT="27432" marB="27432" anchor="ctr">
                    <a:solidFill>
                      <a:srgbClr val="006B3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铂金30万</a:t>
                      </a:r>
                    </a:p>
                  </a:txBody>
                  <a:tcPr marL="54864" marR="54864" marT="27432" marB="27432" anchor="ctr">
                    <a:solidFill>
                      <a:srgbClr val="006B3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黄金15万</a:t>
                      </a:r>
                    </a:p>
                  </a:txBody>
                  <a:tcPr marL="54864" marR="54864" marT="27432" marB="27432" anchor="ctr">
                    <a:solidFill>
                      <a:srgbClr val="006B3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银牌8万</a:t>
                      </a:r>
                    </a:p>
                  </a:txBody>
                  <a:tcPr marL="54864" marR="54864" marT="27432" marB="27432" anchor="ctr">
                    <a:solidFill>
                      <a:srgbClr val="006B3F"/>
                    </a:solidFill>
                  </a:tcPr>
                </a:tc>
              </a:tr>
              <a:tr h="52832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绿城华东区战略合作伙伴称号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●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●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○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一滴水旗舰场冠名/联合冠名</a:t>
                      </a:r>
                    </a:p>
                  </a:txBody>
                  <a:tcPr marL="54864" marR="54864" marT="27432" marB="27432" anchor="ctr">
                    <a:solidFill>
                      <a:srgbClr val="EEF4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主冠名</a:t>
                      </a:r>
                    </a:p>
                  </a:txBody>
                  <a:tcPr marL="54864" marR="54864" marT="27432" marB="27432" anchor="ctr">
                    <a:solidFill>
                      <a:srgbClr val="EEF4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联合冠名</a:t>
                      </a:r>
                    </a:p>
                  </a:txBody>
                  <a:tcPr marL="54864" marR="54864" marT="27432" marB="27432" anchor="ctr">
                    <a:solidFill>
                      <a:srgbClr val="EEF4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主冠名</a:t>
                      </a:r>
                    </a:p>
                  </a:txBody>
                  <a:tcPr marL="54864" marR="54864" marT="27432" marB="27432" anchor="ctr">
                    <a:solidFill>
                      <a:srgbClr val="EEF4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EEF4F0"/>
                    </a:solidFill>
                  </a:tcPr>
                </a:tc>
              </a:tr>
              <a:tr h="52832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区域总致辞/对话席位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●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●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○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按场次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大厂参访随行名额</a:t>
                      </a:r>
                    </a:p>
                  </a:txBody>
                  <a:tcPr marL="54864" marR="54864" marT="27432" marB="27432" anchor="ctr">
                    <a:solidFill>
                      <a:srgbClr val="EEF4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8–12人</a:t>
                      </a:r>
                    </a:p>
                  </a:txBody>
                  <a:tcPr marL="54864" marR="54864" marT="27432" marB="27432" anchor="ctr">
                    <a:solidFill>
                      <a:srgbClr val="EEF4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6–8人</a:t>
                      </a:r>
                    </a:p>
                  </a:txBody>
                  <a:tcPr marL="54864" marR="54864" marT="27432" marB="27432" anchor="ctr">
                    <a:solidFill>
                      <a:srgbClr val="EEF4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4人</a:t>
                      </a:r>
                    </a:p>
                  </a:txBody>
                  <a:tcPr marL="54864" marR="54864" marT="27432" marB="27432" anchor="ctr">
                    <a:solidFill>
                      <a:srgbClr val="EEF4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EEF4F0"/>
                    </a:solidFill>
                  </a:tcPr>
                </a:tc>
              </a:tr>
              <a:tr h="52832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三区项目联动露出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全覆盖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2区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虹口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1区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现场展位/品牌陈列</a:t>
                      </a:r>
                    </a:p>
                  </a:txBody>
                  <a:tcPr marL="54864" marR="54864" marT="27432" marB="27432" anchor="ctr">
                    <a:solidFill>
                      <a:srgbClr val="EEF4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优先</a:t>
                      </a:r>
                    </a:p>
                  </a:txBody>
                  <a:tcPr marL="54864" marR="54864" marT="27432" marB="27432" anchor="ctr">
                    <a:solidFill>
                      <a:srgbClr val="EEF4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标准</a:t>
                      </a:r>
                    </a:p>
                  </a:txBody>
                  <a:tcPr marL="54864" marR="54864" marT="27432" marB="27432" anchor="ctr">
                    <a:solidFill>
                      <a:srgbClr val="EEF4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标准</a:t>
                      </a:r>
                    </a:p>
                  </a:txBody>
                  <a:tcPr marL="54864" marR="54864" marT="27432" marB="27432" anchor="ctr">
                    <a:solidFill>
                      <a:srgbClr val="EEF4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按场</a:t>
                      </a:r>
                    </a:p>
                  </a:txBody>
                  <a:tcPr marL="54864" marR="54864" marT="27432" marB="27432" anchor="ctr">
                    <a:solidFill>
                      <a:srgbClr val="EEF4F0"/>
                    </a:solidFill>
                  </a:tcPr>
                </a:tc>
              </a:tr>
              <a:tr h="52832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媒体与社群传播包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全年包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季度包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单系列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单场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线索复盘会（对区域总）</a:t>
                      </a:r>
                    </a:p>
                  </a:txBody>
                  <a:tcPr marL="54864" marR="54864" marT="27432" marB="27432" anchor="ctr">
                    <a:solidFill>
                      <a:srgbClr val="EEF4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双月</a:t>
                      </a:r>
                    </a:p>
                  </a:txBody>
                  <a:tcPr marL="54864" marR="54864" marT="27432" marB="27432" anchor="ctr">
                    <a:solidFill>
                      <a:srgbClr val="EEF4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季度</a:t>
                      </a:r>
                    </a:p>
                  </a:txBody>
                  <a:tcPr marL="54864" marR="54864" marT="27432" marB="27432" anchor="ctr">
                    <a:solidFill>
                      <a:srgbClr val="EEF4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会后1次</a:t>
                      </a:r>
                    </a:p>
                  </a:txBody>
                  <a:tcPr marL="54864" marR="54864" marT="27432" marB="27432" anchor="ctr">
                    <a:solidFill>
                      <a:srgbClr val="EEF4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1F1F"/>
                          </a:solidFill>
                          <a:latin typeface="微软雅黑"/>
                          <a:ea typeface="微软雅黑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EEF4F0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11480" y="6473952"/>
            <a:ext cx="9144000" cy="256032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绿城华东区 × 人工智能商业化落地  |  2026下半年片区战略合作方案（内部洽谈稿）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473952"/>
            <a:ext cx="1371600" cy="256032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6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C8A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972800" cy="54864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12  主推打包：铂金·片区首席合作伙伴（¥30万）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68680"/>
            <a:ext cx="11155680" cy="32004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最适合明日拍板：高度够、动作满、预算可解释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5669280" cy="4709160"/>
          </a:xfrm>
          <a:prstGeom prst="rect">
            <a:avLst/>
          </a:prstGeom>
          <a:solidFill>
            <a:srgbClr val="F5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25880"/>
            <a:ext cx="73152" cy="4709160"/>
          </a:xfrm>
          <a:prstGeom prst="rect">
            <a:avLst/>
          </a:prstGeom>
          <a:solidFill>
            <a:srgbClr val="C8A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35608"/>
            <a:ext cx="5394960" cy="32004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04A2C"/>
                </a:solidFill>
                <a:latin typeface="微软雅黑"/>
                <a:ea typeface="微软雅黑"/>
                <a:cs typeface="微软雅黑"/>
              </a:rPr>
              <a:t>¥300,000 交付包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783080"/>
            <a:ext cx="5394960" cy="416052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包含什么</a:t>
            </a:r>
          </a:p>
          <a:p>
            <a:pPr algn="l"/>
            <a:r>
              <a:rPr sz="13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 algn="l"/>
            <a:r>
              <a:rPr sz="13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1）一滴水旗舰峰会/晚宴联合冠名 1场</a:t>
            </a:r>
          </a:p>
          <a:p>
            <a:pPr algn="l"/>
            <a:r>
              <a:rPr sz="13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2）精品闭门沙龙 2场（虹口+黄浦或青浦）</a:t>
            </a:r>
          </a:p>
          <a:p>
            <a:pPr algn="l"/>
            <a:r>
              <a:rPr sz="13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3）杨浦/虹口大厂或TMT参访 1次</a:t>
            </a:r>
          </a:p>
          <a:p>
            <a:pPr algn="l"/>
            <a:r>
              <a:rPr sz="13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4）片区项目联动日 2场</a:t>
            </a:r>
          </a:p>
          <a:p>
            <a:pPr algn="l"/>
            <a:r>
              <a:rPr sz="13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5）绿城华东区首席合作伙伴称号与传播包</a:t>
            </a:r>
          </a:p>
          <a:p>
            <a:pPr algn="l"/>
            <a:r>
              <a:rPr sz="13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6）季度线索复盘会 2次（对区域总）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25880"/>
            <a:ext cx="5577840" cy="4709160"/>
          </a:xfrm>
          <a:prstGeom prst="rect">
            <a:avLst/>
          </a:prstGeom>
          <a:solidFill>
            <a:srgbClr val="F5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325880"/>
            <a:ext cx="73152" cy="4709160"/>
          </a:xfrm>
          <a:prstGeom prst="rect">
            <a:avLst/>
          </a:prstGeom>
          <a:solidFill>
            <a:srgbClr val="C8A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435608"/>
            <a:ext cx="5303520" cy="32004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04A2C"/>
                </a:solidFill>
                <a:latin typeface="微软雅黑"/>
                <a:ea typeface="微软雅黑"/>
                <a:cs typeface="微软雅黑"/>
              </a:rPr>
              <a:t>沟通卖点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783080"/>
            <a:ext cx="5303520" cy="416052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对总经理的回报叙事</a:t>
            </a:r>
          </a:p>
          <a:p>
            <a:pPr algn="l"/>
            <a:r>
              <a:rPr sz="13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 algn="l"/>
            <a:r>
              <a:rPr sz="13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· 客户：每场沉淀高净值/企业线索</a:t>
            </a:r>
          </a:p>
          <a:p>
            <a:pPr algn="l"/>
            <a:r>
              <a:rPr sz="13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· 行政：有产业主题的对外接口</a:t>
            </a:r>
          </a:p>
          <a:p>
            <a:pPr algn="l"/>
            <a:r>
              <a:rPr sz="13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· 片区：三区轮动，强化区域统筹</a:t>
            </a:r>
          </a:p>
          <a:p>
            <a:pPr algn="l"/>
            <a:r>
              <a:rPr sz="13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· 品牌：AI×人居的差异化声量</a:t>
            </a:r>
          </a:p>
          <a:p>
            <a:pPr algn="l"/>
            <a:r>
              <a:rPr sz="13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· 管理：Excel排期可下发项目总执行</a:t>
            </a:r>
          </a:p>
          <a:p>
            <a:pPr algn="l"/>
            <a:r>
              <a:rPr sz="13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 algn="l"/>
            <a:r>
              <a:rPr sz="13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升级路径：执行满意后可补差升级钻石档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6473952"/>
            <a:ext cx="9144000" cy="256032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绿城华东区 × 人工智能商业化落地  |  2026下半年片区战略合作方案（内部洽谈稿）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60" y="6473952"/>
            <a:ext cx="1371600" cy="256032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6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C8A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972800" cy="54864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13  预期成果（下半年可衡量）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68680"/>
            <a:ext cx="11155680" cy="32004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用区域总能听懂的指标说话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2788920" cy="3017520"/>
          </a:xfrm>
          <a:prstGeom prst="rect">
            <a:avLst/>
          </a:prstGeom>
          <a:solidFill>
            <a:srgbClr val="F5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28800"/>
            <a:ext cx="2514600" cy="73152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ctr"/>
            <a:r>
              <a:rPr sz="2800" b="1">
                <a:solidFill>
                  <a:srgbClr val="004A2C"/>
                </a:solidFill>
                <a:latin typeface="微软雅黑"/>
                <a:ea typeface="微软雅黑"/>
                <a:cs typeface="微软雅黑"/>
              </a:rPr>
              <a:t>6–8场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2423160" cy="137160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ctr"/>
            <a:r>
              <a:rPr sz="13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高质量活动落地</a:t>
            </a:r>
          </a:p>
          <a:p>
            <a:pPr algn="ctr"/>
            <a:r>
              <a:rPr sz="13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覆盖办行/办大众/参访/项目日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1463040"/>
            <a:ext cx="2788920" cy="3017520"/>
          </a:xfrm>
          <a:prstGeom prst="rect">
            <a:avLst/>
          </a:prstGeom>
          <a:solidFill>
            <a:srgbClr val="F5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1828800"/>
            <a:ext cx="2514600" cy="73152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ctr"/>
            <a:r>
              <a:rPr sz="2800" b="1">
                <a:solidFill>
                  <a:srgbClr val="004A2C"/>
                </a:solidFill>
                <a:latin typeface="微软雅黑"/>
                <a:ea typeface="微软雅黑"/>
                <a:cs typeface="微软雅黑"/>
              </a:rPr>
              <a:t>200+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743200"/>
            <a:ext cx="2423160" cy="137160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ctr"/>
            <a:r>
              <a:rPr sz="13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有效圈层触达</a:t>
            </a:r>
          </a:p>
          <a:p>
            <a:pPr algn="ctr"/>
            <a:r>
              <a:rPr sz="13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大厂/TMT/基金/企业主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463040"/>
            <a:ext cx="2788920" cy="3017520"/>
          </a:xfrm>
          <a:prstGeom prst="rect">
            <a:avLst/>
          </a:prstGeom>
          <a:solidFill>
            <a:srgbClr val="F5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828800"/>
            <a:ext cx="2514600" cy="73152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ctr"/>
            <a:r>
              <a:rPr sz="2800" b="1">
                <a:solidFill>
                  <a:srgbClr val="004A2C"/>
                </a:solidFill>
                <a:latin typeface="微软雅黑"/>
                <a:ea typeface="微软雅黑"/>
                <a:cs typeface="微软雅黑"/>
              </a:rPr>
              <a:t>3区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743200"/>
            <a:ext cx="2423160" cy="137160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ctr"/>
            <a:r>
              <a:rPr sz="13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黄浦·虹口·青浦</a:t>
            </a:r>
          </a:p>
          <a:p>
            <a:pPr algn="ctr"/>
            <a:r>
              <a:rPr sz="13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形成统一叙事与轮动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0" y="1463040"/>
            <a:ext cx="2788920" cy="3017520"/>
          </a:xfrm>
          <a:prstGeom prst="rect">
            <a:avLst/>
          </a:prstGeom>
          <a:solidFill>
            <a:srgbClr val="F5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81160" y="1828800"/>
            <a:ext cx="2514600" cy="73152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ctr"/>
            <a:r>
              <a:rPr sz="2800" b="1">
                <a:solidFill>
                  <a:srgbClr val="004A2C"/>
                </a:solidFill>
                <a:latin typeface="微软雅黑"/>
                <a:ea typeface="微软雅黑"/>
                <a:cs typeface="微软雅黑"/>
              </a:rPr>
              <a:t>双月复盘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2743200"/>
            <a:ext cx="2423160" cy="137160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ctr"/>
            <a:r>
              <a:rPr sz="13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线索与行政互动</a:t>
            </a:r>
          </a:p>
          <a:p>
            <a:pPr algn="ctr"/>
            <a:r>
              <a:rPr sz="13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沉淀为华东区资产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709160"/>
            <a:ext cx="11430000" cy="1325880"/>
          </a:xfrm>
          <a:prstGeom prst="rect">
            <a:avLst/>
          </a:prstGeom>
          <a:solidFill>
            <a:srgbClr val="F5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4709160"/>
            <a:ext cx="73152" cy="1325880"/>
          </a:xfrm>
          <a:prstGeom prst="rect">
            <a:avLst/>
          </a:prstGeom>
          <a:solidFill>
            <a:srgbClr val="C8A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818888"/>
            <a:ext cx="11155680" cy="32004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4A2C"/>
                </a:solidFill>
                <a:latin typeface="微软雅黑"/>
                <a:ea typeface="微软雅黑"/>
                <a:cs typeface="微软雅黑"/>
              </a:rPr>
              <a:t>风险边界（体现专业度）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166360"/>
            <a:ext cx="11155680" cy="77724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嘉宾级别尽力匹配议题但不做“必到某人”硬承诺；行政出席按官方流程协调；个人敏感信息不做违规名单交付；项目转化由绿城销售体系闭环，我们负责场内质量与线索交接。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6473952"/>
            <a:ext cx="9144000" cy="256032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绿城华东区 × 人工智能商业化落地  |  2026下半年片区战略合作方案（内部洽谈稿）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0" y="6473952"/>
            <a:ext cx="1371600" cy="256032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6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C8A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972800" cy="54864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14  明日共识清单 &amp; 推进节奏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68680"/>
            <a:ext cx="11155680" cy="32004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带这三问进会议室，方便总经理当场拍板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325880"/>
            <a:ext cx="11338560" cy="822960"/>
          </a:xfrm>
          <a:prstGeom prst="rect">
            <a:avLst/>
          </a:prstGeom>
          <a:solidFill>
            <a:srgbClr val="F5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325880"/>
            <a:ext cx="1097280" cy="822960"/>
          </a:xfrm>
          <a:prstGeom prst="rect">
            <a:avLst/>
          </a:prstGeom>
          <a:solidFill>
            <a:srgbClr val="C8A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325880"/>
            <a:ext cx="914400" cy="82296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问1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1508760"/>
            <a:ext cx="9784080" cy="50292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下半年主推铂金30万，还是钻石50万？是否需要拆到项目分摊？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286000"/>
            <a:ext cx="11338560" cy="822960"/>
          </a:xfrm>
          <a:prstGeom prst="rect">
            <a:avLst/>
          </a:prstGeom>
          <a:solidFill>
            <a:srgbClr val="F5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2286000"/>
            <a:ext cx="1097280" cy="822960"/>
          </a:xfrm>
          <a:prstGeom prst="rect">
            <a:avLst/>
          </a:prstGeom>
          <a:solidFill>
            <a:srgbClr val="C8A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0"/>
            <a:ext cx="914400" cy="82296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问2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2468880"/>
            <a:ext cx="9784080" cy="50292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首场定在一滴水（虹口）的哪个月？黄浦/青浦谁先轮动？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3246120"/>
            <a:ext cx="11338560" cy="822960"/>
          </a:xfrm>
          <a:prstGeom prst="rect">
            <a:avLst/>
          </a:prstGeom>
          <a:solidFill>
            <a:srgbClr val="F5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1480" y="3246120"/>
            <a:ext cx="1097280" cy="822960"/>
          </a:xfrm>
          <a:prstGeom prst="rect">
            <a:avLst/>
          </a:prstGeom>
          <a:solidFill>
            <a:srgbClr val="C8A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246120"/>
            <a:ext cx="914400" cy="82296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问3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3429000"/>
            <a:ext cx="9784080" cy="50292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区域总希望亲自站台的场次有几场？需要对接哪些行政条线？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389120"/>
            <a:ext cx="11247120" cy="1554480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会后7日内：确认档位 → 出正式报价与排期 → 指定绿城对接人（区域办+项目）→ 启动首场筹备。</a:t>
            </a:r>
          </a:p>
          <a:p>
            <a:pPr algn="l"/>
            <a:r>
              <a:rPr sz="13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 algn="l"/>
            <a:r>
              <a:rPr sz="13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协同方：上海市杨浦区科技企业联合会 / 见微知海新质商业生态</a:t>
            </a:r>
          </a:p>
          <a:p>
            <a:pPr algn="l"/>
            <a:r>
              <a:rPr sz="13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对接人：胡继刚  13262607888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473952"/>
            <a:ext cx="9144000" cy="256032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绿城华东区 × 人工智能商业化落地  |  2026下半年片区战略合作方案（内部洽谈稿）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60" y="6473952"/>
            <a:ext cx="1371600" cy="256032"/>
          </a:xfrm>
          <a:prstGeom prst="rect">
            <a:avLst/>
          </a:prstGeom>
          <a:noFill/>
        </p:spPr>
        <p:txBody>
          <a:bodyPr wrap="square" lIns="54864" rIns="54864" tIns="18288" bIns="18288" anchor="t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