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7EBE6"/>
                </a:solidFill>
                <a:latin typeface="微软雅黑"/>
                <a:ea typeface="微软雅黑"/>
              </a:rPr>
              <a:t>对外汇报方案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上海人工智能产业展馆（常设展示与运营平台）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47B2D"/>
                </a:solidFill>
                <a:latin typeface="微软雅黑"/>
                <a:ea typeface="微软雅黑"/>
              </a:rPr>
              <a:t>样板对标：美国加利福尼亚州山景城 · 计算机历史博物馆（Computer History Museum, CHM）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租金与装修产业生态分摊  ·  多元盈利结构  ·  支持单位协同</a:t>
            </a:r>
          </a:p>
          <a:p>
            <a:pPr algn="l"/>
            <a:r>
              <a:rPr sz="1300" b="0">
                <a:solidFill>
                  <a:srgbClr val="D7EBE6"/>
                </a:solidFill>
                <a:latin typeface="微软雅黑"/>
                <a:ea typeface="微软雅黑"/>
              </a:rPr>
              <a:t>汇报人团队：陈晟 · 胡继刚 · 陈红苗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V2.0  |  2026-08  |  供合作方 / 主管部门 / 支持单位汇报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对外汇报结构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9144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01  项目概要与核心议题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02  对标 CHM：一对一深化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03  上海落地定位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04  租金的产业生态逻辑（重点）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05  装修费的分层共担（重点）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06  投资与赞助结构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07  支持单位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08  多元盈利模式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09  政策与资金匹配</a:t>
            </a:r>
          </a:p>
          <a:p>
            <a:pPr>
              <a:lnSpc>
                <a:spcPct val="115000"/>
              </a:lnSpc>
            </a:pPr>
            <a:r>
              <a:rPr sz="1600" b="0">
                <a:solidFill>
                  <a:srgbClr val="1A2B2E"/>
                </a:solidFill>
                <a:latin typeface="微软雅黑"/>
                <a:ea typeface="微软雅黑"/>
              </a:rPr>
              <a:t>▸  10  选址、内容、节奏与下一步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项目概要与核心议题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对外共识摘要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本项目拟在上海建设产业科技主题的常设展馆与配套运营空间，对标加州山景城计算机历史博物馆的常设馆模式：以可签约企业展位、可核验技术演进与行业应用案例为内容主干，以研学服务、空间经营、赞助与活动为经营主干；一期控制可运营规模，租金与装修按市场化共担，开办资金由启动金、赞助与专项组合闭环后再进入建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657600" cy="384048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64008" cy="384048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35915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定位共识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69748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常设展馆，非临展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对标加州 CHM 样板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叙事主线 + 展位年更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研学与公众双客群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286000"/>
            <a:ext cx="3657600" cy="384048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286000"/>
            <a:ext cx="64008" cy="3840480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2359152"/>
            <a:ext cx="3401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3D5C"/>
                </a:solidFill>
                <a:latin typeface="微软雅黑"/>
                <a:ea typeface="微软雅黑"/>
              </a:rPr>
              <a:t>经营共识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697480"/>
            <a:ext cx="340156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先筹后建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租金阶梯 + 装修分层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启动金必须闭环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门票不作主收入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286000"/>
            <a:ext cx="3566160" cy="384048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2286000"/>
            <a:ext cx="64008" cy="3840480"/>
          </a:xfrm>
          <a:prstGeom prst="rect">
            <a:avLst/>
          </a:prstGeom>
          <a:solidFill>
            <a:srgbClr val="C4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2359152"/>
            <a:ext cx="33101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47B2D"/>
                </a:solidFill>
                <a:latin typeface="微软雅黑"/>
                <a:ea typeface="微软雅黑"/>
              </a:rPr>
              <a:t>本汇报核心关注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697480"/>
            <a:ext cx="3310128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物业租金与装修费用如何在产业生态中合理分摊、可核算、可退出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对标 CHM 的常设馆逻辑，形成上海可落地的内容与经营闭环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构建多元盈利结构，并与支持单位、赞助方、政策资源形成合力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样板馆画像：计算机历史博物馆（加州山景城）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美国加利福尼亚州山景城 · 计算机历史博物馆（Computer History Museum, CHM）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CHM 要点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名称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Computer History Museum（计算机历史博物馆）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地点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美国加利福尼亚州山景城（Mountain View）Shoreline Blvd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性质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501(c)(3) 非营利公共受益机构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空间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展厅约4万平方英尺量级；另有藏品仓储；前身为 SGI 总部物业收购后长期运营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常设大展（如 Revolution 计算两千年）、专题展、口述史与藏品研究、教育项目、演讲活动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资金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以捐赠/会费/基金会资助为主，项目制筹款后再开工；辅以场地活动、会员、商店与投资收益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原则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重大展陈与改造先锁定资金再启动；内容可持续更新；服务学校与公众双客群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一对一深化：CHM → 上海方案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学机制，不适配处做本土化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143000"/>
          <a:ext cx="11704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440"/>
                <a:gridCol w="3901440"/>
                <a:gridCol w="3901440"/>
              </a:tblGrid>
              <a:tr h="521208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对标维度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CHM（加州山景城）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上海本项目（落地设计）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使命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解码计算技术的历史、当下与对人类的影响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呈现产业科技演进与行业应用，服务科普、研学与产业对接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馆体逻辑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常设大展 + 专题展 + 藏品/口述史 + 教育项目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常设叙事展 + 企业展位更新带 + 研学课程 + 活动发布空间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购置/改造产业总部物业为永久馆址，长期经营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一期租赁/合作运营可改造物业；条款含续约与评估，不绑定不现实零租金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建设资金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资本战役与定向捐赠支撑馆舍改造与大展（先筹后建）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启动金 + 主赞助 + 展位共建 + 专项补贴；装修分基础/展陈/专项三层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捐赠与会费为主，项目资助、场地活动、商店等为辅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空间经营与研学、展位赞助、场地租赁、会员与企业服务并重（适配国内商业环境）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教育功能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学校团体参观、讲解与科学素养项目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区级研学/科普基地申报 + 教师研修 + 机构包场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产业关系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硅谷企业捐赠展品、冠名与基金会支持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在沪科技企业展位共建；联合会与高校智库支持对接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更新机制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专题展轮换、藏品数字化与研究项目驱动更新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展位年度更新合同 + 会后延伸内容 + 季更活动日历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52120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治理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非营利董事会 + 馆长团队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运营公司主体 + 支持单位顾问/协同 + 赞助理事会（可设）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上海落地定位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承接 CHM 方法，适配国内产业与回款结构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400" b="0">
                <a:solidFill>
                  <a:srgbClr val="1A2B2E"/>
                </a:solidFill>
                <a:latin typeface="微软雅黑"/>
                <a:ea typeface="微软雅黑"/>
              </a:rPr>
              <a:t>•  学其「先筹后建」：大额装修与核心展陈须资金来源可覆盖后再签约开工。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1A2B2E"/>
                </a:solidFill>
                <a:latin typeface="微软雅黑"/>
                <a:ea typeface="微软雅黑"/>
              </a:rPr>
              <a:t>•  学其「常设+轮换」：固定叙事主线 + 可替换企业展位/专题季，避免开馆即过时。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1A2B2E"/>
                </a:solidFill>
                <a:latin typeface="微软雅黑"/>
                <a:ea typeface="微软雅黑"/>
              </a:rPr>
              <a:t>•  学其「教育双轮」：公众参观与学校团线分开产品化、分开定价与排期。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1A2B2E"/>
                </a:solidFill>
                <a:latin typeface="微软雅黑"/>
                <a:ea typeface="微软雅黑"/>
              </a:rPr>
              <a:t>•  学其「产业捐赠文化」：把展位共建、冠名、藏品/展品授权做成可立项的企业合作包。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1A2B2E"/>
                </a:solidFill>
                <a:latin typeface="微软雅黑"/>
                <a:ea typeface="微软雅黑"/>
              </a:rPr>
              <a:t>•  差异化适配：国内更强调空间经营与研学 B 端回款，捐赠占比低于 CHM，故须把租金与装修共担设计清楚。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F4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64008" cy="2103120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4005072"/>
            <a:ext cx="109910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差异化要点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4343400"/>
            <a:ext cx="109910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对标 CHM：常设叙事 + 轮换专题，而非临展堆砌。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经营上：空间、研学、赞助、活动、会员多元组合，适配国内回款结构。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生态上：高校智库 + 市/区科企联支持，降低获客与对接成本。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租金：产业生态里的四级结构（重点）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租金不是单一「房东—租户」讨价还价，而是产业生态里的成本分摊工具：业主要去化与稳定现金流，区平台…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7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23444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10058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逻辑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谁承担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谈判点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基础租金（Base Rent）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按市场评估租金或政府指导价谈，作为财务模型底线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运营公司（可用启动金与经营收入覆盖）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租期（建议首期约5年含中期评估与续约）、面积计量、递增机制、免租装修期长度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开业扶持租金（Ramp Rent）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开业爬坡期降低固定成本，对换开业节点、招商承诺与政务/研学开放义务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业主让利或区平台租金补贴（以书面批复/租约附件为准）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1–3年阶梯：如首年 X%、次年 Y%、第三年回归约定水平；与 KPI 挂钩可终止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经营联动租金（Revenue Share）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部分可租面积或活动收入与业主分成，降低纯固定租金压力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业主与运营方按合同比例共享增量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分成基数（租金外收入/可租面积）、审计口径、保底与封顶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生态抵扣（In-kind）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业主或平台提供车位、公共区、导视、物业费优惠，等价于隐性租金下降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列明等价金额，避免口头优惠无法入账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装修费：壳装 / 馆装 / 专项装三层共担（重点）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装修费按「谁受益、谁主导、谁可资本化」拆三层，避免整包压给单一方：基础机电与消防适老适幼改造偏业…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科目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典型内容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建议承担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回收方式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A. 基础适装（壳装）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水电暖通、消防、弱电、卫生间、地面天花、无障碍基础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业主为主，或业主与运营方按比例（业主资本化进物业资产）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体现在租期内租金水平；或装修投入折抵一定期限租金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B. 展陈与品牌装（馆装）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展墙展柜、互动装置、灯光多媒体、导视、企业展位界面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主赞助 + 展位企业共建 + 运营方启动金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展位年费、赞助权益履约、内容更新费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C. 专项与公共服务装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研学教室、安全防护、科普互动基础模块、接待与安检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科普/科创/文旅专项 + 支持单位联合项目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按专项验收；未批复前不得计入必达开办资金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66344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7A6E"/>
                </a:solidFill>
                <a:latin typeface="微软雅黑"/>
                <a:ea typeface="微软雅黑"/>
              </a:rPr>
              <a:t>落地步骤（先测算，再谈判，后开工）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1. 出具《物业与装修分摊测算表》（三层装修+四级租金） → 可谈判的一页纸财务结构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2. 双场地并行比选：创智汇 / 复兴岛 → 条款对照表（租金、装修、退出）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3. 与业主谈判：装修期减免 + 阶梯租金 + 分成可选项 → 租约草案附件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4. 赞助与展位预售覆盖 B 类馆装 → 意向书/预付款节点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5. 专项申报覆盖 C 类（保守到账比例入预算） → 申报包与时间表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A2B2E"/>
                </a:solidFill>
                <a:latin typeface="微软雅黑"/>
                <a:ea typeface="微软雅黑"/>
              </a:rPr>
              <a:t>•  6. 资金覆盖率达标后再签大额施工合同 → 开工令与支付计划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投资与赞助结构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资金结构遵循 CHM「先筹后建」精神，并适配国内产业生态：可组合、可核算、可退出；租金与装修共担写进…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路径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出资方式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回报机制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优先级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A. 物业租金与装修共担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市场租金 + 装修期减免/阶梯优惠 + 壳装业主投入或折抵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去化、稳定租金、可租面积分成、科创场景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B. 主赞助 / 战略合作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现金赞助、馆装主投或开办启动支持；实物按评估入账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冠名协商、主视觉、开幕与年度联名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C. 企业展位共建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展位建设费 + 年度更新费；或展品授权 + 布展分摊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展区露出、研学线路、参访触达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D. 政府专项与扶持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租金/装修补助、科普科创文旅项目资助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公共服务与科普供给、重点项目场景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E. 支持单位协同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智库方案、产业对接、联合活动、部分项目制经费协同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研究转化、会员企业服务、区域产业活力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F. 运营主体启动金与跟投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股东启动金；后期小额跟投池可选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经营利润；跟投资本回报（后期）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P0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G. 授权与国际内容合作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展品/影像授权费或资源互换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合同约定的露出与合作叙事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支持单位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智库 + 市级/区级产业网络协同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10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76809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支持单位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协同角色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可提供价值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复旦大学住房政策研究中心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智库与政策研究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物业盘活、城市更新与住房/空间政策视角的方案论证；联合课题与报告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上海市科技企业联合会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市级产业网络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会员企业展位与活动对接、行业公信力、跨区资源协调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上海市杨浦区科技企业联合会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属地产业协同（五角场/创智汇方向）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属地企业招商、研学与活动落地、政企沟通桥梁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上海市虹口区科技企业联合会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跨区产业协同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虹口及周边企业参展、活动联动、会员权益互通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拟以合作备忘录明确：联合课题、会员企业对接、活动联办、品牌互挂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支持单位不替代运营主体出资义务，重点降低获客、策展与政企沟通成本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多元盈利模式（上）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对标 CHM：馆体价值靠内容与公信力；现金流靠多元经营。上海版本提高「可开票、可回款」经营性收入占比，同…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143000"/>
          <a:ext cx="11704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收入线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描述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延伸玩法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配套空间租赁与运营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办公、路演厅、临时展、联合办公工位；租金+运营服务费。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「展管一体」短租：企业发布会套装（场地+讲解+直播机位）。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25–35%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研学与研修产品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学校/机构包场、教师研修、亲子线路；按场次与人次报价。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学期订阅制研学卡；「小小讲解员」认证营。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15–25%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展位与品牌赞助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常设展位年费、冠名、联合展览。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「技术时间胶囊」冠名墙：企业寄存一代产品叙事，按年续费。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15–25%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活动与场地经济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发布会、闭门研讨、政务参访接待、晚宴酒会（合规前提下）。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夜场「科技沙龙」门票+赞助双收费；会展周溢价档期。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8–15%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会员与社群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个人/家庭/企业会员：预约、夜场、课程折扣、活动优先。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企业会员含季度专场与人才招聘日；联合会会员权益互通。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5–10%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多元盈利模式（下）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内容、定制、场景、数据与后期输出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143000"/>
          <a:ext cx="117043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926080"/>
                <a:gridCol w="292608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收入线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描述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延伸玩法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占比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6. 内容授权与出版衍生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图文/短视频授权、展览图录、文创与课程包销售。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「展陈模块许可证」输出给外埠场馆；数字展线上点播。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7. 企业定制与培训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企业内训、董事会参访定制、新产品内部路演私享会。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「产业参谋日」：展馆+智库联合为企业做场景诊断工作坊。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5–10%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8. 场景验证与对接服务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为入驻/参展企业提供用户测试、渠道对接、投融资活动报名费或成功佣金（合规）。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「应用场景拍卖会」：需求方悬赏、供给方投标，场馆收组织服务费。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3–8%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9. 数据与评估服务（合规脱敏）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在访客同意与合规前提下，提供参观热力、研学反馈等对赞助方的效果报告。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年度《产业认知指数》订阅；与高校中心联合发布。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2–5%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10. 外埠咨询与轻输出（后期）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运营SOP、策展与招商陪跑；不作为一期必达。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「CHM学习型」城市联展巡展服务包。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0–8%（后期）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政策与资金匹配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批复与合同说话，专项保守入账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88720"/>
          <a:ext cx="116128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政策/抓手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对项目价值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落地步骤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责任方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科技教育与研学基地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B端团客与课程收入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申报→备案→采购合同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陈红苗+教育渠道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场馆与教育活动规范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可经营、可验收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准入清单→备案/认证对接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运营+政府关系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闲置物业与租金支持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降低开办固定成本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适用性确认→写入租约附件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场地谈判组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科普/科创/文旅专项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覆盖专项装与活动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匹配表→窗口申报→验收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政策专员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重大展会会后延伸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内容更新与城市联动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承办对接→合作备忘→季更机制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内容+政府关系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支持单位协同机制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降低获客与策展成本，提升公信力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备忘录→年度清单→联合品牌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胡继刚统筹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选址与内容结构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一期可控 · 对标 CHM 常设+轮换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14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5480"/>
                <a:gridCol w="1935480"/>
                <a:gridCol w="1935480"/>
                <a:gridCol w="1935480"/>
                <a:gridCol w="1935480"/>
                <a:gridCol w="1935480"/>
              </a:tblGrid>
              <a:tr h="79248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候选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面积/条件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产权/运营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优劣势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下一步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创智汇2号楼顶楼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上海五角场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约3300㎡，一期试点优选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杨浦科创集团产权；中建四局二房东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研学便利；谈清租金阶梯与装修分摊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分摊测算表+路演比选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复兴岛相关物业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上海中环边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改造可塑性强；距陆家嘴约25分钟车程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空间弹性大；通学动线弱于五角场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踏勘+改造估算+主管部门沟通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370332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板块（对标 CHM）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内容侧重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主要来源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更新机制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叙事主线（常设）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技术演进与关键节点（可说明的实物/图示）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馆方策展+授权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年度复核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基础设施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算力、芯片与系统基础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硬件与云企业展位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年更合同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软件与工具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开发工具与数字化应用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在沪科技企业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年更合同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行业应用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教育、制造、交通等落地案例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解决方案商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专题季轮换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教育互动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研学模块与讲解体系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运营+支持单位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学期迭代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组织分工与推进节奏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先测算与对标，再谈判与闭环，后建设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15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5577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主体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方案与海外线索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国际授权线索、样板馆对标深化、运营经验访谈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对外统筹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胡继刚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汇报材料、政府与资方路演、支持单位协同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场地与资方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陈红苗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租约与装修谈判、资方与教育渠道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支持单位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高校中心与各级科企联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智库、产业对接、联合活动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物业与工程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场地方+建设伙伴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租约、壳装工程、交付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运营公司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待设主体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日常经营、招商、研学、财务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143000"/>
          <a:ext cx="58521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718457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时间窗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关键交付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退出标准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0. 测算与对标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0–2周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CHM对标一页纸、租金装修分摊表、预算框架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对外可汇报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1. 并行谈判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2–6周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双场地条款对照、主赞助与支持单位备忘录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可签租约要点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2. 资金闭环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1–3月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租约附件、赞助意向、专项启动、启动金到位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覆盖开办预算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3. 设计建设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租约后3–9月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施工图、展位签约、开业内容包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试运行通过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4. 开业经营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开业后0–12月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研学排期、去化、赞助履约、会员上线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预算指标达成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5. 优化扩展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12月+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SOP；评估咨询输出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数据决策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0F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0B3D5C"/>
                </a:solidFill>
                <a:latin typeface="微软雅黑"/>
                <a:ea typeface="微软雅黑"/>
              </a:rPr>
              <a:t>风险要点与下一步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9611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C6B70"/>
                </a:solidFill>
                <a:latin typeface="微软雅黑"/>
                <a:ea typeface="微软雅黑"/>
              </a:rPr>
              <a:t>对外协同清单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6B70"/>
                </a:solidFill>
                <a:latin typeface="微软雅黑"/>
                <a:ea typeface="微软雅黑"/>
              </a:rPr>
              <a:t>16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14300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风险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等级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说明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缓释</a:t>
                      </a:r>
                    </a:p>
                  </a:txBody>
                  <a:tcPr>
                    <a:solidFill>
                      <a:srgbClr val="0B3D5C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租金/装修条款谈不拢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固定成本过高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双场地并行；阶梯租金+分成备选；缩期一期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开办资金未闭环即开工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高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工程与内容烂尾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坚持先筹后建；分期开业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专项当作已兑现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到账不确定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保守比例入预算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与现有展厅同质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差异不足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强化 CHM 式叙事主线+研学+展位年更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  <a:tr h="391885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授权与合规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品牌与涉外限制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先授权再制作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1890"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研学爬坡慢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中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学期采购周期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0">
                          <a:solidFill>
                            <a:srgbClr val="1A2B2E"/>
                          </a:solidFill>
                          <a:latin typeface="微软雅黑"/>
                          <a:ea typeface="微软雅黑"/>
                        </a:rPr>
                        <a:t>机构渠道+企业活动淡季互补</a:t>
                      </a:r>
                    </a:p>
                  </a:txBody>
                  <a:tcPr>
                    <a:solidFill>
                      <a:srgbClr val="D7EBE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40233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7A6E"/>
                </a:solidFill>
                <a:latin typeface="微软雅黑"/>
                <a:ea typeface="微软雅黑"/>
              </a:rPr>
              <a:t>建议下一步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完成 CHM 对标页与《租金—装修分摊测算表》，作为对外汇报附件。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创智汇、复兴岛并行谈判，输出条款对照。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与支持单位签署合作备忘录，明确年度协同清单。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主赞助与展位预售覆盖馆装；启动金与专项按保守口径入预算。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1A2B2E"/>
                </a:solidFill>
                <a:latin typeface="微软雅黑"/>
                <a:ea typeface="微软雅黑"/>
              </a:rPr>
              <a:t>•  资金覆盖开办预算后，再进入施工图与大额合同。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