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4A35A"/>
                </a:solidFill>
                <a:latin typeface="Microsoft YaHei"/>
                <a:ea typeface="Microsoft YaHei"/>
              </a:rPr>
              <a:t>山东大学齐鲁医院（青岛）云影像  ×  得到大脑通话整理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抚顺路和哈尔滨路路口交通事故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伤情鉴定与伤残情况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3F6FA"/>
                </a:solidFill>
                <a:latin typeface="Microsoft YaHei"/>
                <a:ea typeface="Microsoft YaHei"/>
              </a:rPr>
              <a:t>伤者：胡某 · 男 · 64岁</a:t>
            </a:r>
          </a:p>
          <a:p>
            <a:pPr algn="l"/>
            <a:r>
              <a:rPr sz="1800" b="0">
                <a:solidFill>
                  <a:srgbClr val="F3F6FA"/>
                </a:solidFill>
                <a:latin typeface="Microsoft YaHei"/>
                <a:ea typeface="Microsoft YaHei"/>
              </a:rPr>
              <a:t>结论：影像已定性，伤残尚未鉴定，现在不能报残级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</a:rPr>
              <a:t>内部决策简报  ·  2026年8月17日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先看结论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</a:rPr>
              <a:t>病例链接打开后，只需要记住这三句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73152" cy="50292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25272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F5B"/>
                </a:solidFill>
                <a:latin typeface="Microsoft YaHei"/>
                <a:ea typeface="Microsoft YaHei"/>
              </a:rPr>
              <a:t>1. 谁受伤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545336"/>
            <a:ext cx="3337560" cy="452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只有 64 岁男性胡某。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三份 CT 都是他的：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右小腿、右足、术后右踝。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家属胡继刚是对接人，不是伤者。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骑手没有本次伤残材料。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4300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143000"/>
            <a:ext cx="73152" cy="502920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25272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63D2F"/>
                </a:solidFill>
                <a:latin typeface="Microsoft YaHei"/>
                <a:ea typeface="Microsoft YaHei"/>
              </a:rPr>
              <a:t>2. 伤了什么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545336"/>
            <a:ext cx="3337560" cy="452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本次外伤（急诊 CT）：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右胫骨远端骨折，移位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右腓骨近端骨折，移位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右踝关节半脱位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距骨内缘、外踝撕脱骨折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8月15日已做内外固定，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复查固定在位、位线可。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4300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143000"/>
            <a:ext cx="73152" cy="5029200"/>
          </a:xfrm>
          <a:prstGeom prst="rect">
            <a:avLst/>
          </a:prstGeom>
          <a:solidFill>
            <a:srgbClr val="B5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25272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57A2A"/>
                </a:solidFill>
                <a:latin typeface="Microsoft YaHei"/>
                <a:ea typeface="Microsoft YaHei"/>
              </a:rPr>
              <a:t>3. 谁伤残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545336"/>
            <a:ext cx="3337560" cy="452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现在：谁都还没有伤残等级。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CT 是影像诊断，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不是伤残鉴定书。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评残要等治疗终结后，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由司法鉴定机构做。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现在对外禁止说「几级残」。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青岛抚顺路和哈尔滨路路口交通事故 · 内部材料 · 底稿 08-17 补充 08-19 · 伤残尚未鉴定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齐鲁医院三份已审核 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</a:rPr>
              <a:t>检查号可直接用于病历和理赔材料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3657600" cy="64008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08-14 急诊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</a:rPr>
              <a:t>10008056847  右小腿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5176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胫骨远端+腓骨近端骨折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踝关节半脱位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距骨内缘、外踝撕脱骨折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软组织肿胀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4300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143000"/>
            <a:ext cx="3657600" cy="640080"/>
          </a:xfrm>
          <a:prstGeom prst="rect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6187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08-14 急诊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659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</a:rPr>
              <a:t>10008056848  右足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5176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组成骨完整，无新发骨折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退行性变、跟骨骨刺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第一跖骨头囊变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不计入本次评残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3657600" cy="6400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26187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08-15 住院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9659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</a:rPr>
              <a:t>10008059257  右踝术后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65176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手足与显微重建外科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内外固定在位，位线可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周围软组织仍肿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证明手术已在三甲完成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青岛抚顺路和哈尔滨路路口交通事故 · 内部材料 · 底稿 08-17 补充 08-19 · 伤残尚未鉴定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通话必须改口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</a:rPr>
              <a:t>得到大脑转写不能当诊断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11338560" cy="1170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070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63D2F"/>
                </a:solidFill>
                <a:latin typeface="Microsoft YaHei"/>
                <a:ea typeface="Microsoft YaHei"/>
              </a:rPr>
              <a:t>不要再说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Microsoft YaHei"/>
                <a:ea typeface="Microsoft YaHei"/>
              </a:rPr>
              <a:t>右脚后跟粉碎性骨折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F6B4F"/>
                </a:solidFill>
                <a:latin typeface="Microsoft YaHei"/>
                <a:ea typeface="Microsoft YaHei"/>
              </a:rPr>
              <a:t>右足 CT 无跟骨粉碎骨折，只有骨刺。粉碎在胫骨远端和踝关节。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77440"/>
            <a:ext cx="11338560" cy="1170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87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63D2F"/>
                </a:solidFill>
                <a:latin typeface="Microsoft YaHei"/>
                <a:ea typeface="Microsoft YaHei"/>
              </a:rPr>
              <a:t>不要再说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6148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Microsoft YaHei"/>
                <a:ea typeface="Microsoft YaHei"/>
              </a:rPr>
              <a:t>只是腓骨下段断了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F6B4F"/>
                </a:solidFill>
                <a:latin typeface="Microsoft YaHei"/>
                <a:ea typeface="Microsoft YaHei"/>
              </a:rPr>
              <a:t>报告写腓骨近端骨折，另有外踝撕脱。两处都要记。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657600"/>
            <a:ext cx="11338560" cy="1170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673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63D2F"/>
                </a:solidFill>
                <a:latin typeface="Microsoft YaHei"/>
                <a:ea typeface="Microsoft YaHei"/>
              </a:rPr>
              <a:t>不要再说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416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Microsoft YaHei"/>
                <a:ea typeface="Microsoft YaHei"/>
              </a:rPr>
              <a:t>打了两根或四根钢钉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F6B4F"/>
                </a:solidFill>
                <a:latin typeface="Microsoft YaHei"/>
                <a:ea typeface="Microsoft YaHei"/>
              </a:rPr>
              <a:t>术后 CT：内外固定在位。以手术记录为准。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937760"/>
            <a:ext cx="11338560" cy="1170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474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63D2F"/>
                </a:solidFill>
                <a:latin typeface="Microsoft YaHei"/>
                <a:ea typeface="Microsoft YaHei"/>
              </a:rPr>
              <a:t>不要再说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2180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Microsoft YaHei"/>
                <a:ea typeface="Microsoft YaHei"/>
              </a:rPr>
              <a:t>8月15日已经出院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F6B4F"/>
                </a:solidFill>
                <a:latin typeface="Microsoft YaHei"/>
                <a:ea typeface="Microsoft YaHei"/>
              </a:rPr>
              <a:t>当天住院 CT 在手足外科，仍在齐鲁术后复查。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青岛抚顺路和哈尔滨路路口交通事故 · 内部材料 · 底稿 08-17 补充 08-19 · 伤残尚未鉴定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伤残怎么处理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</a:rPr>
              <a:t>现在只准备，不报价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600" b="0">
                <a:solidFill>
                  <a:srgbClr val="1F2A37"/>
                </a:solidFill>
                <a:latin typeface="Microsoft YaHei"/>
                <a:ea typeface="Microsoft YaHei"/>
              </a:rPr>
              <a:t>评谁：只评伤者胡某。别人没有残。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600" b="0">
                <a:solidFill>
                  <a:srgbClr val="1F2A37"/>
                </a:solidFill>
                <a:latin typeface="Microsoft YaHei"/>
                <a:ea typeface="Microsoft YaHei"/>
              </a:rPr>
              <a:t>何时：治疗终结、临床相对稳定后。骨折内固定常见约伤后 3 个月以上，以鉴定机构书面要求为准。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600" b="0">
                <a:solidFill>
                  <a:srgbClr val="1F2A37"/>
                </a:solidFill>
                <a:latin typeface="Microsoft YaHei"/>
                <a:ea typeface="Microsoft YaHei"/>
              </a:rPr>
              <a:t>标准：道路交通事故用《人体损伤致残程度分级》。不要套工伤标准，不要用网上计算器报级。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600" b="0">
                <a:solidFill>
                  <a:srgbClr val="1F2A37"/>
                </a:solidFill>
                <a:latin typeface="Microsoft YaHei"/>
                <a:ea typeface="Microsoft YaHei"/>
              </a:rPr>
              <a:t>评什么：右踝功能、行走能力。右足骨刺、退变删掉。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600" b="0">
                <a:solidFill>
                  <a:srgbClr val="1F2A37"/>
                </a:solidFill>
                <a:latin typeface="Microsoft YaHei"/>
                <a:ea typeface="Microsoft YaHei"/>
              </a:rPr>
              <a:t>现在对外：禁止说已经几级。面谈不锁总包死价。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600" b="0">
                <a:solidFill>
                  <a:srgbClr val="1F2A37"/>
                </a:solidFill>
                <a:latin typeface="Microsoft YaHei"/>
                <a:ea typeface="Microsoft YaHei"/>
              </a:rPr>
              <a:t>医学内部判断：损伤较重，日后若踝关节明显受限，具备启动评残的基础；级数看功能，不看急诊片子。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青岛抚顺路和哈尔滨路路口交通事故 · 内部材料 · 底稿 08-17 补充 08-19 · 伤残尚未鉴定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交警视频排除全责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</a:rPr>
              <a:t>抚顺路批发市场 · 抚顺路和哈尔滨路路口 · 认定书尚未出具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5577840" cy="2286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73152" cy="2286000"/>
          </a:xfrm>
          <a:prstGeom prst="rect">
            <a:avLst/>
          </a:prstGeom>
          <a:solidFill>
            <a:srgbClr val="B5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252728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57A2A"/>
                </a:solidFill>
                <a:latin typeface="Microsoft YaHei"/>
                <a:ea typeface="Microsoft YaHei"/>
              </a:rPr>
              <a:t>三轮车（伤者）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545336"/>
            <a:ext cx="52578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货运三轮，可能被认定机动车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仅抚顺路批发市场内部牌，无青岛市号牌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驾驶人有驾驶资格证书；左转向灯失灵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护栏开口借道，先右再左大弧度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577840" cy="2286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73152" cy="228600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252728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F5B"/>
                </a:solidFill>
                <a:latin typeface="Microsoft YaHei"/>
                <a:ea typeface="Microsoft YaHei"/>
              </a:rPr>
              <a:t>美团二轮（女骑手）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545336"/>
            <a:ext cx="52578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未保持安全车距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后方视野更好，有条件规避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无交强险，靠平台保险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657600"/>
            <a:ext cx="11338560" cy="24688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94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F5B"/>
                </a:solidFill>
                <a:latin typeface="Microsoft YaHei"/>
                <a:ea typeface="Microsoft YaHei"/>
              </a:rPr>
              <a:t>可能结果只有两种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60520"/>
            <a:ext cx="10972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F2A37"/>
                </a:solidFill>
                <a:latin typeface="Microsoft YaHei"/>
                <a:ea typeface="Microsoft YaHei"/>
              </a:rPr>
              <a:t>① 双方同等责任　　② 三轮次责、外卖主责</a:t>
            </a:r>
          </a:p>
          <a:p>
            <a:pPr algn="l"/>
            <a:r>
              <a:rPr sz="1600" b="0">
                <a:solidFill>
                  <a:srgbClr val="1F2A37"/>
                </a:solidFill>
                <a:latin typeface="Microsoft YaHei"/>
                <a:ea typeface="Microsoft YaHei"/>
              </a:rPr>
              <a:t>任何一方全责，交警明确排除。法院看视频也不会超出这个范围。</a:t>
            </a:r>
          </a:p>
          <a:p>
            <a:pPr algn="l"/>
            <a:r>
              <a:rPr sz="1600" b="0">
                <a:solidFill>
                  <a:srgbClr val="1F2A37"/>
                </a:solidFill>
                <a:latin typeface="Microsoft YaHei"/>
                <a:ea typeface="Microsoft YaHei"/>
              </a:rPr>
              <a:t>8月15–16日家属按全责讨论，从今天起停用。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青岛抚顺路和哈尔滨路路口交通事故 · 内部材料 · 底稿 08-17 补充 08-19 · 伤残尚未鉴定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程序和钱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</a:rPr>
              <a:t>不要用一般程序去赌全责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73152" cy="5029200"/>
          </a:xfrm>
          <a:prstGeom prst="rect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252728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F6B4F"/>
                </a:solidFill>
                <a:latin typeface="Microsoft YaHei"/>
                <a:ea typeface="Microsoft YaHei"/>
              </a:rPr>
              <a:t>简易优先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545336"/>
            <a:ext cx="5257800" cy="452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不审车辆手续和驾照，快出认定书。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交警建议先协商走简易，避免己方无牌/可能无证被罚。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前提：问清美团平台保险在该责任比例下能否赔医疗费和日后伤残。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73152" cy="502920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252728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63D2F"/>
                </a:solidFill>
                <a:latin typeface="Microsoft YaHei"/>
                <a:ea typeface="Microsoft YaHei"/>
              </a:rPr>
              <a:t>钱从保险来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545336"/>
            <a:ext cx="5257800" cy="452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骑手个人偿付能力弱，交警已提醒判了也可能执行不到。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先要：保单/工号、理赔窗口、是否必须认定书。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刘孝春不替美团补差额；己方份额和车主过错另计。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责任方截至 8月16日一分未付。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青岛抚顺路和哈尔滨路路口交通事故 · 内部材料 · 底稿 08-17 补充 08-19 · 伤残尚未鉴定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转院与保险：核心只三点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</a:rPr>
              <a:t>这些材料大量重复。不另找三甲。费用按 4 万元核清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73152" cy="5029200"/>
          </a:xfrm>
          <a:prstGeom prst="rect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25272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F6B4F"/>
                </a:solidFill>
                <a:latin typeface="Microsoft YaHei"/>
                <a:ea typeface="Microsoft YaHei"/>
              </a:rPr>
              <a:t>1. 先完成原医院结算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545336"/>
            <a:ext cx="3337560" cy="452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齐鲁出院结算、33 床出院记录、押金原路退。跨院必须先结上一院，才能办人民医院入院。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完成：齐鲁出院手续办完，人民医院能收材料。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4300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143000"/>
            <a:ext cx="73152" cy="502920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25272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F5B"/>
                </a:solidFill>
                <a:latin typeface="Microsoft YaHei"/>
                <a:ea typeface="Microsoft YaHei"/>
              </a:rPr>
              <a:t>2. 确认新医院能否正常入院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545336"/>
            <a:ext cx="3337560" cy="452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市北区人民医院（抚顺路院区）办住院号。医疗安全为先：手续卡住先问齐鲁能否收回，不要另找三甲碰运气。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完成：住院号办成。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4300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143000"/>
            <a:ext cx="73152" cy="5029200"/>
          </a:xfrm>
          <a:prstGeom prst="rect">
            <a:avLst/>
          </a:prstGeom>
          <a:solidFill>
            <a:srgbClr val="B5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25272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57A2A"/>
                </a:solidFill>
                <a:latin typeface="Microsoft YaHei"/>
                <a:ea typeface="Microsoft YaHei"/>
              </a:rPr>
              <a:t>3. 向实际承保公司书面确认二甲医院的赔付资格和比例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545336"/>
            <a:ext cx="3337560" cy="452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骑手拉群报案。要保单号、书面比例。不依赖交警、医院或非经办人员的口头判断。家属确认可以赔、比例待定，不等于书面已到。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完成：书面或群内文字：认不认人民医院、比例多少。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青岛抚顺路和哈尔滨路路口交通事故 · 内部材料 · 底稿 08-17 补充 08-19 · 伤残尚未鉴定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立即八事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</a:rPr>
              <a:t>律师看完监控再定程序。现在不谈总赔偿数额、不定残级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</a:rPr>
              <a:t>1. 向交警确认书面事故认定书的进度，并索取事故编号、监控保存情况及简易/一般程序的书面说明。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</a:rPr>
              <a:t>2. 在同意任何责任比例或程序选择前，让处理交通事故的本地律师查看监控和车辆材料，尤其评估一般程序可能带来的车辆与驾驶资格风险。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</a:rPr>
              <a:t>3. 向实际承保保险公司报案并取得书面答复，不再依赖交警、医院或非经办人员的口头判断。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</a:rPr>
              <a:t>4. 以医疗安全为先确定住院地点，补齐齐鲁医院出院结算、出院记录和市北区人民医院入院材料。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</a:rPr>
              <a:t>5. 立即建立费用台账，逐笔核清 4 万元金额。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</a:rPr>
              <a:t>6. 保存事故监控、全部病历、票据、转运材料及沟通记录原件和电子备份。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</a:rPr>
              <a:t>7. 核实伤者与用工方关系、车辆归属、工资结算和事故当日工作任务，为可能的工伤或用工责任主张留证。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</a:rPr>
              <a:t>8. 待病情稳定并达到鉴定条件后，再由有资质机构进行伤残鉴定；不要根据录音中的推测提前确定等级或金额。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青岛抚顺路和哈尔滨路路口交通事故 · 内部材料 · 底稿 08-17 补充 08-19 · 伤残尚未鉴定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面谈禁用清单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</a:rPr>
              <a:t>说错一句，责任和评残都会被对方抓住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1133856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109728" cy="68580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63D2F"/>
                </a:solidFill>
                <a:latin typeface="Microsoft YaHei"/>
                <a:ea typeface="Microsoft YaHei"/>
              </a:rPr>
              <a:t>对方全责 / 已经几级伤残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74520"/>
            <a:ext cx="1133856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874520"/>
            <a:ext cx="109728" cy="68580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391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63D2F"/>
                </a:solidFill>
                <a:latin typeface="Microsoft YaHei"/>
                <a:ea typeface="Microsoft YaHei"/>
              </a:rPr>
              <a:t>右脚后跟粉碎性骨折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651760"/>
            <a:ext cx="1133856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651760"/>
            <a:ext cx="109728" cy="68580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1635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63D2F"/>
                </a:solidFill>
                <a:latin typeface="Microsoft YaHei"/>
                <a:ea typeface="Microsoft YaHei"/>
              </a:rPr>
              <a:t>医保能报就是美团险能报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429000"/>
            <a:ext cx="1133856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429000"/>
            <a:ext cx="109728" cy="68580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9359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63D2F"/>
                </a:solidFill>
                <a:latin typeface="Microsoft YaHei"/>
                <a:ea typeface="Microsoft YaHei"/>
              </a:rPr>
              <a:t>已经是康复期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206240"/>
            <a:ext cx="1133856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206240"/>
            <a:ext cx="109728" cy="68580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7083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63D2F"/>
                </a:solidFill>
                <a:latin typeface="Microsoft YaHei"/>
                <a:ea typeface="Microsoft YaHei"/>
              </a:rPr>
              <a:t>装病 / 出院再入院绕考核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983480"/>
            <a:ext cx="1133856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983480"/>
            <a:ext cx="109728" cy="68580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4807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63D2F"/>
                </a:solidFill>
                <a:latin typeface="Microsoft YaHei"/>
                <a:ea typeface="Microsoft YaHei"/>
              </a:rPr>
              <a:t>现在谈总赔偿数额 / 一次性打包了结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青岛抚顺路和哈尔滨路路口交通事故 · 内部材料 · 底稿 08-17 补充 08-19 · 伤残尚未鉴定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