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963E"/>
                </a:solidFill>
                <a:latin typeface="微软雅黑"/>
              </a:rPr>
              <a:t>联合发起　·　面向杨浦　·　链接复旦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复旦杨浦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科创生态共建计划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3CBD4"/>
                </a:solidFill>
                <a:latin typeface="微软雅黑"/>
              </a:rPr>
              <a:t>以住房政策研究为纽带，连接科技企业、产业资源与高端客户群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C8963E"/>
                </a:solidFill>
                <a:latin typeface="微软雅黑"/>
              </a:rPr>
              <a:t>联合组织单位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复旦大学住房政策研究中心　×　杨浦区科技企业联合会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3CBD4"/>
                </a:solidFill>
                <a:latin typeface="微软雅黑"/>
              </a:rPr>
              <a:t>秘书长 / 会长　联合发起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0644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0F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33872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促招商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80644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0F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833872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强链条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580644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0F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5833872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聚人群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963E"/>
                </a:solidFill>
                <a:latin typeface="微软雅黑"/>
              </a:rPr>
              <a:t>CONTENTS　本次汇报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一场活动，三重价值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84247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4767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为什么是现在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21991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把「资源相遇」变成「生态共建」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5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7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2491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三大目标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99231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促招商 · 强链条 · 聚人群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899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38727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0215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活动怎么做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776471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认识 → 对话 → 匹配 → 跟进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3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7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7939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谁应该来到这里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553711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让有合作可能的人坐到同一张桌旁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79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93207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5663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活动信息与合作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330951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报名、对接与后续跟进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01　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把「资源相遇」，变成「生态共建」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C3CBD4"/>
                </a:solidFill>
                <a:latin typeface="微软雅黑"/>
              </a:rPr>
              <a:t>一个区域的科创活力，从来不是靠企业数量堆出来的。真正决定高度的，是连接的密度。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C3CBD4"/>
                </a:solidFill>
                <a:latin typeface="微软雅黑"/>
              </a:rPr>
              <a:t>杨浦拥有深厚的科创基因与产业腹地；复旦汇聚政策研究能力、学术智力与高层次人才网络。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8963E"/>
                </a:solidFill>
                <a:latin typeface="微软雅黑"/>
              </a:rPr>
              <a:t>核心判断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招商不是一次性的「引进」，而是围绕企业全生命周期，持续链接空间、政策、资本、技术、人才与客户。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8963E"/>
                </a:solidFill>
                <a:latin typeface="微软雅黑"/>
              </a:rPr>
              <a:t>01　落地连接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463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企业与杨浦产业空间、政策服务、应用场景建立明确联系。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062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8963E"/>
                </a:solidFill>
                <a:latin typeface="微软雅黑"/>
              </a:rPr>
              <a:t>02　合作线索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企业与高校院所、投资机构、上下游伙伴形成可跟进的合作线索。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062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389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8963E"/>
                </a:solidFill>
                <a:latin typeface="微软雅黑"/>
              </a:rPr>
              <a:t>03　长期圈层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84632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从「来参加一次活动」，走向「进入一个长期有价值的圈层」。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02　三大目标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我们只做三件事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三件事，一条逻辑：让有价值的连接，反复发生。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128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促进招商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240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6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226771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C8963E"/>
                </a:solidFill>
                <a:latin typeface="微软雅黑"/>
              </a:rPr>
              <a:t>引资源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5176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让优质科技企业更了解杨浦、走进杨浦、落地杨浦。把空间、政策、场景、客户一次讲清楚。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3872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促进生态链达成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56616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6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59359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C8963E"/>
                </a:solidFill>
                <a:latin typeface="微软雅黑"/>
              </a:rPr>
              <a:t>强协同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776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让企业与产业伙伴、科研机构、资本方及应用场景高效对接，形成可跟进、可落地的合作线索。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86460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促进高端客户群形成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89204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16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91947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C8963E"/>
                </a:solidFill>
                <a:latin typeface="微软雅黑"/>
              </a:rPr>
              <a:t>聚人群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以高质量活动聚合高质量人群，沉淀长期互信与合作关系。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02.1　目标一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促进招商：把「引进来」做成「留得住」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不做单向招引。把空间、政策、场景、客户一次讲清楚——企业自己会算这笔账。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51760" cy="25603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产业载体、办公与中试场地匹配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2651760" cy="25603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政策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专项扶持、人才政策与申报辅导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651760" cy="25603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区域应用场景与首试首用机会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2651760" cy="25603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017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客户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本地及长三角高质量客户资源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招商的本质是让企业算清一笔账：在这里，成本、效率、客户与成长速度，是不是更优。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02.2　目标二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促进生态链达成：让对接真正落到项目上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科技企业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8963E"/>
                </a:solidFill>
                <a:latin typeface="微软雅黑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737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产业伙伴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8963E"/>
                </a:solidFill>
                <a:latin typeface="微软雅黑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科研机构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8963E"/>
                </a:solidFill>
                <a:latin typeface="微软雅黑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459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737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资本方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737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8963E"/>
                </a:solidFill>
                <a:latin typeface="微软雅黑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7373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应用场景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992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需求收集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2900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会前征集企业真实诉求，形成结构化需求清单。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7432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9992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定向匹配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2900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按行业、阶段与诉求做点对点安排，而非自由社交。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976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5537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现场对接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8348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一对一洽谈 + 小范围闭门交流，当场推进到下一步。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976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5262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8963E"/>
                </a:solidFill>
                <a:latin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45537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会后跟进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98348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建立跟进台账与回访机制，让线索转化可追踪。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02.3　目标三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促进高端客户群形成：把一次见面变成长期关系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圈层不是被组织出来的，是被反复见面沉淀出来的。以小而精控制规模与质量：宁可人少一点，也要让每一次见面都值得。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专业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有判断力的内容，而非泛泛的致辞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46888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开放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747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愿意共享资源、认真对话的参与者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精准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747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按诉求定向匹配，不做无效社交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46888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8346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持续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4747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形成年度节奏，长期滚动运营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高质量的人群，是高质量活动反复筛选出来的结果——这需要时间，也值得时间。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03　活动怎么做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从一次相聚，到一条可持续的生态链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强调「认识 → 对话 → 匹配 → 跟进」的完整闭环。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主题引导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1460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围绕住房政策、科技产业、企业发展与区域机会，输出有价值的趋势判断。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54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企业呈现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47472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精选科技企业与产业项目，讲清技术、产品、场景与合作诉求。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4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资源对接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3484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组织企业、投资、科研、园区、服务机构与高端客户进行定向交流。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6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8963E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74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持续跟进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9496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沉淀需求清单、合作线索与后续拜访机制，让活动成果可追踪。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03.1　活动单元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四个单元，各司其职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299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主旨分享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复旦智力与杨浦实践的交汇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963E"/>
                </a:solidFill>
                <a:latin typeface="微软雅黑"/>
              </a:rPr>
              <a:t>40 分钟 · 1–2 位主讲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299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圆桌对话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科技企业如何在区域中找到成长坐标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175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963E"/>
                </a:solidFill>
                <a:latin typeface="微软雅黑"/>
              </a:rPr>
              <a:t>45 分钟 · 4–5 位嘉宾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33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项目路演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企业把需求说清楚，把机会讲明白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963E"/>
                </a:solidFill>
                <a:latin typeface="微软雅黑"/>
              </a:rPr>
              <a:t>每家 8 分钟 · 5–6 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404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114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133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闭门交流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7091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面向重点企业与高端客户的定向洽谈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206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963E"/>
                </a:solidFill>
                <a:latin typeface="微软雅黑"/>
              </a:rPr>
              <a:t>限额邀请制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04　谁应该来到这里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让真正有合作可能的人，坐到同一张桌旁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科技企业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寻找落地空间、产业协同、政策服务、投融资与高端客户。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41732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1691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投资与金融机构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发现具有成长潜力的项目，建立长期观察与服务关系。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41732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6916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高校院所与科研团队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推动技术成果、人才资源与企业应用场景有效连接。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产业链伙伴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围绕供应链、客户、渠道、技术和服务展开合作。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19" y="338328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园区与专业服务机构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41605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提供空间、人才、法务、财税、品牌等综合支持。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383280"/>
            <a:ext cx="3566160" cy="17830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3657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8963E"/>
                </a:solidFill>
                <a:latin typeface="微软雅黑"/>
              </a:rPr>
              <a:t>高端客户群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41605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以专业判断与产业视野，参与更有价值的生态网络。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</a:rPr>
              <a:t>我们寻找的伙伴：愿意开放资源、认真对话、长期合作——把「单点机会」变成「生态增量」。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04.1　参与收获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参与者将获得什么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区域理解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获得区域机会与政策环境的第一手理解，判断更准，决策更快。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6517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合作机会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38328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与目标伙伴深入交流、验证需求，形成可执行的合作方案。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3736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21031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C8963E"/>
                </a:solidFill>
                <a:latin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26517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长期平台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338328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进入由复旦智力、杨浦产业与企业家网络共同支撑的连接平台。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我们不做「来了、听了、散了」的活动；我们做「认识了、对上了、跟进了」的连接。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05　活动信息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报名与合作咨询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675120" cy="7772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活动时间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【待定】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6675120" cy="7772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活动地点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【待定】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6675120" cy="7772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活动形式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主旨分享 · 圆桌对话 · 项目路演 · 闭门交流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59"/>
            <a:ext cx="6675120" cy="77724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7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8963E"/>
                </a:solidFill>
                <a:latin typeface="微软雅黑"/>
              </a:rPr>
              <a:t>参与规模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36007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【待定】人（限额，需审核）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645920"/>
            <a:ext cx="3931920" cy="3383280"/>
          </a:xfrm>
          <a:prstGeom prst="roundRect">
            <a:avLst>
              <a:gd name="adj" fmla="val 8000"/>
            </a:avLst>
          </a:prstGeom>
          <a:solidFill>
            <a:srgbClr val="08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9202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8963E"/>
                </a:solidFill>
                <a:latin typeface="微软雅黑"/>
              </a:rPr>
              <a:t>联系方式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23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联系人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231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【姓名】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17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电话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0175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【电话】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微信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11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【微信】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206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BD4"/>
                </a:solidFill>
                <a:latin typeface="微软雅黑"/>
              </a:rPr>
              <a:t>公众号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206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复联会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3CBD4"/>
                </a:solidFill>
                <a:latin typeface="微软雅黑"/>
              </a:rPr>
              <a:t>参与对象：科技企业｜投资机构｜高校院所｜产业伙伴｜园区及专业服务机构｜高端客户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3CBD4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8963E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资源不会自己相遇，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合作不会自动发生。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3CBD4"/>
                </a:solidFill>
                <a:latin typeface="微软雅黑"/>
              </a:rPr>
              <a:t>但只要把对的人放在一起，剩下的事情，会比想象中快。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0292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复旦杨浦科创生态共建计划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8963E"/>
                </a:solidFill>
                <a:latin typeface="微软雅黑"/>
              </a:rPr>
              <a:t>复旦大学住房政策研究中心　｜　杨浦区科技企业联合会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8963E"/>
                </a:solidFill>
                <a:latin typeface="微软雅黑"/>
              </a:rPr>
              <a:t>关注「复联会」，获取活动信息与合作机会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