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7818120" y="0"/>
            <a:ext cx="4389120" cy="6858000"/>
          </a:xfrm>
          <a:prstGeom prst="rect">
            <a:avLst/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25880"/>
            <a:ext cx="109728" cy="123444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234440"/>
            <a:ext cx="658368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2026年10—12月执行方案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691640"/>
            <a:ext cx="667512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让老客户愿意再来</a:t>
            </a:r>
          </a:p>
          <a:p>
            <a:pPr algn="l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让新客户进得来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泰隆银行小微与科技企业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参访与高端小局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658368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单场费用不超过 5000 元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复旦住房政策研究中心 · 杨浦区科企联 · 上海市科企联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拟合作方：浙江泰隆商业银行上海地区机构（以最终确认为准）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554480"/>
            <a:ext cx="3749039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600"/>
              </a:spcAft>
            </a:pPr>
            <a:r>
              <a:rPr sz="16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这一版只抓三件事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场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10/22 至 12/17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≤5000 元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每场决算硬顶</a:t>
            </a:r>
          </a:p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 月最密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4 场参访 + 3 场小局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这一版怎么执行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今天是 9 月 22 日。8 月和 9 月上旬不再回补，从国庆后直接排能落地的场次。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原则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91440" cy="141732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536192"/>
            <a:ext cx="10607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01  钱有硬顶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01168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每一场决算不超过 5000 元。报价超了就减项，不追加、不挪到下一场冲销。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8036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880360"/>
            <a:ext cx="91440" cy="141732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136392"/>
            <a:ext cx="10607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02  年底走出去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1188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10 月 1 场热身，11 月 3 场，12 月 3 场。参访和高端小局为主，不上大型年会。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48056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480560"/>
            <a:ext cx="91440" cy="141732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36592"/>
            <a:ext cx="10607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03  人被接住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客户经理陪自己的客户。老客户当天被记住；新客户 5 个工作日内有人联系。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相对上一版改了什么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保留合规边界和跟进台账，把花钱方式和评价方式改过来。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调整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205740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198424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234440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234440"/>
            <a:ext cx="445312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上一版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234440"/>
            <a:ext cx="461772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1234440"/>
            <a:ext cx="454456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这一版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933956"/>
            <a:ext cx="205740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933956"/>
            <a:ext cx="1965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时间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1933956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23744" y="1933956"/>
            <a:ext cx="44348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8—12 月，每月 1 场大场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1933956"/>
            <a:ext cx="461772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5744" y="1933956"/>
            <a:ext cx="45262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10/22—12/17，共 7 场小场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28900"/>
            <a:ext cx="205740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2628900"/>
            <a:ext cx="1965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费用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68880" y="2628900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23744" y="2628900"/>
            <a:ext cx="44348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单场可达数万元，全年约 20 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2628900"/>
            <a:ext cx="461772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5744" y="2628900"/>
            <a:ext cx="45262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单场硬顶 5000 元，全年不超过 3.5 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323844"/>
            <a:ext cx="205740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3323844"/>
            <a:ext cx="1965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形态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0" y="3323844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23744" y="3323844"/>
            <a:ext cx="44348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旗舰分享会 + 年底年会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323844"/>
            <a:ext cx="461772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95744" y="3323844"/>
            <a:ext cx="45262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参访 4 场，高端小局 3 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018788"/>
            <a:ext cx="205740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4018788"/>
            <a:ext cx="1965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0" y="4018788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23744" y="4018788"/>
            <a:ext cx="44348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服务转化数量为主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4018788"/>
            <a:ext cx="461772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95744" y="4018788"/>
            <a:ext cx="45262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老客户满意，新客户有人跟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713732"/>
            <a:ext cx="205740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4713732"/>
            <a:ext cx="1965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人力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68880" y="4713732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23744" y="4713732"/>
            <a:ext cx="44348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单场约 17—20 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40880" y="4713732"/>
            <a:ext cx="461772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95744" y="4713732"/>
            <a:ext cx="45262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单场 8—12 人，客户经理陪同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5408676"/>
            <a:ext cx="205740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5408676"/>
            <a:ext cx="196596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礼品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68880" y="5408676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23744" y="5408676"/>
            <a:ext cx="44348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未单列约束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040880" y="5408676"/>
            <a:ext cx="461772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95744" y="5408676"/>
            <a:ext cx="45262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默认不采购伴手礼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两项目标，都要能核对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不开成发布会。客户带得走的是一次被好好对待的体验，和新的一次联系。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73152" cy="4937760"/>
          </a:xfrm>
          <a:prstGeom prst="rect">
            <a:avLst/>
          </a:prstGeom>
          <a:solidFill>
            <a:srgbClr val="4EA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44168"/>
            <a:ext cx="5376672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存量客户：开心、愿意再来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09928"/>
            <a:ext cx="5358384" cy="43525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客户经理全程坐在自己客户旁边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半天结束，13:30—16:30，不占全天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离场前复述一句：今天为您记下的事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次日问一句感受，不满意 2 日内电话回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7 场累计存量客户不少于 60 人次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每场满意度不低于 90%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493776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44168"/>
            <a:ext cx="5285232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新客户：进得来、有人接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09928"/>
            <a:ext cx="5266944" cy="43525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客户经理提名，不公开海投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老客户可带 1 家同行或上下游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新客户离场时知道对接人是谁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5 个工作日内完成第一次联系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7 场累计新客到场不少于 25 家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不承诺额度、利率和放款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年底把场次做密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同一位客户默认不连续出席相邻两场，除非客户自己提出。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节奏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3657600" cy="32461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10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热身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32004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10/22 参访
先把线路和陪同跑顺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280160"/>
            <a:ext cx="3657600" cy="32461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630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11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加密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154680"/>
            <a:ext cx="32004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1 场参访 + 2 场小局
老客户与新客户分开照顾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280160"/>
            <a:ext cx="3657600" cy="324612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12 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920240"/>
            <a:ext cx="3200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3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651760"/>
            <a:ext cx="3200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做满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154680"/>
            <a:ext cx="32004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2 场参访 + 1 场答谢
把感谢和次年预约做完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54880"/>
            <a:ext cx="112471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排不开时的取舍：先保住参访。若客户经理陪同冲突，11 月 26 日新客小局并入 12 月 17 日，12 月三场不减。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被访企业临时取消时：改到银行贵宾会议室做同主题小局，照常接待已确认的客户，费用仍不超过 5000 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七场日历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全部安排在周四下午。场地用银行贵宾室或企业现场，不租酒店。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日历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70432"/>
            <a:ext cx="59436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70432"/>
            <a:ext cx="52120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170432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170432"/>
            <a:ext cx="143560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日期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14600" y="1170432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1170432"/>
            <a:ext cx="12527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类型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1170432"/>
            <a:ext cx="315468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170432"/>
            <a:ext cx="308152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主题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170432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170432"/>
            <a:ext cx="13441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客户数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1170432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1170432"/>
            <a:ext cx="299008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这场为了什么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1778508"/>
            <a:ext cx="5943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" y="1778508"/>
            <a:ext cx="502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1778508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" y="1778508"/>
            <a:ext cx="1417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10/22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14600" y="1778508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9464" y="1778508"/>
            <a:ext cx="1234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参访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1778508"/>
            <a:ext cx="315468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41064" y="1778508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智能制造 / 具身智能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177850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41464" y="1778508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49640" y="1778508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4504" y="1778508"/>
            <a:ext cx="2971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让老客户先感到被重视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2382012"/>
            <a:ext cx="5943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" y="2382012"/>
            <a:ext cx="502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2382012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" y="2382012"/>
            <a:ext cx="1417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14600" y="2382012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9464" y="2382012"/>
            <a:ext cx="1234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高端小局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86200" y="2382012"/>
            <a:ext cx="315468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41064" y="2382012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重点客户私享问诊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86600" y="2382012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41464" y="2382012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49640" y="2382012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04504" y="2382012"/>
            <a:ext cx="2971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把经营问题听清楚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" y="2985516"/>
            <a:ext cx="5943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" y="2985516"/>
            <a:ext cx="502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0120" y="2985516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4984" y="2985516"/>
            <a:ext cx="1417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11/19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14600" y="2985516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569464" y="2985516"/>
            <a:ext cx="1234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参访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86200" y="2985516"/>
            <a:ext cx="315468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41064" y="2985516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链主企业或 AI 应用现场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086600" y="2985516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41464" y="2985516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49640" y="2985516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04504" y="2985516"/>
            <a:ext cx="2971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老客户带新客户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" y="3589020"/>
            <a:ext cx="5943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4904" y="3589020"/>
            <a:ext cx="502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60120" y="3589020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4984" y="3589020"/>
            <a:ext cx="1417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11/26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2514600" y="3589020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569464" y="3589020"/>
            <a:ext cx="1234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高端小局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886200" y="3589020"/>
            <a:ext cx="315468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41064" y="3589020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意向新客闭门局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086600" y="3589020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41464" y="3589020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549640" y="3589020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04504" y="3589020"/>
            <a:ext cx="2971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新客户建立信任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20040" y="4192524"/>
            <a:ext cx="5943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904" y="4192524"/>
            <a:ext cx="502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0120" y="4192524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14984" y="4192524"/>
            <a:ext cx="1417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12/3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514600" y="4192524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569464" y="4192524"/>
            <a:ext cx="1234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参访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86200" y="4192524"/>
            <a:ext cx="315468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941064" y="4192524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跨境窗口或园区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086600" y="4192524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41464" y="4192524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49640" y="4192524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04504" y="4192524"/>
            <a:ext cx="2971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把出海变成看得见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0040" y="4796028"/>
            <a:ext cx="5943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4904" y="4796028"/>
            <a:ext cx="502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60120" y="4796028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14984" y="4796028"/>
            <a:ext cx="1417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12/10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2514600" y="4796028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569464" y="4796028"/>
            <a:ext cx="1234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参访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886200" y="4796028"/>
            <a:ext cx="315468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941064" y="4796028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客户点名的标杆企业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086600" y="4796028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41464" y="4796028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8549640" y="4796028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04504" y="4796028"/>
            <a:ext cx="2971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年底答谢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20040" y="5399532"/>
            <a:ext cx="5943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4904" y="5399532"/>
            <a:ext cx="5029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60120" y="5399532"/>
            <a:ext cx="15087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14984" y="5399532"/>
            <a:ext cx="1417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12/17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514600" y="5399532"/>
            <a:ext cx="132588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569464" y="5399532"/>
            <a:ext cx="12344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高端小局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886200" y="5399532"/>
            <a:ext cx="315468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941064" y="5399532"/>
            <a:ext cx="306324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年度收官与次年预约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086600" y="5399532"/>
            <a:ext cx="141732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141464" y="5399532"/>
            <a:ext cx="1325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549640" y="5399532"/>
            <a:ext cx="306324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604504" y="5399532"/>
            <a:ext cx="297180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感谢，并约下一次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名额怎么分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先保老客户的体验，再留出新客户的位子。工作人员不占客户名额。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名额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207568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类型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234440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1234440"/>
            <a:ext cx="189280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客户人数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23444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234440"/>
            <a:ext cx="207568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存量客户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23444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234440"/>
            <a:ext cx="207568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新客户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234440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234440"/>
            <a:ext cx="244144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邀请方式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1915668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1915668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精品参访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1915668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15184" y="1915668"/>
            <a:ext cx="18745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16—18 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1915668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1915668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约 10—12 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1915668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21424" y="1915668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约 4—6 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1915668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15984" y="1915668"/>
            <a:ext cx="2423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客户经理一对一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592324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2592324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高端小局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2592324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15184" y="2592324"/>
            <a:ext cx="18745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 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592324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26864" y="2592324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重点客户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0" y="2592324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424" y="2592324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按主题另留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61120" y="2592324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15984" y="2592324"/>
            <a:ext cx="2423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提名，不公开报名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326898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3268980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11/26 新客局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60320" y="3268980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15184" y="3268980"/>
            <a:ext cx="18745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 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326898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6864" y="3268980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位老客户背书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0" y="3268980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21424" y="3268980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位新客户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61120" y="3268980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15984" y="3268980"/>
            <a:ext cx="2423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老客户带 1 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3945636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" y="3945636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12/17 收官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60320" y="3945636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15184" y="3945636"/>
            <a:ext cx="18745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 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0" y="3945636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26864" y="3945636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高满意客户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66560" y="3945636"/>
            <a:ext cx="214884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21424" y="3945636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在跟的新客户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961120" y="3945636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15984" y="3945636"/>
            <a:ext cx="2423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只邀愿意再来的人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709160"/>
            <a:ext cx="1124712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 9 月 24 日前交出两张名单：重点存量客户 8 家，意向新客户 5 家。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相邻两场名单默认不重复。一位老客户整个季度被邀请不超过 3 次，避免邀烦。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5000 元以内怎么花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数字是建议列支。单项可以调，单场合计不能过 5000。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预算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88720"/>
            <a:ext cx="216712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费用项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188720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1188720"/>
            <a:ext cx="280720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参访（16人）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188720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1188720"/>
            <a:ext cx="280720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高端小局（12人）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1188720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1188720"/>
            <a:ext cx="2898648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收官小局（16人）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687068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1687068"/>
            <a:ext cx="2148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场地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1687068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06624" y="1687068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0，企业现场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1687068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32704" y="1687068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0，银行贵宾室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1687068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58784" y="1687068"/>
            <a:ext cx="2880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0，银行贵宾室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180844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2180844"/>
            <a:ext cx="2148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交通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2180844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06624" y="2180844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2180844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32704" y="2180844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2180844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58784" y="2180844"/>
            <a:ext cx="2880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2674620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2674620"/>
            <a:ext cx="2148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茶水 / 茶叙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51760" y="2674620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6624" y="2674620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2674620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32704" y="2674620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2674620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8784" y="2674620"/>
            <a:ext cx="2880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2400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3168396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3168396"/>
            <a:ext cx="2148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物料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51760" y="3168396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6624" y="3168396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77840" y="3168396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32704" y="3168396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03920" y="3168396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58784" y="3168396"/>
            <a:ext cx="2880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3662172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" y="3662172"/>
            <a:ext cx="2148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应急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51760" y="3662172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6624" y="3662172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77840" y="3662172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32704" y="3662172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03920" y="3662172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58784" y="3662172"/>
            <a:ext cx="2880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4155948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" y="4155948"/>
            <a:ext cx="2148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建议合计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651760" y="4155948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06624" y="4155948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3200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577840" y="4155948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32704" y="4155948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2500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03920" y="4155948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58784" y="4155948"/>
            <a:ext cx="2880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3200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" y="4649724"/>
            <a:ext cx="224028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" y="4649724"/>
            <a:ext cx="21488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硬顶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651760" y="4649724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6624" y="4649724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577840" y="4649724"/>
            <a:ext cx="288036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32704" y="4649724"/>
            <a:ext cx="27889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5000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503920" y="4649724"/>
            <a:ext cx="2971800" cy="4572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58784" y="4649724"/>
            <a:ext cx="288036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默认不采购伴手礼、不请付费嘉宾、不请摄影团队。余量留下，不主动花完。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费用闸门：过线就停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Excel「决算闸门」里，金额大于 5000 会显示超支。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闸门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51206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预算表超过 5000 元，不得发出邀请。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采购前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51206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活动前 5 天复核报价。超了就减茶歇、减交通或减物料。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5661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决算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26280"/>
            <a:ext cx="51206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录入超过 5000 元，下一场改为零采购：只用场地和自带茶水。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566160"/>
            <a:ext cx="5623560" cy="20574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886200"/>
            <a:ext cx="51206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礼品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526280"/>
            <a:ext cx="51206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要采购须合规书面同意，且整场仍然不超过 5000 元。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不花钱堆出来的高端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高端指人被照顾到，不是酒店和礼品。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体验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508760"/>
            <a:ext cx="32918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人少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03120"/>
            <a:ext cx="3291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参访不超过 18 位客户，小局 12 位。每个人都有位子、有人认识。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23444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1508760"/>
            <a:ext cx="32918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有人陪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103120"/>
            <a:ext cx="3291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客户经理陪自己的客户走完全程，不把客户留在会场。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3444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508760"/>
            <a:ext cx="32918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只一件事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103120"/>
            <a:ext cx="3291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一场只一个主题。讲不完的内容记进服务卡，不往议程里加。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0332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77640"/>
            <a:ext cx="32918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半天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572000"/>
            <a:ext cx="3291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13:30 开始，16:30 结束。参访动线控制在 90 分钟内。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0332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8" y="3977640"/>
            <a:ext cx="32918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被记住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4572000"/>
            <a:ext cx="3291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离场前客户经理说出今天记下的那一件事，客户点头才算完成。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03320" cy="228600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3977640"/>
            <a:ext cx="32918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次日回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4572000"/>
            <a:ext cx="329184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第二天单独问候，不发群公告充数。不满意的，项目经理要知道。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四场参访：客户走出去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被访企业不收场地费。同意接待、路线和拍摄边界，三件事书面确认后再邀请客户。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参访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18872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125272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日期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1188720"/>
            <a:ext cx="2971800" cy="77724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188720"/>
            <a:ext cx="289864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去哪里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1188720"/>
            <a:ext cx="3246120" cy="77724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188720"/>
            <a:ext cx="317296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客户带走什么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188720"/>
            <a:ext cx="3429000" cy="77724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188720"/>
            <a:ext cx="3355848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启动条件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007108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" y="2007108"/>
            <a:ext cx="12344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10/22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91640" y="2007108"/>
            <a:ext cx="297180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46504" y="2007108"/>
            <a:ext cx="28803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智能制造或具身智能企业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2007108"/>
            <a:ext cx="324612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4024" y="2007108"/>
            <a:ext cx="31546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看见真实产线，老客户感到被请去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2007108"/>
            <a:ext cx="342900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55864" y="2007108"/>
            <a:ext cx="3337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国庆后 10/8 前锁定企业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2820924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" y="2820924"/>
            <a:ext cx="12344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11/19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2820924"/>
            <a:ext cx="297180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46504" y="2820924"/>
            <a:ext cx="28803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链主企业或 AI 应用现场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2820924"/>
            <a:ext cx="324612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64024" y="2820924"/>
            <a:ext cx="31546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老客户带 1 家同行或上下游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2820924"/>
            <a:ext cx="342900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55864" y="2820924"/>
            <a:ext cx="3337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10/30 前企业书面同意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363474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" y="3634740"/>
            <a:ext cx="12344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12/3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91640" y="3634740"/>
            <a:ext cx="297180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46504" y="3634740"/>
            <a:ext cx="28803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跨境窗口或园区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09160" y="3634740"/>
            <a:ext cx="324612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64024" y="3634740"/>
            <a:ext cx="31546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出海不再只是听一堂课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3634740"/>
            <a:ext cx="3429000" cy="77724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55864" y="3634740"/>
            <a:ext cx="3337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11/12 前确认开放范围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" y="4448556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4" y="4448556"/>
            <a:ext cx="12344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12/10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91640" y="4448556"/>
            <a:ext cx="297180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46504" y="4448556"/>
            <a:ext cx="28803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客户点名的标杆企业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09160" y="4448556"/>
            <a:ext cx="324612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64024" y="4448556"/>
            <a:ext cx="31546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答谢，主题来自客户愿望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1000" y="4448556"/>
            <a:ext cx="3429000" cy="77724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55864" y="4448556"/>
            <a:ext cx="333756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11/20 前从客户回访里选题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5623560"/>
            <a:ext cx="113385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现场秩序：无拍摄区、随行引导、材料不外带。客户经理负责自己的客户，不负责拉业务承诺。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三场高端小局：客户坐下来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银行贵宾会议室。条线负责人到场问候即可，不承诺某位行领导出席。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小局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3749039" cy="4937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73152" cy="4937760"/>
          </a:xfrm>
          <a:prstGeom prst="rect">
            <a:avLst/>
          </a:prstGeom>
          <a:solidFill>
            <a:srgbClr val="4EA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98448"/>
            <a:ext cx="3456431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11/5 私享问诊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664208"/>
            <a:ext cx="3438143" cy="43525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12 位重点存量客户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每家 8 分钟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只问清一件事和下一步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当场写下责任人与日期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不在现场判断能不能贷款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188720"/>
            <a:ext cx="3749039" cy="4937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188720"/>
            <a:ext cx="73152" cy="493776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298448"/>
            <a:ext cx="3456431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11/26 新客闭门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664208"/>
            <a:ext cx="3438143" cy="43525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4 位老客户 + 8 位新客户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老客户只讲自己的经营体验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不讲“我行保证审批”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新客户离场拿到对接人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5 个工作日内完成首联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18872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188720"/>
            <a:ext cx="73152" cy="493776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298448"/>
            <a:ext cx="3364992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12/17 年度收官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664208"/>
            <a:ext cx="3346704" cy="43525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邀请满意、愿意再来的客户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感谢具体到人，不念稿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未结事项当面约定时点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问明年还想看哪一类企业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当场记下次年意向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客户离开之后怎么接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服务事项仍要有人跟，但考核先看客户有没有被接住。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时限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189280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时点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1234440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234440"/>
            <a:ext cx="49103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必须做完的事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234440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234440"/>
            <a:ext cx="399592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算完成的标准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915668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" y="1915668"/>
            <a:ext cx="18745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当天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1915668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78024" y="1915668"/>
            <a:ext cx="4892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服务卡写下一件事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915668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7224" y="1915668"/>
            <a:ext cx="3977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客户点头，客户经理签名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592324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" y="2592324"/>
            <a:ext cx="18745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次日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23160" y="2592324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78024" y="2592324"/>
            <a:ext cx="4892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单独问感受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592324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07224" y="2592324"/>
            <a:ext cx="3977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满意 / 一般 / 不满意，有一句原因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268980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" y="3268980"/>
            <a:ext cx="18745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2 日内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23160" y="3268980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78024" y="3268980"/>
            <a:ext cx="4892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不满意的电话回访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3268980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07224" y="3268980"/>
            <a:ext cx="3977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项目经理知道原因和处理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3945636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" y="3945636"/>
            <a:ext cx="18745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3 个工作日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23160" y="3945636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78024" y="3945636"/>
            <a:ext cx="4892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台账建档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3945636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3945636"/>
            <a:ext cx="3977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客户类型、场次、需求可查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622292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" y="4622292"/>
            <a:ext cx="18745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5 个工作日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423160" y="4622292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78024" y="4622292"/>
            <a:ext cx="4892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新客户第一次联系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4622292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07224" y="4622292"/>
            <a:ext cx="3977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联系记录落到客户经理名下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5298948"/>
            <a:ext cx="196596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" y="5298948"/>
            <a:ext cx="18745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10 个工作日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23160" y="5298948"/>
            <a:ext cx="498348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78024" y="5298948"/>
            <a:ext cx="48920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服务事项第一次反馈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52360" y="5298948"/>
            <a:ext cx="4069080" cy="640080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07224" y="5298948"/>
            <a:ext cx="397764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受理、补件、转介或不适配，说清楚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邀请和现场可以说什么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客户高兴，来自被尊重；不来自被承诺。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话术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234440"/>
            <a:ext cx="73152" cy="4937760"/>
          </a:xfrm>
          <a:prstGeom prst="rect">
            <a:avLst/>
          </a:prstGeom>
          <a:solidFill>
            <a:srgbClr val="4EA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44168"/>
            <a:ext cx="5376672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可以这样说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709928"/>
            <a:ext cx="5358384" cy="43525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这场人少，客户经理会陪着您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去一家值得看的企业，半天结束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活动不收费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您可以带一位同行或合作伙伴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新客户 5 个工作日内会有人联系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贷款能否办理，由银行自己审批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3444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34440"/>
            <a:ext cx="73152" cy="493776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44168"/>
            <a:ext cx="5285232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不要这样说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709928"/>
            <a:ext cx="5266944" cy="43525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保证给额度、给利率、给放款时间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行长一定会见您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来了就有内部名额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送礼、返点或换开户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这场是发布某款联名产品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E6EEF3"/>
                </a:solidFill>
                <a:latin typeface="微软雅黑"/>
                <a:ea typeface="微软雅黑"/>
                <a:cs typeface="微软雅黑"/>
              </a:rPr>
              <a:t>• 在微信群里收财务报表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谁对客户负责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客户开不开心，先问陪同的客户经理，再问项目经理。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责任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234440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299008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事项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234440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234440"/>
            <a:ext cx="390448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谁拍板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0" y="1234440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234440"/>
            <a:ext cx="3904488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谁去办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933956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933956"/>
            <a:ext cx="2971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客户提名与陪同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933956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9584" y="1933956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0" y="1933956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1933956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28900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2628900"/>
            <a:ext cx="2971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满意度与次日回访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2628900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2628900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0" y="2628900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52944" y="2628900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3323844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3323844"/>
            <a:ext cx="2971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参访企业落实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323844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9584" y="3323844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项目经理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0" y="3323844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52944" y="3323844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科企联 / 项目办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018788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4018788"/>
            <a:ext cx="2971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单场不超过 5000 元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4018788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29584" y="4018788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项目经理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0" y="4018788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4018788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会务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713732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4713732"/>
            <a:ext cx="2971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对外说法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4713732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9584" y="4713732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银行合规窗口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0" y="4713732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4713732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主持人、客户经理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5408676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5408676"/>
            <a:ext cx="2971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新客户 5 日内联系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74720" y="5408676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29584" y="5408676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80" y="5408676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52944" y="5408676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6103620"/>
            <a:ext cx="30632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" y="6103620"/>
            <a:ext cx="29718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不满意升级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74720" y="6103620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29584" y="6103620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项目经理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98080" y="6103620"/>
            <a:ext cx="3977640" cy="65836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6103620"/>
            <a:ext cx="388620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客户经理先打电话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年底对得上的数字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不按贷款金额给这场活动打分。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88720"/>
            <a:ext cx="379476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88720"/>
            <a:ext cx="372160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88720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188720"/>
            <a:ext cx="189280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10月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188720"/>
            <a:ext cx="189280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11月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188720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188720"/>
            <a:ext cx="3172968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12月 / 累计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796796"/>
            <a:ext cx="37947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1796796"/>
            <a:ext cx="3703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场次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1796796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61104" y="1796796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796796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1796796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796796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4" y="1796796"/>
            <a:ext cx="31546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3，累计 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400300"/>
            <a:ext cx="37947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2400300"/>
            <a:ext cx="3703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存量客户人次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6240" y="2400300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61104" y="2400300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400300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2784" y="2400300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2400300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84464" y="2400300"/>
            <a:ext cx="31546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38，累计不少于 60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003804"/>
            <a:ext cx="37947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3003804"/>
            <a:ext cx="3703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新客户到场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3003804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61104" y="3003804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3003804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72784" y="3003804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3003804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4464" y="3003804"/>
            <a:ext cx="31546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12，累计不少于 25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3607308"/>
            <a:ext cx="37947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0624" y="3607308"/>
            <a:ext cx="3703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老客户转介到场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0" y="3607308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4" y="3607308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607308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2784" y="3607308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3607308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4464" y="3607308"/>
            <a:ext cx="31546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累计不少于 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210812"/>
            <a:ext cx="37947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0624" y="4210812"/>
            <a:ext cx="3703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满意度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6240" y="4210812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61104" y="4210812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≥90%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210812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72784" y="4210812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≥90%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4210812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84464" y="4210812"/>
            <a:ext cx="31546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每场都要 ≥90%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4814316"/>
            <a:ext cx="37947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" y="4814316"/>
            <a:ext cx="3703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新客 5 日内联系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06240" y="4814316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61104" y="4814316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4814316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72784" y="4814316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9600" y="4814316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4464" y="4814316"/>
            <a:ext cx="31546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100%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" y="5417820"/>
            <a:ext cx="37947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" y="5417820"/>
            <a:ext cx="37033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单场决算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206240" y="5417820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261104" y="5417820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≤5000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7920" y="5417820"/>
            <a:ext cx="196596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72784" y="5417820"/>
            <a:ext cx="187452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≤5000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29600" y="5417820"/>
            <a:ext cx="3246120" cy="566928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84464" y="5417820"/>
            <a:ext cx="31546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场全部 ≤5000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82880"/>
            <a:ext cx="9509760" cy="42062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 9 月 23 日起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03504"/>
            <a:ext cx="941832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国庆前不办活动。先把客户名单和第一家参访企业定下来。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237744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 w="13970">
            <a:solidFill>
              <a:srgbClr val="C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开工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960120"/>
            <a:ext cx="11384280" cy="15875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170432"/>
            <a:ext cx="1508760" cy="53035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170432"/>
            <a:ext cx="1435608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日期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170432"/>
            <a:ext cx="6903720" cy="53035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60" y="1170432"/>
            <a:ext cx="6830568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170432"/>
            <a:ext cx="2606040" cy="530352"/>
          </a:xfrm>
          <a:prstGeom prst="roundRect">
            <a:avLst>
              <a:gd name="adj" fmla="val 8000"/>
            </a:avLst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170432"/>
            <a:ext cx="2532888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0A1E36"/>
                </a:solidFill>
                <a:latin typeface="微软雅黑"/>
                <a:ea typeface="微软雅黑"/>
                <a:cs typeface="微软雅黑"/>
              </a:rPr>
              <a:t>谁来做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741932"/>
            <a:ext cx="150876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741932"/>
            <a:ext cx="1417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9/23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0240" y="1741932"/>
            <a:ext cx="690372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75104" y="1741932"/>
            <a:ext cx="68122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确认 7 场框架和 5000 元硬顶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741932"/>
            <a:ext cx="260604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4544" y="1741932"/>
            <a:ext cx="2514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四方联系人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308860"/>
            <a:ext cx="150876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2308860"/>
            <a:ext cx="1417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9/24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2308860"/>
            <a:ext cx="690372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75104" y="2308860"/>
            <a:ext cx="68122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交出重点客户 8 家、意向新客 5 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69680" y="2308860"/>
            <a:ext cx="260604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24544" y="2308860"/>
            <a:ext cx="2514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875788"/>
            <a:ext cx="150876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2875788"/>
            <a:ext cx="1417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9/28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20240" y="2875788"/>
            <a:ext cx="690372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75104" y="2875788"/>
            <a:ext cx="68122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储备 3 家愿意免费接待的企业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2875788"/>
            <a:ext cx="260604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4544" y="2875788"/>
            <a:ext cx="2514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项目办 / 科企联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3442716"/>
            <a:ext cx="150876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3442716"/>
            <a:ext cx="1417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9/30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20240" y="3442716"/>
            <a:ext cx="690372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75104" y="3442716"/>
            <a:ext cx="68122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确认话术：不承诺贷款、默认无伴手礼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0" y="3442716"/>
            <a:ext cx="260604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4544" y="3442716"/>
            <a:ext cx="2514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银行合规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009644"/>
            <a:ext cx="150876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4009644"/>
            <a:ext cx="1417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10/8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20240" y="4009644"/>
            <a:ext cx="690372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75104" y="4009644"/>
            <a:ext cx="68122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敲定 10/22 参访企业和客户名单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69680" y="4009644"/>
            <a:ext cx="260604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24544" y="4009644"/>
            <a:ext cx="2514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项目经理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576572"/>
            <a:ext cx="150876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4576572"/>
            <a:ext cx="1417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10/9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20240" y="4576572"/>
            <a:ext cx="690372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75104" y="4576572"/>
            <a:ext cx="68122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一对一发邀请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9680" y="4576572"/>
            <a:ext cx="260604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24544" y="4576572"/>
            <a:ext cx="2514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" y="5143500"/>
            <a:ext cx="150876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" y="5143500"/>
            <a:ext cx="1417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10/19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920240" y="5143500"/>
            <a:ext cx="690372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75104" y="5143500"/>
            <a:ext cx="68122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预走访线路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69680" y="5143500"/>
            <a:ext cx="2606040" cy="530352"/>
          </a:xfrm>
          <a:prstGeom prst="roundRect">
            <a:avLst>
              <a:gd name="adj" fmla="val 8000"/>
            </a:avLst>
          </a:prstGeom>
          <a:solidFill>
            <a:srgbClr val="154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24544" y="5143500"/>
            <a:ext cx="2514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会务 + 被访企业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5710428"/>
            <a:ext cx="150876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" y="5710428"/>
            <a:ext cx="141732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10/22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920240" y="5710428"/>
            <a:ext cx="690372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75104" y="5710428"/>
            <a:ext cx="681228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第一场，当天收回服务卡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69680" y="5710428"/>
            <a:ext cx="2606040" cy="530352"/>
          </a:xfrm>
          <a:prstGeom prst="roundRect">
            <a:avLst>
              <a:gd name="adj" fmla="val 8000"/>
            </a:avLst>
          </a:prstGeom>
          <a:solidFill>
            <a:srgbClr val="122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24544" y="5710428"/>
            <a:ext cx="25146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全体陪同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6510528"/>
            <a:ext cx="969264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泰隆银行客户参访与高端小局 · 2026年10—12月 · 单场不超过5000元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510528"/>
            <a:ext cx="1097280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09728" cy="1097280"/>
          </a:xfrm>
          <a:prstGeom prst="rect">
            <a:avLst/>
          </a:prstGeom>
          <a:solidFill>
            <a:srgbClr val="C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执行时记住这三句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51560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一场不超五千。</a:t>
            </a:r>
          </a:p>
          <a:p>
            <a:pPr algn="l">
              <a:spcAft>
                <a:spcPts val="1000"/>
              </a:spcAft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年底多走出去。</a:t>
            </a:r>
          </a:p>
          <a:p>
            <a:pPr algn="l">
              <a:spcAft>
                <a:spcPts val="3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老客户有人陪，新客户五日内有回音。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E8C97A"/>
                </a:solidFill>
                <a:latin typeface="微软雅黑"/>
                <a:ea typeface="微软雅黑"/>
                <a:cs typeface="微软雅黑"/>
              </a:rPr>
              <a:t>配套表格：七场日历、决算闸门、客户出席与回访、新客跟进。金额、名单和日期填进表里再生效。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96AEBB"/>
                </a:solidFill>
                <a:latin typeface="微软雅黑"/>
                <a:ea typeface="微软雅黑"/>
                <a:cs typeface="微软雅黑"/>
              </a:rPr>
              <a:t>本方案不构成授信、利率、期限或放款承诺。金融业务由泰隆银行独立审批。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