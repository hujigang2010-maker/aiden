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D7EBE6"/>
                </a:solidFill>
                <a:latin typeface="微软雅黑"/>
                <a:ea typeface="微软雅黑"/>
              </a:rPr>
              <a:t>工作会议纪要 → 可执行落地方案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微软雅黑"/>
                <a:ea typeface="微软雅黑"/>
              </a:rPr>
              <a:t>上海AI博物馆（全产业链常态化展示与孵化平台）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175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C47B2D"/>
                </a:solidFill>
                <a:latin typeface="微软雅黑"/>
                <a:ea typeface="微软雅黑"/>
              </a:rPr>
              <a:t>核心聚焦：投资方怎么投 · 项目怎么赚 · 政策怎么落地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404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D7EBE6"/>
                </a:solidFill>
                <a:latin typeface="微软雅黑"/>
                <a:ea typeface="微软雅黑"/>
              </a:rPr>
              <a:t>基于两场会议笔记整理（2026-08-08 / 2026-08-10）</a:t>
            </a:r>
          </a:p>
          <a:p>
            <a:pPr algn="l"/>
            <a:r>
              <a:rPr sz="1300" b="0">
                <a:solidFill>
                  <a:srgbClr val="D7EBE6"/>
                </a:solidFill>
                <a:latin typeface="微软雅黑"/>
                <a:ea typeface="微软雅黑"/>
              </a:rPr>
              <a:t>对标美国计算机历史博物馆 · WAIC会后365天常态化平台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7607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C6B70"/>
                </a:solidFill>
                <a:latin typeface="微软雅黑"/>
                <a:ea typeface="微软雅黑"/>
              </a:rPr>
              <a:t>V1.0 讨论稿  |  2026-08-10  |  供场地 / 资方 / 科协路演使用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54864"/>
          </a:xfrm>
          <a:prstGeom prst="rect">
            <a:avLst/>
          </a:prstGeom>
          <a:solidFill>
            <a:srgbClr val="0F7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502920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9611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C6B70"/>
                </a:solidFill>
                <a:latin typeface="微软雅黑"/>
                <a:ea typeface="微软雅黑"/>
              </a:rPr>
              <a:t>先对齐共识，再谈投、赚、政策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46520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0"/>
                </a:solidFill>
                <a:latin typeface="微软雅黑"/>
                <a:ea typeface="微软雅黑"/>
              </a:rPr>
              <a:t>2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463040"/>
            <a:ext cx="9144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600" b="0">
                <a:solidFill>
                  <a:srgbClr val="1A2B2E"/>
                </a:solidFill>
                <a:latin typeface="微软雅黑"/>
                <a:ea typeface="微软雅黑"/>
              </a:rPr>
              <a:t>▸  01  双场会议纪要要点与核心关注</a:t>
            </a:r>
          </a:p>
          <a:p>
            <a:pPr>
              <a:lnSpc>
                <a:spcPct val="120000"/>
              </a:lnSpc>
            </a:pPr>
            <a:r>
              <a:rPr sz="1600" b="0">
                <a:solidFill>
                  <a:srgbClr val="1A2B2E"/>
                </a:solidFill>
                <a:latin typeface="微软雅黑"/>
                <a:ea typeface="微软雅黑"/>
              </a:rPr>
              <a:t>▸  02  项目定位与差异化</a:t>
            </a:r>
          </a:p>
          <a:p>
            <a:pPr>
              <a:lnSpc>
                <a:spcPct val="120000"/>
              </a:lnSpc>
            </a:pPr>
            <a:r>
              <a:rPr sz="1600" b="0">
                <a:solidFill>
                  <a:srgbClr val="1A2B2E"/>
                </a:solidFill>
                <a:latin typeface="微软雅黑"/>
                <a:ea typeface="微软雅黑"/>
              </a:rPr>
              <a:t>▸  03  投资总原则与七条出资路径（重点）</a:t>
            </a:r>
          </a:p>
          <a:p>
            <a:pPr>
              <a:lnSpc>
                <a:spcPct val="120000"/>
              </a:lnSpc>
            </a:pPr>
            <a:r>
              <a:rPr sz="1600" b="0">
                <a:solidFill>
                  <a:srgbClr val="1A2B2E"/>
                </a:solidFill>
                <a:latin typeface="微软雅黑"/>
                <a:ea typeface="微软雅黑"/>
              </a:rPr>
              <a:t>▸  04  赞助层级与资方回报设计（重点）</a:t>
            </a:r>
          </a:p>
          <a:p>
            <a:pPr>
              <a:lnSpc>
                <a:spcPct val="120000"/>
              </a:lnSpc>
            </a:pPr>
            <a:r>
              <a:rPr sz="1600" b="0">
                <a:solidFill>
                  <a:srgbClr val="1A2B2E"/>
                </a:solidFill>
                <a:latin typeface="微软雅黑"/>
                <a:ea typeface="微软雅黑"/>
              </a:rPr>
              <a:t>▸  05  盈利逻辑与六条收入线（重点）</a:t>
            </a:r>
          </a:p>
          <a:p>
            <a:pPr>
              <a:lnSpc>
                <a:spcPct val="120000"/>
              </a:lnSpc>
            </a:pPr>
            <a:r>
              <a:rPr sz="1600" b="0">
                <a:solidFill>
                  <a:srgbClr val="1A2B2E"/>
                </a:solidFill>
                <a:latin typeface="微软雅黑"/>
                <a:ea typeface="微软雅黑"/>
              </a:rPr>
              <a:t>▸  06  政策性支持与扶持资金匹配（重点）</a:t>
            </a:r>
          </a:p>
          <a:p>
            <a:pPr>
              <a:lnSpc>
                <a:spcPct val="120000"/>
              </a:lnSpc>
            </a:pPr>
            <a:r>
              <a:rPr sz="1600" b="0">
                <a:solidFill>
                  <a:srgbClr val="1A2B2E"/>
                </a:solidFill>
                <a:latin typeface="微软雅黑"/>
                <a:ea typeface="微软雅黑"/>
              </a:rPr>
              <a:t>▸  07  场地候选与空间经济模型</a:t>
            </a:r>
          </a:p>
          <a:p>
            <a:pPr>
              <a:lnSpc>
                <a:spcPct val="120000"/>
              </a:lnSpc>
            </a:pPr>
            <a:r>
              <a:rPr sz="1600" b="0">
                <a:solidFill>
                  <a:srgbClr val="1A2B2E"/>
                </a:solidFill>
                <a:latin typeface="微软雅黑"/>
                <a:ea typeface="微软雅黑"/>
              </a:rPr>
              <a:t>▸  08  展陈分层与资源地图</a:t>
            </a:r>
          </a:p>
          <a:p>
            <a:pPr>
              <a:lnSpc>
                <a:spcPct val="120000"/>
              </a:lnSpc>
            </a:pPr>
            <a:r>
              <a:rPr sz="1600" b="0">
                <a:solidFill>
                  <a:srgbClr val="1A2B2E"/>
                </a:solidFill>
                <a:latin typeface="微软雅黑"/>
                <a:ea typeface="微软雅黑"/>
              </a:rPr>
              <a:t>▸  09  组织分工与90天推进节奏</a:t>
            </a:r>
          </a:p>
          <a:p>
            <a:pPr>
              <a:lnSpc>
                <a:spcPct val="120000"/>
              </a:lnSpc>
            </a:pPr>
            <a:r>
              <a:rPr sz="1600" b="0">
                <a:solidFill>
                  <a:srgbClr val="1A2B2E"/>
                </a:solidFill>
                <a:latin typeface="微软雅黑"/>
                <a:ea typeface="微软雅黑"/>
              </a:rPr>
              <a:t>▸  10  风险清单与下一步待办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54864"/>
          </a:xfrm>
          <a:prstGeom prst="rect">
            <a:avLst/>
          </a:prstGeom>
          <a:solidFill>
            <a:srgbClr val="0F7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502920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双场会议纪要要点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9611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C6B70"/>
                </a:solidFill>
                <a:latin typeface="微软雅黑"/>
                <a:ea typeface="微软雅黑"/>
              </a:rPr>
              <a:t>场次一讨论定方向 · 场次二工作会议定推进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46520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0"/>
                </a:solidFill>
                <a:latin typeface="微软雅黑"/>
                <a:ea typeface="微软雅黑"/>
              </a:rPr>
              <a:t>3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A2B2E"/>
                </a:solidFill>
                <a:latin typeface="微软雅黑"/>
                <a:ea typeface="微软雅黑"/>
              </a:rPr>
              <a:t>两场沟通围绕「在上海筹建AI博物馆」展开：场次一明确全产业链展陈、教育部认证与研学切入、华润等赞助商与海外变现思路；场次二由陈院长提出完整方案，就项目定位、场地、资金、盈利、科协牵头与分工达成共识，约定会后整理可展示方案并分别对接场地与资方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965960"/>
            <a:ext cx="3657600" cy="411480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965960"/>
            <a:ext cx="64008" cy="4114800"/>
          </a:xfrm>
          <a:prstGeom prst="rect">
            <a:avLst/>
          </a:prstGeom>
          <a:solidFill>
            <a:srgbClr val="0F7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2039112"/>
            <a:ext cx="340156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7A6E"/>
                </a:solidFill>
                <a:latin typeface="微软雅黑"/>
                <a:ea typeface="微软雅黑"/>
              </a:rPr>
              <a:t>场次一 · 08-08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2377440"/>
            <a:ext cx="3401568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教育部认证 + 研学切入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一二层信息化展馆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三层结构：算力/应用/移动AI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华润等赞助商思路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海外账号反向变现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运营周期 5–10 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965960"/>
            <a:ext cx="3657600" cy="411480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965960"/>
            <a:ext cx="64008" cy="411480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62272" y="2039112"/>
            <a:ext cx="340156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3D5C"/>
                </a:solidFill>
                <a:latin typeface="微软雅黑"/>
                <a:ea typeface="微软雅黑"/>
              </a:rPr>
              <a:t>场次二 · 08-10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2377440"/>
            <a:ext cx="3401568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陈院长提出完整方案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免租10–20年+约5000万设备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创智汇 / 复兴岛候选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科协牵头抢IP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租金+孵化+模板输出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胡老师整理可展示版本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65960"/>
            <a:ext cx="3566160" cy="411480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1965960"/>
            <a:ext cx="64008" cy="4114800"/>
          </a:xfrm>
          <a:prstGeom prst="rect">
            <a:avLst/>
          </a:prstGeom>
          <a:solidFill>
            <a:srgbClr val="C4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2752" y="2039112"/>
            <a:ext cx="33101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C47B2D"/>
                </a:solidFill>
                <a:latin typeface="微软雅黑"/>
                <a:ea typeface="微软雅黑"/>
              </a:rPr>
              <a:t>本方案核心关注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2752" y="2377440"/>
            <a:ext cx="3310128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投资方如何出资／入场（场地免费期、设备装修金、赞助层级、股权孵化）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项目如何持续盈利（租金运营、孵化投资、模板输出、研学、海外内容变现）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政策性支持如何落地（教育部研学强制要求、科协牵头、政府场地与扶持基金）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54864"/>
          </a:xfrm>
          <a:prstGeom prst="rect">
            <a:avLst/>
          </a:prstGeom>
          <a:solidFill>
            <a:srgbClr val="0F7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502920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项目定位与差异化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9611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C6B70"/>
                </a:solidFill>
                <a:latin typeface="微软雅黑"/>
                <a:ea typeface="微软雅黑"/>
              </a:rPr>
              <a:t>名称IP × 全产业链 × 会后365天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46520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0"/>
                </a:solidFill>
                <a:latin typeface="微软雅黑"/>
                <a:ea typeface="微软雅黑"/>
              </a:rPr>
              <a:t>4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5486400" cy="219456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64008" cy="2194560"/>
          </a:xfrm>
          <a:prstGeom prst="rect">
            <a:avLst/>
          </a:prstGeom>
          <a:solidFill>
            <a:srgbClr val="0F7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353312"/>
            <a:ext cx="523036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7A6E"/>
                </a:solidFill>
                <a:latin typeface="微软雅黑"/>
                <a:ea typeface="微软雅黑"/>
              </a:rPr>
              <a:t>一句话定位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691640"/>
            <a:ext cx="5230368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世界人工智能大会闭幕后的常态化AI展示与孵化平台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覆盖芯片—应用—具身全链，串联历史与最新成果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做成可向其他城市复制的标准模板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280160"/>
            <a:ext cx="5486400" cy="219456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64008" cy="219456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1353312"/>
            <a:ext cx="523036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3D5C"/>
                </a:solidFill>
                <a:latin typeface="微软雅黑"/>
                <a:ea typeface="微软雅黑"/>
              </a:rPr>
              <a:t>与现有展厅差异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1072" y="1691640"/>
            <a:ext cx="5230368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现有展厅多聚焦机器人交易展示；本项目做AI全产业链博物馆+历史溯源。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政府或单一互联网公司难以独力整合全链资源；第三方+科协可居中调度。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绑定WAIC会后365天场景，形成城市级常设IP而非一过性展览。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中美对照与硅谷实时连线，构成内容壁垒。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3657600"/>
          <a:ext cx="112471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维度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现有机器人展厅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本项目AI博物馆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范围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机器人为主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AI全产业链+历史溯源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功能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交易与展示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展示+研学认证+孵化投资+模板输出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内容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国内产业为主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中美对照 + 硅谷实时连线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组织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企业/园区主导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科协牵头 + 多主体共建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54864"/>
          </a:xfrm>
          <a:prstGeom prst="rect">
            <a:avLst/>
          </a:prstGeom>
          <a:solidFill>
            <a:srgbClr val="0F7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502920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投资总原则：不自有资金站上制高点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9611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C6B70"/>
                </a:solidFill>
                <a:latin typeface="微软雅黑"/>
                <a:ea typeface="微软雅黑"/>
              </a:rPr>
              <a:t>多主体分担 · 分层组合 · 用IP换长期权益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46520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0"/>
                </a:solidFill>
                <a:latin typeface="微软雅黑"/>
                <a:ea typeface="微软雅黑"/>
              </a:rPr>
              <a:t>5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A2B2E"/>
                </a:solidFill>
                <a:latin typeface="微软雅黑"/>
                <a:ea typeface="微软雅黑"/>
              </a:rPr>
              <a:t>核心策略：「不自有资金站上制高点」——建设与装修改造由合作方承担，项目方以IP运营、资源整合与孵化投资能力换取长期权益；投资结构分层、可组合，避免单一资方绑架。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011680"/>
          <a:ext cx="1124712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出资路径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出资方式（摘要）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优先级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A. 场地方「地+钱」合作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10–20年免费场地使用权 + 约5000万装修/设备采购资金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P0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B. 主赞助商（场地或核心费用）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承担场地租金折算、展陈主投或运营启动金；可现金+实物（展品/算力）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P0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C. 金牌/展席赞助（头部AI企业捐赠）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展品捐赠+展位建设费+年度内容更新费；可选现金捐赠换历史席位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P1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D. 政府补贴与扶持基金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场地租金补贴、文旅/科普/科创专项、产业引导基金配套、装修补助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P0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E. 科协牵头专项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名义主管+专项经费/科普经费；协助抢占「AI博物馆」名称与资质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P0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F. 孵化跟投（轻资本）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对入驻优质AI项目小额股权跟投/收益权；可用运营方管理公司主体承接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P2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G. 海外内容与品牌合作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展品授权/内容共建（非现金为主）；联合直播与活动赞助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P1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54864"/>
          </a:xfrm>
          <a:prstGeom prst="rect">
            <a:avLst/>
          </a:prstGeom>
          <a:solidFill>
            <a:srgbClr val="0F7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502920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投资方怎么投：P0 四条主路径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9611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C6B70"/>
                </a:solidFill>
                <a:latin typeface="微软雅黑"/>
                <a:ea typeface="微软雅黑"/>
              </a:rPr>
              <a:t>场地钱、主赞助、政府基金、科协专项先闭环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46520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0"/>
                </a:solidFill>
                <a:latin typeface="微软雅黑"/>
                <a:ea typeface="微软雅黑"/>
              </a:rPr>
              <a:t>6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34440"/>
            <a:ext cx="5577840" cy="237744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234440"/>
            <a:ext cx="64008" cy="2377440"/>
          </a:xfrm>
          <a:prstGeom prst="rect">
            <a:avLst/>
          </a:prstGeom>
          <a:solidFill>
            <a:srgbClr val="0F7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307592"/>
            <a:ext cx="53218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7A6E"/>
                </a:solidFill>
                <a:latin typeface="微软雅黑"/>
                <a:ea typeface="微软雅黑"/>
              </a:rPr>
              <a:t>A. 场地方「地+钱」合作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645920"/>
            <a:ext cx="5321808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怎么出：10–20年免费场地使用权 + 约5000万装修/设备采购资金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谁来出：拥有闲置物业的央国企/区属平台（如科创集团、华润系物业）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回报：政绩亮点（高层考察）、物业盘活、剩余楼层租金分成或优先招商权、品牌冠名可选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动作：出具需求书→双候选场地路演→签约框架（免租期+出资额+分成公式）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234440"/>
            <a:ext cx="5577840" cy="237744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1234440"/>
            <a:ext cx="64008" cy="2377440"/>
          </a:xfrm>
          <a:prstGeom prst="rect">
            <a:avLst/>
          </a:prstGeom>
          <a:solidFill>
            <a:srgbClr val="0F7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36792" y="1307592"/>
            <a:ext cx="53218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7A6E"/>
                </a:solidFill>
                <a:latin typeface="微软雅黑"/>
                <a:ea typeface="微软雅黑"/>
              </a:rPr>
              <a:t>B. 主赞助商（场地或核心费用）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36792" y="1645920"/>
            <a:ext cx="5321808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怎么出：承担场地租金折算、展陈主投或运营启动金；可现金+实物（展品/算力）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谁来出：华润等有科创投入考核的央国企；有向上汇报「AI故事」需求的产业集团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回报：主赞助商权益、AI行业历史展席位、联合发布与WAIC联动曝光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动作：一页纸权益包→同学/董事会通道引荐→立项材料对齐其科创KPI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840480"/>
            <a:ext cx="5577840" cy="237744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840480"/>
            <a:ext cx="64008" cy="2377440"/>
          </a:xfrm>
          <a:prstGeom prst="rect">
            <a:avLst/>
          </a:prstGeom>
          <a:solidFill>
            <a:srgbClr val="0F7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3913632"/>
            <a:ext cx="53218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7A6E"/>
                </a:solidFill>
                <a:latin typeface="微软雅黑"/>
                <a:ea typeface="微软雅黑"/>
              </a:rPr>
              <a:t>D. 政府补贴与扶持基金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4251960"/>
            <a:ext cx="5321808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怎么出：场地租金补贴、文旅/科普/科创专项、产业引导基金配套、装修补助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谁来出：区政府、科创委、文旅局、教育局（研学）、科协系统专项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回报：公共服务供给、研学指标完成、科创政绩与WAIC延伸场景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动作：政策清单匹配→申报材料包→纳入区重点项目库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3840480"/>
            <a:ext cx="5577840" cy="237744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2200" y="3840480"/>
            <a:ext cx="64008" cy="2377440"/>
          </a:xfrm>
          <a:prstGeom prst="rect">
            <a:avLst/>
          </a:prstGeom>
          <a:solidFill>
            <a:srgbClr val="0F7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36792" y="3913632"/>
            <a:ext cx="53218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7A6E"/>
                </a:solidFill>
                <a:latin typeface="微软雅黑"/>
                <a:ea typeface="微软雅黑"/>
              </a:rPr>
              <a:t>E. 科协牵头专项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6792" y="4251960"/>
            <a:ext cx="5321808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怎么出：名义主管+专项经费/科普经费；协助抢占「AI博物馆」名称与资质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谁来出：中国科协及地方科协（发起人已与科协主席初步沟通）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回报：行业制高点、科普职能落地、全国复制时的系统内通道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动作：正式汇报材料→名称与主管单位确认→专项申报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54864"/>
          </a:xfrm>
          <a:prstGeom prst="rect">
            <a:avLst/>
          </a:prstGeom>
          <a:solidFill>
            <a:srgbClr val="0F7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502920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赞助层级与资方回报设计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9611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C6B70"/>
                </a:solidFill>
                <a:latin typeface="微软雅黑"/>
                <a:ea typeface="微软雅黑"/>
              </a:rPr>
              <a:t>把「历史席位」产品化，方便企业立项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46520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0"/>
                </a:solidFill>
                <a:latin typeface="微软雅黑"/>
                <a:ea typeface="微软雅黑"/>
              </a:rPr>
              <a:t>7 / 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280160"/>
          <a:ext cx="114300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层级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出资门槛（建议）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核心权益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席位数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主赞助商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场地或≥3000万级核心费用/等值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冠名协商权、主视觉露出、开幕式主位、年度联名活动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1–2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金牌赞助商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500–1500万现金/展陈建设+年度更新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AI历史展席位、研学指定线路露出、高层参观接待位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6–10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展品合作伙伴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展品捐赠+展位装修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展区品牌墙、内容联合署名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按展区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战略渠道伙伴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流量/研学渠道/媒体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渠道分成、联名研学产品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若干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7548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1A2B2E"/>
                </a:solidFill>
                <a:latin typeface="微软雅黑"/>
                <a:ea typeface="微软雅黑"/>
              </a:rPr>
              <a:t>•  华润路径：对齐其科创投入与向上汇报需求，同学通道 + 董事会材料双轨推进</a:t>
            </a:r>
          </a:p>
          <a:p>
            <a:pPr>
              <a:lnSpc>
                <a:spcPct val="120000"/>
              </a:lnSpc>
            </a:pPr>
            <a:r>
              <a:rPr sz="1300" b="0">
                <a:solidFill>
                  <a:srgbClr val="1A2B2E"/>
                </a:solidFill>
                <a:latin typeface="微软雅黑"/>
                <a:ea typeface="微软雅黑"/>
              </a:rPr>
              <a:t>•  头部AI企业：捐赠换「行业历史席位」，比纯广告投放更易内部批准</a:t>
            </a:r>
          </a:p>
          <a:p>
            <a:pPr>
              <a:lnSpc>
                <a:spcPct val="120000"/>
              </a:lnSpc>
            </a:pPr>
            <a:r>
              <a:rPr sz="1300" b="0">
                <a:solidFill>
                  <a:srgbClr val="1A2B2E"/>
                </a:solidFill>
                <a:latin typeface="微软雅黑"/>
                <a:ea typeface="微软雅黑"/>
              </a:rPr>
              <a:t>•  场地方：免租+设备出资，换政绩场景、物业去化与租金/招商分成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54864"/>
          </a:xfrm>
          <a:prstGeom prst="rect">
            <a:avLst/>
          </a:prstGeom>
          <a:solidFill>
            <a:srgbClr val="0F7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502920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盈利逻辑：展馆不靠卖票养活，靠IP经营赚钱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9611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C6B70"/>
                </a:solidFill>
                <a:latin typeface="微软雅黑"/>
                <a:ea typeface="微软雅黑"/>
              </a:rPr>
              <a:t>展馆本体以「捐赠+补贴+赞助」覆盖建设与基础运营；可核算利润主要来自空间经营、研学与认证相关服务、孵化投资、模板输出与海…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46520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0"/>
                </a:solidFill>
                <a:latin typeface="微软雅黑"/>
                <a:ea typeface="微软雅黑"/>
              </a:rPr>
              <a:t>8 / 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234440"/>
          <a:ext cx="115214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2880360"/>
                <a:gridCol w="2880360"/>
                <a:gridCol w="2880360"/>
              </a:tblGrid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收入线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稳态占比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启动条件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里程碑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</a:tr>
              <a:tr h="718457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1. 剩余楼层租金与运营服务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35–45%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场地签约、完成基础装修与招商手册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开馆12个月内出租率≥70%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8457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2. 研学与培训接待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20–30%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展陈开放+课程包+安全预案；争取纳入区研学目录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对标现有机器人展厅「上午三场下午三场」接待强度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</a:tr>
              <a:tr h="718457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3. 认证与教育产品服务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5–10%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上海统一认证路径明确、与教育主管部门沟通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首批10个合作单元落地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8457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4. 孵化投资收益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10–20%（波动大）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入驻协议含投资条款；可选设小规模跟投池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每年重点跟投3–5个项目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</a:tr>
              <a:tr h="718457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5. 样板模板输出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10–15%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开馆运营满1个完整研学季、沉淀SOP与IP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首个外埠复制意向框架协议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845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6. 海外内容变现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5–10%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内容团队+海外账号矩阵+授权合规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稳定周更+单场直播商业化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54864"/>
          </a:xfrm>
          <a:prstGeom prst="rect">
            <a:avLst/>
          </a:prstGeom>
          <a:solidFill>
            <a:srgbClr val="0F7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502920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政策性支持怎么落地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9611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C6B70"/>
                </a:solidFill>
                <a:latin typeface="微软雅黑"/>
                <a:ea typeface="微软雅黑"/>
              </a:rPr>
              <a:t>研学强制要求 × 科协牵头 × 扶持基金 × 闲置物业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46520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0"/>
                </a:solidFill>
                <a:latin typeface="微软雅黑"/>
                <a:ea typeface="微软雅黑"/>
              </a:rPr>
              <a:t>9 / 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1234440"/>
          <a:ext cx="116128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220"/>
                <a:gridCol w="2903220"/>
                <a:gridCol w="2903220"/>
                <a:gridCol w="2903220"/>
              </a:tblGrid>
              <a:tr h="62865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政策/抓手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对项目价值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落地步骤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责任方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</a:tr>
              <a:tr h="62865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教育部中学AI培训与研学要求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刚性客流与B端采购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纳入区研学基地目录→课程与师资包备案→学校采购合同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国内运营+教育渠道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AI教育产品强制认证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展馆成为认证展示与验证场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对接认证主体→设立认证展示专区→服务产品报价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产品+政府关系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</a:tr>
              <a:tr h="62865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中国科协牵头主管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名称、资质、全国复制通道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正式请示/合作备忘录→名称核准路径→科普专项申报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发起人+胡老师材料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地方政府科创政绩与闲置物业盘活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免租场地+装修配套资金谈判筹码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区领导汇报→重点项目入库→土地/物业会议纪要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场地谈判组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</a:tr>
              <a:tr h="62865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区级/市级科创与文旅扶持资金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降低运营与内容成本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列政策匹配表→按窗口期申报→审计合规台账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政策专员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世界人工智能大会（WAIC）资源延伸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内容新鲜度与城市品牌绑定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对接大会组委会/承办方→会后巡展协议→常设展更新机制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内容+政府关系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</a:tr>
              <a:tr h="62865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产业引导基金/央国企科创考核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主赞助与跟投资金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对齐对方考核指标写立项→董事会/办公会材料→出资协议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资方对接人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54864"/>
          </a:xfrm>
          <a:prstGeom prst="rect">
            <a:avLst/>
          </a:prstGeom>
          <a:solidFill>
            <a:srgbClr val="0F7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502920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扶持基金与资金类型匹配表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9611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C6B70"/>
                </a:solidFill>
                <a:latin typeface="微软雅黑"/>
                <a:ea typeface="微软雅黑"/>
              </a:rPr>
              <a:t>申报窗口与用途一一对应，避免「有政策无材料」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46520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0"/>
                </a:solidFill>
                <a:latin typeface="微软雅黑"/>
                <a:ea typeface="微软雅黑"/>
              </a:rPr>
              <a:t>10 / 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280160"/>
          <a:ext cx="114300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资金类型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可能来源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用途匹配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申报节奏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场地免租/租金补贴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区属平台、国企闲置物业政策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建设期最大头成本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框架协议优先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装修与设备配套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场地方出资约5000万谈判项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展陈与基建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与场地捆绑签约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科普/科协专项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科协系统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展陈内容、科普活动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年度申报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研学/教育专项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教育主管部门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课程、师资、接待设施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学期前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科创产业扶持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区科创委/经信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孵化空间、算力、活动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批次申报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文旅融合/文创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文旅部门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观众服务、品牌活动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项目制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产业引导基金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区级基金/央企基金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入驻项目跟投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设立后持续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303520"/>
            <a:ext cx="11247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A4F48"/>
                </a:solidFill>
                <a:latin typeface="微软雅黑"/>
                <a:ea typeface="微软雅黑"/>
              </a:rPr>
              <a:t>执行口诀：先签场地框架（免租+配套资金）→ 同步科协名义 → 再按窗口填报专项；现金资助是加法，场地与设备封闭才是项目能否开工的充要条件。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54864"/>
          </a:xfrm>
          <a:prstGeom prst="rect">
            <a:avLst/>
          </a:prstGeom>
          <a:solidFill>
            <a:srgbClr val="0F7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502920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场地候选与空间经济模型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9611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C6B70"/>
                </a:solidFill>
                <a:latin typeface="微软雅黑"/>
                <a:ea typeface="微软雅黑"/>
              </a:rPr>
              <a:t>6000–10000㎡总盘 · 约2000㎡展陈 · 其余经营反哺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46520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0"/>
                </a:solidFill>
                <a:latin typeface="微软雅黑"/>
                <a:ea typeface="微软雅黑"/>
              </a:rPr>
              <a:t>11 / 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1234440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5480"/>
                <a:gridCol w="1935480"/>
                <a:gridCol w="1935480"/>
                <a:gridCol w="1935480"/>
                <a:gridCol w="1935480"/>
                <a:gridCol w="1935480"/>
              </a:tblGrid>
              <a:tr h="85344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候选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位置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面积/条件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产权/运营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优劣势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下一步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创智汇2号楼顶楼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上海五角场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约3300㎡（小于理想总量，可作一期）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杨浦科创集团产权；中建四局二房东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地段好、研学便利；面积偏紧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正式需求书+免租与5000万条款路演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复兴岛场地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上海中环边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具备改造条件；距陆家嘴约25分钟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待确认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空间可塑性强；交通相对弱于五角场校区带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现场踏勘+改造估算+主管部门沟通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4320" y="4023360"/>
          <a:ext cx="116128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70960"/>
                <a:gridCol w="3870960"/>
                <a:gridCol w="3870960"/>
              </a:tblGrid>
              <a:tr h="326571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科目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口径说明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参考区间（讨论稿）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场地方投入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免租期折算+装修设备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免租10–20年 + 约5000万设备装修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展馆面积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1–2层展示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约2000㎡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经营面积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孵化办公等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总建约6000–10000㎡中的非展部分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对标接待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曹河泾/张江机器人展厅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日均上午3场+下午3场研学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运营周期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长期价值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至少5–10年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项目方建设出资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原则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建设期尽量为0；运营公司轻资产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54864"/>
          </a:xfrm>
          <a:prstGeom prst="rect">
            <a:avLst/>
          </a:prstGeom>
          <a:solidFill>
            <a:srgbClr val="0F7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502920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展陈分层与资源地图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9611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C6B70"/>
                </a:solidFill>
                <a:latin typeface="微软雅黑"/>
                <a:ea typeface="微软雅黑"/>
              </a:rPr>
              <a:t>美方理论前沿 · 中方产业应用 · 实时更新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46520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0"/>
                </a:solidFill>
                <a:latin typeface="微软雅黑"/>
                <a:ea typeface="微软雅黑"/>
              </a:rPr>
              <a:t>12 / 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280160"/>
          <a:ext cx="114300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层级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内容侧重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展品来源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叙事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芯片/算力/材料层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芯片、服务器、算力基础设施（含低成本小型AI服务器趋势）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国内外硬件与云厂商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AI基础设施史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技术应用层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大模型、代码辅助、企业应用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国内头部大模型企业为主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中国应用优势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具身/移动/行业层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机器人、无人机、教育、航海、行业场景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具身智能与行业解决方案商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产业落地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中美对照叙事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美方理论前沿 vs 中方产业应用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硅谷企业/高校 + 国内头部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实时连线与内容更新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7548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1A2B2E"/>
                </a:solidFill>
                <a:latin typeface="微软雅黑"/>
                <a:ea typeface="微软雅黑"/>
              </a:rPr>
              <a:t>•  已筛美国核心展品约前20项；国内优先头部有收入企业</a:t>
            </a:r>
          </a:p>
          <a:p>
            <a:pPr>
              <a:lnSpc>
                <a:spcPct val="120000"/>
              </a:lnSpc>
            </a:pPr>
            <a:r>
              <a:rPr sz="1300" b="0">
                <a:solidFill>
                  <a:srgbClr val="1A2B2E"/>
                </a:solidFill>
                <a:latin typeface="微软雅黑"/>
                <a:ea typeface="微软雅黑"/>
              </a:rPr>
              <a:t>•  陈院长可对接谷歌等资源；可联动李飞飞等海外人物直播</a:t>
            </a:r>
          </a:p>
          <a:p>
            <a:pPr>
              <a:lnSpc>
                <a:spcPct val="120000"/>
              </a:lnSpc>
            </a:pPr>
            <a:r>
              <a:rPr sz="1300" b="0">
                <a:solidFill>
                  <a:srgbClr val="1A2B2E"/>
                </a:solidFill>
                <a:latin typeface="微软雅黑"/>
                <a:ea typeface="微软雅黑"/>
              </a:rPr>
              <a:t>•  国内头部大模型企业多数注册在上海，集中拜访效率高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54864"/>
          </a:xfrm>
          <a:prstGeom prst="rect">
            <a:avLst/>
          </a:prstGeom>
          <a:solidFill>
            <a:srgbClr val="0F7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502920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组织分工与推进节奏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9611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C6B70"/>
                </a:solidFill>
                <a:latin typeface="微软雅黑"/>
                <a:ea typeface="微软雅黑"/>
              </a:rPr>
              <a:t>先框架预算，再动线施工图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46520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0"/>
                </a:solidFill>
                <a:latin typeface="微软雅黑"/>
                <a:ea typeface="微软雅黑"/>
              </a:rPr>
              <a:t>13 / 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1188720"/>
          <a:ext cx="56692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40005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角色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主体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职责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顶层主管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中国科协（目标）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名称IP、行业合法性、专项与全国复制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发起/海外资源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陈院长及美西团队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硅谷对接、海外展陈与内容、补充方案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国内统筹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胡老师+国内团队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方案文本、政府与场地资方路演、日程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场地与建设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场地方+建设伙伴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免租物业、装修设备出资、工程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主赞助/资本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华润等意向央国企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核心费用或场地、科创叙事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生态合作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曾达等AI布局方、头部企业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展陈、流量、产业协同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运营公司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待设轻资产主体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日常运营、招商、研学、孵化投资执行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126480" y="1188720"/>
          <a:ext cx="566928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705394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阶段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时间窗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关键交付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退出标准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</a:tr>
              <a:tr h="705394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0. 材料与共识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即时–2周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极简BP、投资/盈利/政策一页纸、预算框架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群内定稿可外发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1. 双线路演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2–6周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两处场地+华润/区政府/科协路演纪要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至少1个场地框架意向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</a:tr>
              <a:tr h="705394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2. 签约绑定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1–3月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场地免租+出资协议、科协合作文件、主赞助意向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建设资金与场地封闭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3. 展陈与装修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3–9月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动线施工图、展品清单签约、开馆内容包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试运行接待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</a:tr>
              <a:tr h="705394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4. 开馆运营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开馆后0–12月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研学排期、招商出租率、内容周更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达对标接待与出租率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5396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5. 复制准备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开馆后12月+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SOP与模板包、外埠意向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首个输出合同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54864"/>
          </a:xfrm>
          <a:prstGeom prst="rect">
            <a:avLst/>
          </a:prstGeom>
          <a:solidFill>
            <a:srgbClr val="0F7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502920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风险清单与下一步待办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9611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C6B70"/>
                </a:solidFill>
                <a:latin typeface="微软雅黑"/>
                <a:ea typeface="微软雅黑"/>
              </a:rPr>
              <a:t>谈判与预算是当前最大阻塞点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46520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0"/>
                </a:solidFill>
                <a:latin typeface="微软雅黑"/>
                <a:ea typeface="微软雅黑"/>
              </a:rPr>
              <a:t>14 / 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1188720"/>
          <a:ext cx="116128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220"/>
                <a:gridCol w="2903220"/>
                <a:gridCol w="2903220"/>
                <a:gridCol w="2903220"/>
              </a:tblGrid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风险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等级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说明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缓释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</a:tr>
              <a:tr h="418011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场地免租+出资谈判失败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核心难点在谈判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多场地并行；权益包量化政绩与租金分成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单一政府/企业无法独扛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中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体制局限或号召力不足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第三方整合+科协背书+分层赞助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</a:tr>
              <a:tr h="418011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中美内容双向同步受限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需确认美方接受度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授权分级；理论/应用分展区；合规审查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预算不清导致推进空转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高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无清晰预算难闭环资方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先出大框架预算再施工图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</a:tr>
              <a:tr h="418011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与现有机器人展厅同质化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曹河泾/张江已有展厅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强调全产业链+历史叙事+中美实时+孵化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014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研学政策执行不及预期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中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地方落地节奏不一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多区试点；B端机构双轮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11480" y="42519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F7A6E"/>
                </a:solidFill>
                <a:latin typeface="微软雅黑"/>
                <a:ea typeface="微软雅黑"/>
              </a:rPr>
              <a:t>会后待办（摘自纪要）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17720"/>
            <a:ext cx="11247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陈院长：向项目群发送AI博物馆极简文字材料（高 / 返美前）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陈院长：返美后整合硅谷资源，对接海外展陈与内容（高 / 持续）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陈院长：会见航海博物馆馆长，咨询建馆运营经验（中 / 近期）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胡老师：整理双场讨论，形成可展示项目版本（高 / 本周）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说话人1/配合方：配合梳理思路，分别对接场地与资方（高 / 本周启动）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参会团队：邀请曾达共同推进（中 / 近期）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国内团队：与科协/地方政府确认牵头与名称IP路径（高 / 两周内）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