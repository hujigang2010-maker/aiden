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16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0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46304" y="0"/>
            <a:ext cx="73152" cy="6858000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561320" y="-1051560"/>
            <a:ext cx="2834640" cy="2834640"/>
          </a:xfrm>
          <a:prstGeom prst="ellipse">
            <a:avLst/>
          </a:prstGeom>
          <a:solidFill>
            <a:srgbClr val="5B3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292840" y="5349240"/>
            <a:ext cx="2011680" cy="2011680"/>
          </a:xfrm>
          <a:prstGeom prst="ellipse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102412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0C41A"/>
                </a:solidFill>
                <a:latin typeface="微软雅黑"/>
                <a:ea typeface="微软雅黑"/>
                <a:cs typeface="微软雅黑"/>
              </a:rPr>
              <a:t>分行领导专题汇报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74519"/>
            <a:ext cx="1051560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客户经理新员工培养阶段</a:t>
            </a:r>
          </a:p>
          <a:p>
            <a:pPr algn="l"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工作汇报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456432"/>
            <a:ext cx="1965960" cy="64008"/>
          </a:xfrm>
          <a:prstGeom prst="rect">
            <a:avLst/>
          </a:prstGeom>
          <a:solidFill>
            <a:srgbClr val="F0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16352" y="3456432"/>
            <a:ext cx="502920" cy="64008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794760"/>
            <a:ext cx="10058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4DCF0"/>
                </a:solidFill>
                <a:latin typeface="微软雅黑"/>
                <a:ea typeface="微软雅黑"/>
                <a:cs typeface="微软雅黑"/>
              </a:rPr>
              <a:t>识别帮带短板  ·  优化激励规则  ·  提升培养有效性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532120"/>
            <a:ext cx="12191695" cy="1325880"/>
          </a:xfrm>
          <a:prstGeom prst="rect">
            <a:avLst/>
          </a:prstGeom>
          <a:solidFill>
            <a:srgbClr val="5B3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5806440"/>
            <a:ext cx="73152" cy="777240"/>
          </a:xfrm>
          <a:prstGeom prst="rect">
            <a:avLst/>
          </a:prstGeom>
          <a:solidFill>
            <a:srgbClr val="F0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5779008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0C41A"/>
                </a:solidFill>
                <a:latin typeface="微软雅黑"/>
                <a:ea typeface="微软雅黑"/>
                <a:cs typeface="微软雅黑"/>
              </a:rPr>
              <a:t>汇报部门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6035040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人力资源部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92040" y="5897880"/>
            <a:ext cx="22860" cy="594360"/>
          </a:xfrm>
          <a:prstGeom prst="rect">
            <a:avLst/>
          </a:prstGeom>
          <a:solidFill>
            <a:srgbClr val="8A6C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5779008"/>
            <a:ext cx="21945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F0C41A"/>
                </a:solidFill>
                <a:latin typeface="微软雅黑"/>
                <a:ea typeface="微软雅黑"/>
                <a:cs typeface="微软雅黑"/>
              </a:rPr>
              <a:t>汇报日期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6035040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2026.09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3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0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" y="0"/>
            <a:ext cx="45720" cy="6858000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0058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A58B8"/>
                </a:solidFill>
                <a:latin typeface="微软雅黑"/>
                <a:ea typeface="微软雅黑"/>
                <a:cs typeface="微软雅黑"/>
              </a:rPr>
              <a:t>人力资源部  |  新员工培养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1024128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B164A"/>
                </a:solidFill>
                <a:latin typeface="微软雅黑"/>
                <a:ea typeface="微软雅黑"/>
                <a:cs typeface="微软雅黑"/>
              </a:rPr>
              <a:t>六大帮带角色调研得分情况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77824"/>
            <a:ext cx="1417320" cy="50292"/>
          </a:xfrm>
          <a:prstGeom prst="rect">
            <a:avLst/>
          </a:prstGeom>
          <a:solidFill>
            <a:srgbClr val="F0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75104" y="877824"/>
            <a:ext cx="384048" cy="50292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61320" y="384048"/>
            <a:ext cx="12344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E657C"/>
                </a:solidFill>
                <a:latin typeface="微软雅黑"/>
                <a:ea typeface="微软雅黑"/>
                <a:cs typeface="微软雅黑"/>
              </a:rPr>
              <a:t>02  /  05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6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620256"/>
            <a:ext cx="95097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E657C"/>
                </a:solidFill>
                <a:latin typeface="微软雅黑"/>
                <a:ea typeface="微软雅黑"/>
                <a:cs typeface="微软雅黑"/>
              </a:rPr>
              <a:t>人力资源部  ·  客户经理新员工培养阶段工作汇报  ·  内部材料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78440" y="6620256"/>
            <a:ext cx="14173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E657C"/>
                </a:solidFill>
                <a:latin typeface="微软雅黑"/>
                <a:ea typeface="微软雅黑"/>
                <a:cs typeface="微软雅黑"/>
              </a:rPr>
              <a:t>2026.09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060704"/>
            <a:ext cx="11201400" cy="786384"/>
          </a:xfrm>
          <a:prstGeom prst="roundRect">
            <a:avLst>
              <a:gd name="adj" fmla="val 8000"/>
            </a:avLst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1115568"/>
            <a:ext cx="108356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A2435"/>
                </a:solidFill>
                <a:latin typeface="微软雅黑"/>
                <a:ea typeface="微软雅黑"/>
                <a:cs typeface="微软雅黑"/>
              </a:rPr>
              <a:t>本次围绕 6 项帮带维度开展全员调研，通过得分排序，精准识别当前帮带优势项与薄弱项，为后续优化培养重点提供数据支撑。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1993392"/>
            <a:ext cx="21945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2A2435"/>
                </a:solidFill>
                <a:latin typeface="微软雅黑"/>
                <a:ea typeface="微软雅黑"/>
                <a:cs typeface="微软雅黑"/>
              </a:rPr>
              <a:t>业务技能传授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61488" y="2139696"/>
            <a:ext cx="6720840" cy="274320"/>
          </a:xfrm>
          <a:prstGeom prst="roundRect">
            <a:avLst>
              <a:gd name="adj" fmla="val 50000"/>
            </a:avLst>
          </a:prstGeom>
          <a:solidFill>
            <a:srgbClr val="EE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61488" y="2139696"/>
            <a:ext cx="6210056" cy="274320"/>
          </a:xfrm>
          <a:prstGeom prst="roundRect">
            <a:avLst>
              <a:gd name="adj" fmla="val 50000"/>
            </a:avLst>
          </a:prstGeom>
          <a:solidFill>
            <a:srgbClr val="5B3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0" y="1993392"/>
            <a:ext cx="10058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B164A"/>
                </a:solidFill>
                <a:latin typeface="微软雅黑"/>
                <a:ea typeface="微软雅黑"/>
                <a:cs typeface="微软雅黑"/>
              </a:rPr>
              <a:t>4.62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716768" y="2112264"/>
            <a:ext cx="868680" cy="292608"/>
          </a:xfrm>
          <a:prstGeom prst="roundRect">
            <a:avLst>
              <a:gd name="adj" fmla="val 40000"/>
            </a:avLst>
          </a:prstGeom>
          <a:solidFill>
            <a:srgbClr val="FFF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16768" y="2112264"/>
            <a:ext cx="8686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5B3A9A"/>
                </a:solidFill>
                <a:latin typeface="微软雅黑"/>
                <a:ea typeface="微软雅黑"/>
                <a:cs typeface="微软雅黑"/>
              </a:rPr>
              <a:t>优势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651760"/>
            <a:ext cx="21945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2A2435"/>
                </a:solidFill>
                <a:latin typeface="微软雅黑"/>
                <a:ea typeface="微软雅黑"/>
                <a:cs typeface="微软雅黑"/>
              </a:rPr>
              <a:t>合规风险把关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61488" y="2798064"/>
            <a:ext cx="6720840" cy="274320"/>
          </a:xfrm>
          <a:prstGeom prst="roundRect">
            <a:avLst>
              <a:gd name="adj" fmla="val 50000"/>
            </a:avLst>
          </a:prstGeom>
          <a:solidFill>
            <a:srgbClr val="EE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761488" y="2798064"/>
            <a:ext cx="5927780" cy="274320"/>
          </a:xfrm>
          <a:prstGeom prst="roundRect">
            <a:avLst>
              <a:gd name="adj" fmla="val 50000"/>
            </a:avLst>
          </a:prstGeom>
          <a:solidFill>
            <a:srgbClr val="7A5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2651760"/>
            <a:ext cx="10058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B164A"/>
                </a:solidFill>
                <a:latin typeface="微软雅黑"/>
                <a:ea typeface="微软雅黑"/>
                <a:cs typeface="微软雅黑"/>
              </a:rPr>
              <a:t>4.41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716768" y="2770632"/>
            <a:ext cx="868680" cy="292608"/>
          </a:xfrm>
          <a:prstGeom prst="roundRect">
            <a:avLst>
              <a:gd name="adj" fmla="val 40000"/>
            </a:avLst>
          </a:prstGeom>
          <a:solidFill>
            <a:srgbClr val="FFF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16768" y="2770632"/>
            <a:ext cx="8686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5B3A9A"/>
                </a:solidFill>
                <a:latin typeface="微软雅黑"/>
                <a:ea typeface="微软雅黑"/>
                <a:cs typeface="微软雅黑"/>
              </a:rPr>
              <a:t>优势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3310128"/>
            <a:ext cx="21945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2A2435"/>
                </a:solidFill>
                <a:latin typeface="微软雅黑"/>
                <a:ea typeface="微软雅黑"/>
                <a:cs typeface="微软雅黑"/>
              </a:rPr>
              <a:t>日常答疑陪伴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761488" y="3456432"/>
            <a:ext cx="6720840" cy="274320"/>
          </a:xfrm>
          <a:prstGeom prst="roundRect">
            <a:avLst>
              <a:gd name="adj" fmla="val 50000"/>
            </a:avLst>
          </a:prstGeom>
          <a:solidFill>
            <a:srgbClr val="EE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2761488" y="3456432"/>
            <a:ext cx="5618622" cy="274320"/>
          </a:xfrm>
          <a:prstGeom prst="roundRect">
            <a:avLst>
              <a:gd name="adj" fmla="val 50000"/>
            </a:avLst>
          </a:prstGeom>
          <a:solidFill>
            <a:srgbClr val="F0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3310128"/>
            <a:ext cx="10058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A2435"/>
                </a:solidFill>
                <a:latin typeface="微软雅黑"/>
                <a:ea typeface="微软雅黑"/>
                <a:cs typeface="微软雅黑"/>
              </a:rPr>
              <a:t>4.18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968496"/>
            <a:ext cx="21945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2A2435"/>
                </a:solidFill>
                <a:latin typeface="微软雅黑"/>
                <a:ea typeface="微软雅黑"/>
                <a:cs typeface="微软雅黑"/>
              </a:rPr>
              <a:t>客户拓展陪访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61488" y="4114800"/>
            <a:ext cx="6720840" cy="274320"/>
          </a:xfrm>
          <a:prstGeom prst="roundRect">
            <a:avLst>
              <a:gd name="adj" fmla="val 50000"/>
            </a:avLst>
          </a:prstGeom>
          <a:solidFill>
            <a:srgbClr val="EE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761488" y="4114800"/>
            <a:ext cx="5000304" cy="274320"/>
          </a:xfrm>
          <a:prstGeom prst="roundRect">
            <a:avLst>
              <a:gd name="adj" fmla="val 50000"/>
            </a:avLst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0" y="3968496"/>
            <a:ext cx="10058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2A2435"/>
                </a:solidFill>
                <a:latin typeface="微软雅黑"/>
                <a:ea typeface="微软雅黑"/>
                <a:cs typeface="微软雅黑"/>
              </a:rPr>
              <a:t>3.72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626864"/>
            <a:ext cx="21945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2A2435"/>
                </a:solidFill>
                <a:latin typeface="微软雅黑"/>
                <a:ea typeface="微软雅黑"/>
                <a:cs typeface="微软雅黑"/>
              </a:rPr>
              <a:t>目标节奏辅导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761488" y="4773168"/>
            <a:ext cx="6720840" cy="274320"/>
          </a:xfrm>
          <a:prstGeom prst="roundRect">
            <a:avLst>
              <a:gd name="adj" fmla="val 50000"/>
            </a:avLst>
          </a:prstGeom>
          <a:solidFill>
            <a:srgbClr val="EE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2761488" y="4773168"/>
            <a:ext cx="4637379" cy="274320"/>
          </a:xfrm>
          <a:prstGeom prst="roundRect">
            <a:avLst>
              <a:gd name="adj" fmla="val 50000"/>
            </a:avLst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0" y="4626864"/>
            <a:ext cx="10058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C45616"/>
                </a:solidFill>
                <a:latin typeface="微软雅黑"/>
                <a:ea typeface="微软雅黑"/>
                <a:cs typeface="微软雅黑"/>
              </a:rPr>
              <a:t>3.45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0716768" y="4745736"/>
            <a:ext cx="868680" cy="292608"/>
          </a:xfrm>
          <a:prstGeom prst="roundRect">
            <a:avLst>
              <a:gd name="adj" fmla="val 40000"/>
            </a:avLst>
          </a:prstGeom>
          <a:solidFill>
            <a:srgbClr val="FF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16768" y="4745736"/>
            <a:ext cx="8686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C45616"/>
                </a:solidFill>
                <a:latin typeface="微软雅黑"/>
                <a:ea typeface="微软雅黑"/>
                <a:cs typeface="微软雅黑"/>
              </a:rPr>
              <a:t>薄弱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285232"/>
            <a:ext cx="21945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600" b="1">
                <a:solidFill>
                  <a:srgbClr val="2A2435"/>
                </a:solidFill>
                <a:latin typeface="微软雅黑"/>
                <a:ea typeface="微软雅黑"/>
                <a:cs typeface="微软雅黑"/>
              </a:rPr>
              <a:t>心态激励疏导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761488" y="5431536"/>
            <a:ext cx="6720840" cy="274320"/>
          </a:xfrm>
          <a:prstGeom prst="roundRect">
            <a:avLst>
              <a:gd name="adj" fmla="val 50000"/>
            </a:avLst>
          </a:prstGeom>
          <a:solidFill>
            <a:srgbClr val="EEE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761488" y="5431536"/>
            <a:ext cx="4247570" cy="274320"/>
          </a:xfrm>
          <a:prstGeom prst="roundRect">
            <a:avLst>
              <a:gd name="adj" fmla="val 50000"/>
            </a:avLst>
          </a:prstGeom>
          <a:solidFill>
            <a:srgbClr val="C45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0" y="5285232"/>
            <a:ext cx="10058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C45616"/>
                </a:solidFill>
                <a:latin typeface="微软雅黑"/>
                <a:ea typeface="微软雅黑"/>
                <a:cs typeface="微软雅黑"/>
              </a:rPr>
              <a:t>3.16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716768" y="5404104"/>
            <a:ext cx="868680" cy="292608"/>
          </a:xfrm>
          <a:prstGeom prst="roundRect">
            <a:avLst>
              <a:gd name="adj" fmla="val 40000"/>
            </a:avLst>
          </a:prstGeom>
          <a:solidFill>
            <a:srgbClr val="FFE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716768" y="5404104"/>
            <a:ext cx="8686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C45616"/>
                </a:solidFill>
                <a:latin typeface="微软雅黑"/>
                <a:ea typeface="微软雅黑"/>
                <a:cs typeface="微软雅黑"/>
              </a:rPr>
              <a:t>薄弱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291072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657C"/>
                </a:solidFill>
                <a:latin typeface="微软雅黑"/>
                <a:ea typeface="微软雅黑"/>
                <a:cs typeface="微软雅黑"/>
              </a:rPr>
              <a:t>图表说明：横向条形图，6 个维度按得分从高至低排序展示（5 分制，全员调研均值）。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3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0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" y="0"/>
            <a:ext cx="45720" cy="6858000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0058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A58B8"/>
                </a:solidFill>
                <a:latin typeface="微软雅黑"/>
                <a:ea typeface="微软雅黑"/>
                <a:cs typeface="微软雅黑"/>
              </a:rPr>
              <a:t>人力资源部  |  新员工培养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1024128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B164A"/>
                </a:solidFill>
                <a:latin typeface="微软雅黑"/>
                <a:ea typeface="微软雅黑"/>
                <a:cs typeface="微软雅黑"/>
              </a:rPr>
              <a:t>新人工作状态与情绪分布分析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77824"/>
            <a:ext cx="1417320" cy="50292"/>
          </a:xfrm>
          <a:prstGeom prst="rect">
            <a:avLst/>
          </a:prstGeom>
          <a:solidFill>
            <a:srgbClr val="F0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75104" y="877824"/>
            <a:ext cx="384048" cy="50292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61320" y="384048"/>
            <a:ext cx="12344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E657C"/>
                </a:solidFill>
                <a:latin typeface="微软雅黑"/>
                <a:ea typeface="微软雅黑"/>
                <a:cs typeface="微软雅黑"/>
              </a:rPr>
              <a:t>03  /  05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6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620256"/>
            <a:ext cx="95097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E657C"/>
                </a:solidFill>
                <a:latin typeface="微软雅黑"/>
                <a:ea typeface="微软雅黑"/>
                <a:cs typeface="微软雅黑"/>
              </a:rPr>
              <a:t>人力资源部  ·  客户经理新员工培养阶段工作汇报  ·  内部材料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78440" y="6620256"/>
            <a:ext cx="14173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E657C"/>
                </a:solidFill>
                <a:latin typeface="微软雅黑"/>
                <a:ea typeface="微软雅黑"/>
                <a:cs typeface="微软雅黑"/>
              </a:rPr>
              <a:t>2026.09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060704"/>
            <a:ext cx="11201400" cy="786384"/>
          </a:xfrm>
          <a:prstGeom prst="roundRect">
            <a:avLst>
              <a:gd name="adj" fmla="val 8000"/>
            </a:avLst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1115568"/>
            <a:ext cx="108356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A2435"/>
                </a:solidFill>
                <a:latin typeface="微软雅黑"/>
                <a:ea typeface="微软雅黑"/>
                <a:cs typeface="微软雅黑"/>
              </a:rPr>
              <a:t>结合调研数据梳理新人真实工作状态，整体成长氛围向好，但存在部分低效、迷茫、压力内耗问题，需针对性优化帮带节奏与指导方式。</a:t>
            </a:r>
          </a:p>
        </p:txBody>
      </p:sp>
      <p:pic>
        <p:nvPicPr>
          <p:cNvPr id="16" name="Picture 15" descr="mood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011680"/>
            <a:ext cx="3977639" cy="397763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4828032" y="1993392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5B3A9A"/>
                </a:solidFill>
                <a:latin typeface="微软雅黑"/>
                <a:ea typeface="微软雅黑"/>
                <a:cs typeface="微软雅黑"/>
              </a:rPr>
              <a:t>数据占比排序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8032" y="2304288"/>
            <a:ext cx="6858000" cy="603504"/>
          </a:xfrm>
          <a:prstGeom prst="roundRect">
            <a:avLst>
              <a:gd name="adj" fmla="val 10000"/>
            </a:avLst>
          </a:prstGeom>
          <a:solidFill>
            <a:srgbClr val="F6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10912" y="2478024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5B3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40680" y="2304288"/>
            <a:ext cx="41148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A2435"/>
                </a:solidFill>
                <a:latin typeface="微软雅黑"/>
                <a:ea typeface="微软雅黑"/>
                <a:cs typeface="微软雅黑"/>
              </a:rPr>
              <a:t>1  充实成长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46920" y="2304288"/>
            <a:ext cx="187451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400" b="1">
                <a:solidFill>
                  <a:srgbClr val="2B164A"/>
                </a:solidFill>
                <a:latin typeface="微软雅黑"/>
                <a:ea typeface="微软雅黑"/>
                <a:cs typeface="微软雅黑"/>
              </a:rPr>
              <a:t>34%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28032" y="2980944"/>
            <a:ext cx="6858000" cy="603504"/>
          </a:xfrm>
          <a:prstGeom prst="roundRect">
            <a:avLst>
              <a:gd name="adj" fmla="val 10000"/>
            </a:avLst>
          </a:prstGeom>
          <a:solidFill>
            <a:srgbClr val="F6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10912" y="3154680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F0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0680" y="2980944"/>
            <a:ext cx="41148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A2435"/>
                </a:solidFill>
                <a:latin typeface="微软雅黑"/>
                <a:ea typeface="微软雅黑"/>
                <a:cs typeface="微软雅黑"/>
              </a:rPr>
              <a:t>2  干劲十足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20" y="2980944"/>
            <a:ext cx="187451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400" b="1">
                <a:solidFill>
                  <a:srgbClr val="2B164A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28032" y="3657600"/>
            <a:ext cx="6858000" cy="603504"/>
          </a:xfrm>
          <a:prstGeom prst="roundRect">
            <a:avLst>
              <a:gd name="adj" fmla="val 10000"/>
            </a:avLst>
          </a:prstGeom>
          <a:solidFill>
            <a:srgbClr val="F6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010912" y="3831336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40680" y="3657600"/>
            <a:ext cx="41148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A2435"/>
                </a:solidFill>
                <a:latin typeface="微软雅黑"/>
                <a:ea typeface="微软雅黑"/>
                <a:cs typeface="微软雅黑"/>
              </a:rPr>
              <a:t>3  繁忙但低效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46920" y="3657600"/>
            <a:ext cx="187451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400" b="1">
                <a:solidFill>
                  <a:srgbClr val="2B164A"/>
                </a:solidFill>
                <a:latin typeface="微软雅黑"/>
                <a:ea typeface="微软雅黑"/>
                <a:cs typeface="微软雅黑"/>
              </a:rPr>
              <a:t>17%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28032" y="4334256"/>
            <a:ext cx="6858000" cy="603504"/>
          </a:xfrm>
          <a:prstGeom prst="roundRect">
            <a:avLst>
              <a:gd name="adj" fmla="val 10000"/>
            </a:avLst>
          </a:prstGeom>
          <a:solidFill>
            <a:srgbClr val="F6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10912" y="4507992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7A5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40680" y="4334256"/>
            <a:ext cx="41148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A2435"/>
                </a:solidFill>
                <a:latin typeface="微软雅黑"/>
                <a:ea typeface="微软雅黑"/>
                <a:cs typeface="微软雅黑"/>
              </a:rPr>
              <a:t>4  迷茫不清楚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46920" y="4334256"/>
            <a:ext cx="187451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400" b="1">
                <a:solidFill>
                  <a:srgbClr val="2B164A"/>
                </a:solidFill>
                <a:latin typeface="微软雅黑"/>
                <a:ea typeface="微软雅黑"/>
                <a:cs typeface="微软雅黑"/>
              </a:rPr>
              <a:t>14%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28032" y="5010912"/>
            <a:ext cx="6858000" cy="603504"/>
          </a:xfrm>
          <a:prstGeom prst="roundRect">
            <a:avLst>
              <a:gd name="adj" fmla="val 10000"/>
            </a:avLst>
          </a:prstGeom>
          <a:solidFill>
            <a:srgbClr val="F6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010912" y="5184648"/>
            <a:ext cx="256032" cy="256032"/>
          </a:xfrm>
          <a:prstGeom prst="roundRect">
            <a:avLst>
              <a:gd name="adj" fmla="val 50000"/>
            </a:avLst>
          </a:prstGeom>
          <a:solidFill>
            <a:srgbClr val="C456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40680" y="5010912"/>
            <a:ext cx="4114800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A2435"/>
                </a:solidFill>
                <a:latin typeface="微软雅黑"/>
                <a:ea typeface="微软雅黑"/>
                <a:cs typeface="微软雅黑"/>
              </a:rPr>
              <a:t>5  疲惫内耗、压力大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46920" y="5010912"/>
            <a:ext cx="1874519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2400" b="1">
                <a:solidFill>
                  <a:srgbClr val="2B164A"/>
                </a:solidFill>
                <a:latin typeface="微软雅黑"/>
                <a:ea typeface="微软雅黑"/>
                <a:cs typeface="微软雅黑"/>
              </a:rPr>
              <a:t>10%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291072"/>
            <a:ext cx="11155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E657C"/>
                </a:solidFill>
                <a:latin typeface="微软雅黑"/>
                <a:ea typeface="微软雅黑"/>
                <a:cs typeface="微软雅黑"/>
              </a:rPr>
              <a:t>图表说明：饼状图，展示五类状态占比分布。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3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0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" y="0"/>
            <a:ext cx="45720" cy="6858000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0058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A58B8"/>
                </a:solidFill>
                <a:latin typeface="微软雅黑"/>
                <a:ea typeface="微软雅黑"/>
                <a:cs typeface="微软雅黑"/>
              </a:rPr>
              <a:t>人力资源部  |  新员工培养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1024128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B164A"/>
                </a:solidFill>
                <a:latin typeface="微软雅黑"/>
                <a:ea typeface="微软雅黑"/>
                <a:cs typeface="微软雅黑"/>
              </a:rPr>
              <a:t>优化成功帮带合格率增量激励规则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77824"/>
            <a:ext cx="1417320" cy="50292"/>
          </a:xfrm>
          <a:prstGeom prst="rect">
            <a:avLst/>
          </a:prstGeom>
          <a:solidFill>
            <a:srgbClr val="F0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75104" y="877824"/>
            <a:ext cx="384048" cy="50292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61320" y="384048"/>
            <a:ext cx="12344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E657C"/>
                </a:solidFill>
                <a:latin typeface="微软雅黑"/>
                <a:ea typeface="微软雅黑"/>
                <a:cs typeface="微软雅黑"/>
              </a:rPr>
              <a:t>04  /  05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6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620256"/>
            <a:ext cx="95097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E657C"/>
                </a:solidFill>
                <a:latin typeface="微软雅黑"/>
                <a:ea typeface="微软雅黑"/>
                <a:cs typeface="微软雅黑"/>
              </a:rPr>
              <a:t>人力资源部  ·  客户经理新员工培养阶段工作汇报  ·  内部材料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78440" y="6620256"/>
            <a:ext cx="14173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E657C"/>
                </a:solidFill>
                <a:latin typeface="微软雅黑"/>
                <a:ea typeface="微软雅黑"/>
                <a:cs typeface="微软雅黑"/>
              </a:rPr>
              <a:t>2026.09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060704"/>
            <a:ext cx="11201400" cy="786384"/>
          </a:xfrm>
          <a:prstGeom prst="roundRect">
            <a:avLst>
              <a:gd name="adj" fmla="val 8000"/>
            </a:avLst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1115568"/>
            <a:ext cx="108356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A2435"/>
                </a:solidFill>
                <a:latin typeface="微软雅黑"/>
                <a:ea typeface="微软雅黑"/>
                <a:cs typeface="微软雅黑"/>
              </a:rPr>
              <a:t>为提升帮带有效性、杜绝形式化帮带，对新人达标合格率增量实行差异化折算机制：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084831"/>
            <a:ext cx="3547872" cy="4160520"/>
          </a:xfrm>
          <a:prstGeom prst="roundRect">
            <a:avLst>
              <a:gd name="adj" fmla="val 5000"/>
            </a:avLst>
          </a:prstGeom>
          <a:solidFill>
            <a:srgbClr val="F6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084831"/>
            <a:ext cx="91440" cy="4160520"/>
          </a:xfrm>
          <a:prstGeom prst="rect">
            <a:avLst/>
          </a:prstGeom>
          <a:solidFill>
            <a:srgbClr val="5B3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2340863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5B3A9A"/>
                </a:solidFill>
                <a:latin typeface="微软雅黑"/>
                <a:ea typeface="微软雅黑"/>
                <a:cs typeface="微软雅黑"/>
              </a:rPr>
              <a:t>1.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" y="3136391"/>
            <a:ext cx="2834640" cy="16459"/>
          </a:xfrm>
          <a:prstGeom prst="rect">
            <a:avLst/>
          </a:prstGeom>
          <a:solidFill>
            <a:srgbClr val="E4D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" y="3611879"/>
            <a:ext cx="2834640" cy="16459"/>
          </a:xfrm>
          <a:prstGeom prst="rect">
            <a:avLst/>
          </a:prstGeom>
          <a:solidFill>
            <a:srgbClr val="E4D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2104" y="4087367"/>
            <a:ext cx="2834640" cy="16459"/>
          </a:xfrm>
          <a:prstGeom prst="rect">
            <a:avLst/>
          </a:prstGeom>
          <a:solidFill>
            <a:srgbClr val="E4D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2104" y="4562855"/>
            <a:ext cx="2834640" cy="16459"/>
          </a:xfrm>
          <a:prstGeom prst="rect">
            <a:avLst/>
          </a:prstGeom>
          <a:solidFill>
            <a:srgbClr val="E4D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306824" y="2084831"/>
            <a:ext cx="3547872" cy="4160520"/>
          </a:xfrm>
          <a:prstGeom prst="roundRect">
            <a:avLst>
              <a:gd name="adj" fmla="val 5000"/>
            </a:avLst>
          </a:prstGeom>
          <a:solidFill>
            <a:srgbClr val="F6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06824" y="2084831"/>
            <a:ext cx="91440" cy="4160520"/>
          </a:xfrm>
          <a:prstGeom prst="rect">
            <a:avLst/>
          </a:prstGeom>
          <a:solidFill>
            <a:srgbClr val="C996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36008" y="2340863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C99610"/>
                </a:solidFill>
                <a:latin typeface="微软雅黑"/>
                <a:ea typeface="微软雅黑"/>
                <a:cs typeface="微软雅黑"/>
              </a:rPr>
              <a:t>2.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36008" y="3136391"/>
            <a:ext cx="2834640" cy="16459"/>
          </a:xfrm>
          <a:prstGeom prst="rect">
            <a:avLst/>
          </a:prstGeom>
          <a:solidFill>
            <a:srgbClr val="E4D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36008" y="3611879"/>
            <a:ext cx="2834640" cy="16459"/>
          </a:xfrm>
          <a:prstGeom prst="rect">
            <a:avLst/>
          </a:prstGeom>
          <a:solidFill>
            <a:srgbClr val="E4D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636008" y="4087367"/>
            <a:ext cx="2834640" cy="16459"/>
          </a:xfrm>
          <a:prstGeom prst="rect">
            <a:avLst/>
          </a:prstGeom>
          <a:solidFill>
            <a:srgbClr val="E4D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36008" y="4562855"/>
            <a:ext cx="2834640" cy="16459"/>
          </a:xfrm>
          <a:prstGeom prst="rect">
            <a:avLst/>
          </a:prstGeom>
          <a:solidFill>
            <a:srgbClr val="E4D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10728" y="2084831"/>
            <a:ext cx="3547872" cy="4160520"/>
          </a:xfrm>
          <a:prstGeom prst="roundRect">
            <a:avLst>
              <a:gd name="adj" fmla="val 5000"/>
            </a:avLst>
          </a:prstGeom>
          <a:solidFill>
            <a:srgbClr val="F6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10728" y="2084831"/>
            <a:ext cx="91440" cy="4160520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39912" y="2340863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E8782A"/>
                </a:solidFill>
                <a:latin typeface="微软雅黑"/>
                <a:ea typeface="微软雅黑"/>
                <a:cs typeface="微软雅黑"/>
              </a:rPr>
              <a:t>3.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39912" y="3136391"/>
            <a:ext cx="2834640" cy="16459"/>
          </a:xfrm>
          <a:prstGeom prst="rect">
            <a:avLst/>
          </a:prstGeom>
          <a:solidFill>
            <a:srgbClr val="E4D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39912" y="3611879"/>
            <a:ext cx="2834640" cy="16459"/>
          </a:xfrm>
          <a:prstGeom prst="rect">
            <a:avLst/>
          </a:prstGeom>
          <a:solidFill>
            <a:srgbClr val="E4D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439912" y="4087367"/>
            <a:ext cx="2834640" cy="16459"/>
          </a:xfrm>
          <a:prstGeom prst="rect">
            <a:avLst/>
          </a:prstGeom>
          <a:solidFill>
            <a:srgbClr val="E4D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439912" y="4562855"/>
            <a:ext cx="2834640" cy="16459"/>
          </a:xfrm>
          <a:prstGeom prst="rect">
            <a:avLst/>
          </a:prstGeom>
          <a:solidFill>
            <a:srgbClr val="E4D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3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F0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" y="0"/>
            <a:ext cx="45720" cy="6858000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01168"/>
            <a:ext cx="10058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A58B8"/>
                </a:solidFill>
                <a:latin typeface="微软雅黑"/>
                <a:ea typeface="微软雅黑"/>
                <a:cs typeface="微软雅黑"/>
              </a:rPr>
              <a:t>人力资源部  |  新员工培养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02336"/>
            <a:ext cx="1024128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2B164A"/>
                </a:solidFill>
                <a:latin typeface="微软雅黑"/>
                <a:ea typeface="微软雅黑"/>
                <a:cs typeface="微软雅黑"/>
              </a:rPr>
              <a:t>团队协同帮带激励费用优化方案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877824"/>
            <a:ext cx="1417320" cy="50292"/>
          </a:xfrm>
          <a:prstGeom prst="rect">
            <a:avLst/>
          </a:prstGeom>
          <a:solidFill>
            <a:srgbClr val="F0C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75104" y="877824"/>
            <a:ext cx="384048" cy="50292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61320" y="384048"/>
            <a:ext cx="123444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200" b="0">
                <a:solidFill>
                  <a:srgbClr val="6E657C"/>
                </a:solidFill>
                <a:latin typeface="微软雅黑"/>
                <a:ea typeface="微软雅黑"/>
                <a:cs typeface="微软雅黑"/>
              </a:rPr>
              <a:t>05  /  05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6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6620256"/>
            <a:ext cx="950976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E657C"/>
                </a:solidFill>
                <a:latin typeface="微软雅黑"/>
                <a:ea typeface="微软雅黑"/>
                <a:cs typeface="微软雅黑"/>
              </a:rPr>
              <a:t>人力资源部  ·  客户经理新员工培养阶段工作汇报  ·  内部材料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78440" y="6620256"/>
            <a:ext cx="141732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E657C"/>
                </a:solidFill>
                <a:latin typeface="微软雅黑"/>
                <a:ea typeface="微软雅黑"/>
                <a:cs typeface="微软雅黑"/>
              </a:rPr>
              <a:t>2026.09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1060704"/>
            <a:ext cx="11201400" cy="786384"/>
          </a:xfrm>
          <a:prstGeom prst="roundRect">
            <a:avLst>
              <a:gd name="adj" fmla="val 8000"/>
            </a:avLst>
          </a:prstGeom>
          <a:solidFill>
            <a:srgbClr val="EDE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1115568"/>
            <a:ext cx="10835640" cy="6766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A2435"/>
                </a:solidFill>
                <a:latin typeface="微软雅黑"/>
                <a:ea typeface="微软雅黑"/>
                <a:cs typeface="微软雅黑"/>
              </a:rPr>
              <a:t>推行团队互助帮带模式，打破单人帮带局限，明确团队帮带激励核算规则：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084831"/>
            <a:ext cx="5449824" cy="4160520"/>
          </a:xfrm>
          <a:prstGeom prst="roundRect">
            <a:avLst>
              <a:gd name="adj" fmla="val 5000"/>
            </a:avLst>
          </a:prstGeom>
          <a:solidFill>
            <a:srgbClr val="F6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084831"/>
            <a:ext cx="91440" cy="4160520"/>
          </a:xfrm>
          <a:prstGeom prst="rect">
            <a:avLst/>
          </a:prstGeom>
          <a:solidFill>
            <a:srgbClr val="5B3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2340863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5B3A9A"/>
                </a:solidFill>
                <a:latin typeface="微软雅黑"/>
                <a:ea typeface="微软雅黑"/>
                <a:cs typeface="微软雅黑"/>
              </a:rPr>
              <a:t>1.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" y="3136391"/>
            <a:ext cx="4736592" cy="16459"/>
          </a:xfrm>
          <a:prstGeom prst="rect">
            <a:avLst/>
          </a:prstGeom>
          <a:solidFill>
            <a:srgbClr val="E4D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" y="3611879"/>
            <a:ext cx="4736592" cy="16459"/>
          </a:xfrm>
          <a:prstGeom prst="rect">
            <a:avLst/>
          </a:prstGeom>
          <a:solidFill>
            <a:srgbClr val="E4D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2104" y="4087367"/>
            <a:ext cx="4736592" cy="16459"/>
          </a:xfrm>
          <a:prstGeom prst="rect">
            <a:avLst/>
          </a:prstGeom>
          <a:solidFill>
            <a:srgbClr val="E4D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2104" y="4562855"/>
            <a:ext cx="4736592" cy="16459"/>
          </a:xfrm>
          <a:prstGeom prst="rect">
            <a:avLst/>
          </a:prstGeom>
          <a:solidFill>
            <a:srgbClr val="E4D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45352" y="2084831"/>
            <a:ext cx="5449824" cy="4160520"/>
          </a:xfrm>
          <a:prstGeom prst="roundRect">
            <a:avLst>
              <a:gd name="adj" fmla="val 5000"/>
            </a:avLst>
          </a:prstGeom>
          <a:solidFill>
            <a:srgbClr val="F6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45352" y="2084831"/>
            <a:ext cx="91440" cy="4160520"/>
          </a:xfrm>
          <a:prstGeom prst="rect">
            <a:avLst/>
          </a:prstGeom>
          <a:solidFill>
            <a:srgbClr val="E878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74536" y="2340863"/>
            <a:ext cx="2011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E8782A"/>
                </a:solidFill>
                <a:latin typeface="微软雅黑"/>
                <a:ea typeface="微软雅黑"/>
                <a:cs typeface="微软雅黑"/>
              </a:rPr>
              <a:t>2.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74536" y="3136391"/>
            <a:ext cx="4736592" cy="16459"/>
          </a:xfrm>
          <a:prstGeom prst="rect">
            <a:avLst/>
          </a:prstGeom>
          <a:solidFill>
            <a:srgbClr val="E4D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74536" y="3611879"/>
            <a:ext cx="4736592" cy="16459"/>
          </a:xfrm>
          <a:prstGeom prst="rect">
            <a:avLst/>
          </a:prstGeom>
          <a:solidFill>
            <a:srgbClr val="E4D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74536" y="4087367"/>
            <a:ext cx="4736592" cy="16459"/>
          </a:xfrm>
          <a:prstGeom prst="rect">
            <a:avLst/>
          </a:prstGeom>
          <a:solidFill>
            <a:srgbClr val="E4D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74536" y="4562855"/>
            <a:ext cx="4736592" cy="16459"/>
          </a:xfrm>
          <a:prstGeom prst="rect">
            <a:avLst/>
          </a:prstGeom>
          <a:solidFill>
            <a:srgbClr val="E4D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