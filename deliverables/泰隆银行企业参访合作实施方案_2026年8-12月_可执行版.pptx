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泰隆银行小微与科技企业参访合作 · 可执行版 V2.0｜2026.8—12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0" y="0"/>
            <a:ext cx="4526280" cy="6858000"/>
          </a:xfrm>
          <a:prstGeom prst="rect">
            <a:avLst/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28016" cy="13716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6400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合作实施方案 · 可执行版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658368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4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泰隆银行</a:t>
            </a:r>
          </a:p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小微与科技企业参访合作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2026 年 8—12 月示范周期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64008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日历倒排 · 责任矩阵 · 预算核算 · 台账工具 · 话术包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联合发起：复旦大学住房政策研究中心｜杨浦区科企联｜上海市科企联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拟合作方：浙江泰隆商业银行（上海地区相关机构，以最终确认为准）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645920"/>
            <a:ext cx="3840480" cy="3840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拿到即可开工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场旗舰活动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条服务通道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3—5—10—30 SLA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建议预算上限 20 万元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首场：8 月 20 日（周四）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免责：不构成授信或业务承诺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692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目录｜可执行落地路径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969264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以 V2 为主，融合 V1 主题细节与沟通节奏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45920" cy="3657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38560" cy="1778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泰隆银行小微与科技企业参访合作 · 可执行版 V2.0｜2026.8—12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9164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C98A2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23774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定位与目标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可验证口径 + 四方价值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371600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69164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C98A2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286000"/>
            <a:ext cx="23774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一池三链五场七步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运行框架与闭环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71600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69164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C98A2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23774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五场日历与倒排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真实日期 + 首场压缩版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371600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69164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C98A2A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286000"/>
            <a:ext cx="23774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三大专题模块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出海 / 具身智能 / AI 平台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57600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C98A2A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72000"/>
            <a:ext cx="23774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SOP 与三链闭环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完成判据 + 服务包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3657600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397764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C98A2A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572000"/>
            <a:ext cx="23774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组织 · 预算 · 分层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RACI / 人力 / 费用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657600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97764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C98A2A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572000"/>
            <a:ext cx="23774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KPI · 台账 · 风险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工具集与合规红线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280" y="3657600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60" y="397764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C98A2A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4572000"/>
            <a:ext cx="23774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启动决议与首月清单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7/29—8/27 逐日动作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692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V2.0 升级：从机制说明到可执行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969264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六项补强，拿到文件即可开工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45920" cy="3657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UPGRADE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38560" cy="1778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泰隆银行小微与科技企业参访合作 · 可执行版 V2.0｜2026.8—12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2148840" cy="64008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280160"/>
            <a:ext cx="205740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补强项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1280160"/>
            <a:ext cx="3063240" cy="64008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6624" y="1280160"/>
            <a:ext cx="297180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V1.0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280160"/>
            <a:ext cx="5440680" cy="64008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4" y="1280160"/>
            <a:ext cx="53492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V2.0 新增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965960"/>
            <a:ext cx="214884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965960"/>
            <a:ext cx="203911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时间可排期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51760" y="1965960"/>
            <a:ext cx="306324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24912" y="1965960"/>
            <a:ext cx="295351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仅有相对时点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1965960"/>
            <a:ext cx="544068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33872" y="1965960"/>
            <a:ext cx="533095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场锁定日期 + 真实倒排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642616"/>
            <a:ext cx="214884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2642616"/>
            <a:ext cx="203911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专题可落地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51760" y="2642616"/>
            <a:ext cx="306324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24912" y="2642616"/>
            <a:ext cx="295351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候选清单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0" y="2642616"/>
            <a:ext cx="544068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33872" y="2642616"/>
            <a:ext cx="533095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三个专题完整子方案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319272"/>
            <a:ext cx="214884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3319272"/>
            <a:ext cx="203911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责任到岗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51760" y="3319272"/>
            <a:ext cx="306324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24912" y="3319272"/>
            <a:ext cx="295351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角色描述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0" y="3319272"/>
            <a:ext cx="544068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33872" y="3319272"/>
            <a:ext cx="533095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RACI + 17 人配置表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995928"/>
            <a:ext cx="214884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3995928"/>
            <a:ext cx="203911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费用可核算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51760" y="3995928"/>
            <a:ext cx="306324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24912" y="3995928"/>
            <a:ext cx="295351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预算上限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720" y="3995928"/>
            <a:ext cx="544068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33872" y="3995928"/>
            <a:ext cx="533095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三档明细 + 全周期汇总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672584"/>
            <a:ext cx="214884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4672584"/>
            <a:ext cx="203911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工具可落表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51760" y="4672584"/>
            <a:ext cx="306324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24912" y="4672584"/>
            <a:ext cx="295351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字段建议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60720" y="4672584"/>
            <a:ext cx="544068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33872" y="4672584"/>
            <a:ext cx="533095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三张核心表 + SLA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349240"/>
            <a:ext cx="214884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" y="5349240"/>
            <a:ext cx="203911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执行有脚本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651760" y="5349240"/>
            <a:ext cx="306324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24912" y="5349240"/>
            <a:ext cx="295351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开场口径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760720" y="5349240"/>
            <a:ext cx="544068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33872" y="5349240"/>
            <a:ext cx="533095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话术包 / 检查表 / 应急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692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项目定位与可验证目标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969264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示范周期：2026.8.20 — 12.17｜五场旗舰 + 闭门诊断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45920" cy="3657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GOALS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38560" cy="1778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泰隆银行小微与科技企业参访合作 · 可执行版 V2.0｜2026.8—12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3657600" cy="48463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80160"/>
            <a:ext cx="82296" cy="484632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389888"/>
            <a:ext cx="333756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核心主张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737360"/>
            <a:ext cx="3337560" cy="427939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参访从单次交流升级为可持续服务入口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活动前识别真实需求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活动中完成诊断与资源匹配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活动后进入 30 日跟进台账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成熟案例回流下一期筛选与产品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80160"/>
            <a:ext cx="2331720" cy="65836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2544" y="1280160"/>
            <a:ext cx="224028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280160"/>
            <a:ext cx="3246120" cy="65836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9984" y="1280160"/>
            <a:ext cx="315468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可验证标志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60" y="1280160"/>
            <a:ext cx="1783080" cy="65836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21824" y="1280160"/>
            <a:ext cx="169164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验收时点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1984248"/>
            <a:ext cx="233172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1984248"/>
            <a:ext cx="222199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稳定企业入口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1984248"/>
            <a:ext cx="324612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1984248"/>
            <a:ext cx="313639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≥80 家已授权完整档案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6960" y="1984248"/>
            <a:ext cx="178308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0112" y="1984248"/>
            <a:ext cx="167335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12/17 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2679192"/>
            <a:ext cx="233172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0832" y="2679192"/>
            <a:ext cx="222199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打通三链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2679192"/>
            <a:ext cx="324612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2679192"/>
            <a:ext cx="313639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各 1 名主责 + 可核验记录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2679192"/>
            <a:ext cx="178308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40112" y="2679192"/>
            <a:ext cx="167335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9/30 机制；12 月数量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374136"/>
            <a:ext cx="233172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0832" y="3374136"/>
            <a:ext cx="222199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闭环机制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3374136"/>
            <a:ext cx="324612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48272" y="3374136"/>
            <a:ext cx="313639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3—5—10—30 执行率达标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66960" y="3374136"/>
            <a:ext cx="178308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40112" y="3374136"/>
            <a:ext cx="167335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每场 T+30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069080"/>
            <a:ext cx="233172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70832" y="4069080"/>
            <a:ext cx="222199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合规边界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75120" y="4069080"/>
            <a:ext cx="324612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48272" y="4069080"/>
            <a:ext cx="313639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零承诺授信表述；授权留痕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66960" y="4069080"/>
            <a:ext cx="178308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40112" y="4069080"/>
            <a:ext cx="167335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全周期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7680" y="4764024"/>
            <a:ext cx="233172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70832" y="4764024"/>
            <a:ext cx="222199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可复用资产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75120" y="4764024"/>
            <a:ext cx="324612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48272" y="4764024"/>
            <a:ext cx="313639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年报 + ≥10 案例 + 次年方案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66960" y="4764024"/>
            <a:ext cx="178308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40112" y="4764024"/>
            <a:ext cx="167335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12/31 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692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总体架构：一池 · 三链 · 五场 · 七步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969264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每一场参访都沉淀企业档案、服务任务与可追踪结果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45920" cy="3657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FRAME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38560" cy="1778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泰隆银行小微与科技企业参访合作 · 可执行版 V2.0｜2026.8—12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25880"/>
            <a:ext cx="2788920" cy="47548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325880"/>
            <a:ext cx="2788920" cy="822960"/>
          </a:xfrm>
          <a:prstGeom prst="rect">
            <a:avLst/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17320"/>
            <a:ext cx="2514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C98A2A"/>
                </a:solidFill>
                <a:latin typeface="微软雅黑"/>
                <a:ea typeface="微软雅黑"/>
                <a:cs typeface="微软雅黑"/>
              </a:rPr>
              <a:t>一池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联合企业服务池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77440"/>
            <a:ext cx="242316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行业/阶段/规模建档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授权后银行参与识别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不采无关敏感信息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325880"/>
            <a:ext cx="2788920" cy="47548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325880"/>
            <a:ext cx="2788920" cy="822960"/>
          </a:xfrm>
          <a:prstGeom prst="rect">
            <a:avLst/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417320"/>
            <a:ext cx="2514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C98A2A"/>
                </a:solidFill>
                <a:latin typeface="微软雅黑"/>
                <a:ea typeface="微软雅黑"/>
                <a:cs typeface="微软雅黑"/>
              </a:rPr>
              <a:t>三链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闭环服务通道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377440"/>
            <a:ext cx="242316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助贷助融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出海支持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科技链接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25880"/>
            <a:ext cx="2788920" cy="47548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325880"/>
            <a:ext cx="2788920" cy="822960"/>
          </a:xfrm>
          <a:prstGeom prst="rect">
            <a:avLst/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417320"/>
            <a:ext cx="2514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C98A2A"/>
                </a:solidFill>
                <a:latin typeface="微软雅黑"/>
                <a:ea typeface="微软雅黑"/>
                <a:cs typeface="微软雅黑"/>
              </a:rPr>
              <a:t>五场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月度旗舰活动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377440"/>
            <a:ext cx="242316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每场 20—30 家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30—50 人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高匹配另开闭门会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325880"/>
            <a:ext cx="2788920" cy="47548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325880"/>
            <a:ext cx="2788920" cy="822960"/>
          </a:xfrm>
          <a:prstGeom prst="rect">
            <a:avLst/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417320"/>
            <a:ext cx="2514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C98A2A"/>
                </a:solidFill>
                <a:latin typeface="微软雅黑"/>
                <a:ea typeface="微软雅黑"/>
                <a:cs typeface="微软雅黑"/>
              </a:rPr>
              <a:t>七步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标准服务闭环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377440"/>
            <a:ext cx="242316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立项→征集→分层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匹配→诊断→跟进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成果回流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692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七步闭环：硬性交付物与通关门槛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969264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未达判据不得进入下一步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45920" cy="3657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SOP-7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38560" cy="1778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泰隆银行小微与科技企业参访合作 · 可执行版 V2.0｜2026.8—12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280160"/>
            <a:ext cx="2606040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步骤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280160"/>
            <a:ext cx="4343400" cy="59436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5264" y="1280160"/>
            <a:ext cx="4251960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硬性交付物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280160"/>
            <a:ext cx="3794760" cy="59436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44384" y="1280160"/>
            <a:ext cx="3703320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不通过则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920240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920240"/>
            <a:ext cx="2587752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 主题立项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1920240"/>
            <a:ext cx="4343400" cy="5943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3552" y="1920240"/>
            <a:ext cx="4233672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一页活动任务书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1920240"/>
            <a:ext cx="3794760" cy="5943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2" y="1920240"/>
            <a:ext cx="3685032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未确认不得发邀请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551176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2551176"/>
            <a:ext cx="2587752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2 企业征集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2551176"/>
            <a:ext cx="4343400" cy="59436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73552" y="2551176"/>
            <a:ext cx="4233672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邀请函+报名表+用途说明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2551176"/>
            <a:ext cx="3794760" cy="59436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62672" y="2551176"/>
            <a:ext cx="3685032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无用途说明不得收集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182112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3182112"/>
            <a:ext cx="2587752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3 需求分层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3182112"/>
            <a:ext cx="4343400" cy="5943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73552" y="3182112"/>
            <a:ext cx="4233672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分层名单+席位表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3182112"/>
            <a:ext cx="3794760" cy="5943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62672" y="3182112"/>
            <a:ext cx="3685032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 类须指定主责人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813048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3813048"/>
            <a:ext cx="2587752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4 活动匹配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400" y="3813048"/>
            <a:ext cx="4343400" cy="59436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73552" y="3813048"/>
            <a:ext cx="4233672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企业—需求—负责人表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0" y="3813048"/>
            <a:ext cx="3794760" cy="59436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62672" y="3813048"/>
            <a:ext cx="3685032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空缺率&gt;20% 延期/缩减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443984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4443984"/>
            <a:ext cx="2587752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5 现场诊断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00400" y="4443984"/>
            <a:ext cx="4343400" cy="5943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73552" y="4443984"/>
            <a:ext cx="4233672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每企 1 张服务确认卡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89520" y="4443984"/>
            <a:ext cx="3794760" cy="5943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62672" y="4443984"/>
            <a:ext cx="3685032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未签卡不进台账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074920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" y="5074920"/>
            <a:ext cx="2587752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6 限时跟进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0400" y="5074920"/>
            <a:ext cx="4343400" cy="59436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73552" y="5074920"/>
            <a:ext cx="4233672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3/5/10/30 台账更新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89520" y="5074920"/>
            <a:ext cx="3794760" cy="59436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62672" y="5074920"/>
            <a:ext cx="3685032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逾期自动升级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705856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0352" y="5705856"/>
            <a:ext cx="2587752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7 成果回流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200400" y="5705856"/>
            <a:ext cx="4343400" cy="5943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73552" y="5705856"/>
            <a:ext cx="4233672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复盘表+案例卡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89520" y="5705856"/>
            <a:ext cx="3794760" cy="5943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62672" y="5705856"/>
            <a:ext cx="3685032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无书面授权不得外发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692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五场旗舰活动日历（锁定日期）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969264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统一周四下午；避开国庆与中秋密集商务期；T-30 立项会最终确认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45920" cy="3657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CALENDAR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38560" cy="1778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泰隆银行小微与科技企业参访合作 · 可执行版 V2.0｜2026.8—12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234440"/>
            <a:ext cx="1051560" cy="65836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234440"/>
            <a:ext cx="9601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场次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1234440"/>
            <a:ext cx="2423160" cy="65836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72184" y="1234440"/>
            <a:ext cx="23317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日期时段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1234440"/>
            <a:ext cx="2971800" cy="65836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41064" y="1234440"/>
            <a:ext cx="288036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主题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1234440"/>
            <a:ext cx="2148840" cy="65836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58584" y="1234440"/>
            <a:ext cx="205740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234440"/>
            <a:ext cx="1325880" cy="65836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3144" y="1234440"/>
            <a:ext cx="123444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规模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69880" y="1234440"/>
            <a:ext cx="1965960" cy="65836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24744" y="1234440"/>
            <a:ext cx="18745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承办牵头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1938528"/>
            <a:ext cx="105156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1938528"/>
            <a:ext cx="94183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第1场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17320" y="1938528"/>
            <a:ext cx="242316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90472" y="1938528"/>
            <a:ext cx="231343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8/20 周四 14:00-16:30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1938528"/>
            <a:ext cx="297180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9352" y="1938528"/>
            <a:ext cx="286207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启动与小微金融体检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1938528"/>
            <a:ext cx="214884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76872" y="1938528"/>
            <a:ext cx="203911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银行开放日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1938528"/>
            <a:ext cx="132588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71432" y="1938528"/>
            <a:ext cx="121615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25家/45人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69880" y="1938528"/>
            <a:ext cx="196596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43032" y="1938528"/>
            <a:ext cx="185623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银行+杨浦科企联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" y="2633472"/>
            <a:ext cx="105156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" y="2633472"/>
            <a:ext cx="94183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第2场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17320" y="2633472"/>
            <a:ext cx="242316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90472" y="2633472"/>
            <a:ext cx="231343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9/10 周四 13:30-17:00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86200" y="2633472"/>
            <a:ext cx="297180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59352" y="2633472"/>
            <a:ext cx="286207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出海与跨境：东南亚专题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03720" y="2633472"/>
            <a:ext cx="214884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76872" y="2633472"/>
            <a:ext cx="203911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国际业务+出海机构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98280" y="2633472"/>
            <a:ext cx="132588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71432" y="2633472"/>
            <a:ext cx="121615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30家/55人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469880" y="2633472"/>
            <a:ext cx="196596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43032" y="2633472"/>
            <a:ext cx="185623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市科企联+银行国际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0040" y="3328416"/>
            <a:ext cx="105156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3192" y="3328416"/>
            <a:ext cx="94183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第3场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17320" y="3328416"/>
            <a:ext cx="242316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90472" y="3328416"/>
            <a:ext cx="231343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10/22 周四 13:30-17:00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86200" y="3328416"/>
            <a:ext cx="297180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59352" y="3328416"/>
            <a:ext cx="286207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科技金融：具身智能专题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03720" y="3328416"/>
            <a:ext cx="214884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76872" y="3328416"/>
            <a:ext cx="203911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高校/园区/企业现场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98280" y="3328416"/>
            <a:ext cx="132588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71432" y="3328416"/>
            <a:ext cx="121615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25家/50人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469880" y="3328416"/>
            <a:ext cx="196596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43032" y="3328416"/>
            <a:ext cx="185623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复旦中心+杨浦科企联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0040" y="4023360"/>
            <a:ext cx="105156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3192" y="4023360"/>
            <a:ext cx="94183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第4场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417320" y="4023360"/>
            <a:ext cx="242316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490472" y="4023360"/>
            <a:ext cx="231343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11/19 周四 13:30-17:30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886200" y="4023360"/>
            <a:ext cx="297180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59352" y="4023360"/>
            <a:ext cx="286207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产业链协同｜AI平台参访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903720" y="4023360"/>
            <a:ext cx="214884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76872" y="4023360"/>
            <a:ext cx="203911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链主或AI平台现场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098280" y="4023360"/>
            <a:ext cx="132588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71432" y="4023360"/>
            <a:ext cx="121615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30家/55人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469880" y="4023360"/>
            <a:ext cx="196596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543032" y="4023360"/>
            <a:ext cx="185623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市科企联+银行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0040" y="4718304"/>
            <a:ext cx="105156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93192" y="4718304"/>
            <a:ext cx="94183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第5场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417320" y="4718304"/>
            <a:ext cx="242316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490472" y="4718304"/>
            <a:ext cx="231343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12/17 周四 14:00-17:30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86200" y="4718304"/>
            <a:ext cx="297180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959352" y="4718304"/>
            <a:ext cx="286207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年度复盘与生态共建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903720" y="4718304"/>
            <a:ext cx="214884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976872" y="4718304"/>
            <a:ext cx="203911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银行指定会场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098280" y="4718304"/>
            <a:ext cx="132588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71432" y="4718304"/>
            <a:ext cx="121615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40家/80人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469880" y="4718304"/>
            <a:ext cx="196596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543032" y="4718304"/>
            <a:ext cx="1856232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四方联合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5212080"/>
            <a:ext cx="1124712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⚠ 第1场时间提示：标准 T-30 已过期，须用压缩版倒排（7/29 启动，16 个工作日）。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若 7/31 前无法召开四方筹备会，建议顺延至 9/3，第2场改 9/24；须在 7/31 前书面二选一确认。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692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五场主题细节（融合 V1 重点企业与闭环）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969264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对象口径清晰，输出可核验，闭环有时限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45920" cy="3657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THEME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38560" cy="1778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泰隆银行小微与科技企业参访合作 · 可执行版 V2.0｜2026.8—12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80160"/>
            <a:ext cx="1600200" cy="713232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1280160"/>
            <a:ext cx="150876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场次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1280160"/>
            <a:ext cx="3246120" cy="713232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66544" y="1280160"/>
            <a:ext cx="315468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重点企业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1280160"/>
            <a:ext cx="3246120" cy="713232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58384" y="1280160"/>
            <a:ext cx="315468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主要输出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1280160"/>
            <a:ext cx="2880360" cy="713232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280160"/>
            <a:ext cx="278892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闭环重点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039112"/>
            <a:ext cx="1600200" cy="71323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2039112"/>
            <a:ext cx="149047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8月 启动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2039112"/>
            <a:ext cx="3246120" cy="71323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84832" y="2039112"/>
            <a:ext cx="313639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1—5年订单/研发期小微科技企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2039112"/>
            <a:ext cx="3246120" cy="71323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76672" y="2039112"/>
            <a:ext cx="313639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首批档案+融资需求卡+基线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2039112"/>
            <a:ext cx="2880360" cy="71323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68512" y="2039112"/>
            <a:ext cx="277063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A类线索5日内分派客户经理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2788920"/>
            <a:ext cx="1600200" cy="71323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2788920"/>
            <a:ext cx="149047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9月 出海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11680" y="2788920"/>
            <a:ext cx="3246120" cy="71323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84832" y="2788920"/>
            <a:ext cx="313639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外贸/跨境电商/东南亚布局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2788920"/>
            <a:ext cx="3246120" cy="71323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76672" y="2788920"/>
            <a:ext cx="313639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成熟度诊断+金融/伙伴清单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0" y="2788920"/>
            <a:ext cx="2880360" cy="71323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68512" y="2788920"/>
            <a:ext cx="277063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跨境专组；T+10首次方案反馈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3538728"/>
            <a:ext cx="1600200" cy="71323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3538728"/>
            <a:ext cx="149047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10月 具身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11680" y="3538728"/>
            <a:ext cx="3246120" cy="71323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84832" y="3538728"/>
            <a:ext cx="313639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专精特新/具身智能/AI应用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03520" y="3538728"/>
            <a:ext cx="3246120" cy="71323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76672" y="3538728"/>
            <a:ext cx="313639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技术需求卡+成果对接名单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95360" y="3538728"/>
            <a:ext cx="2880360" cy="71323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68512" y="3538728"/>
            <a:ext cx="277063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银行与科技伙伴双轨跟进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4288536"/>
            <a:ext cx="1600200" cy="71323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4288536"/>
            <a:ext cx="149047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11月 产业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011680" y="4288536"/>
            <a:ext cx="3246120" cy="71323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84832" y="4288536"/>
            <a:ext cx="313639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链主上下游与配套企业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0" y="4288536"/>
            <a:ext cx="3246120" cy="71323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76672" y="4288536"/>
            <a:ext cx="313639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供需清单+路演反馈+意向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95360" y="4288536"/>
            <a:ext cx="2880360" cy="71323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68512" y="4288536"/>
            <a:ext cx="277063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项目簇+闭门会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5038344"/>
            <a:ext cx="1600200" cy="71323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" y="5038344"/>
            <a:ext cx="149047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12月 复盘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11680" y="5038344"/>
            <a:ext cx="3246120" cy="71323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84832" y="5038344"/>
            <a:ext cx="313639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前四期重点+新增+生态伙伴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303520" y="5038344"/>
            <a:ext cx="3246120" cy="71323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76672" y="5038344"/>
            <a:ext cx="313639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年报+案例集+次年主题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595360" y="5038344"/>
            <a:ext cx="2880360" cy="71323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68512" y="5038344"/>
            <a:ext cx="277063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未结事项90日延续跟进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692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第1场压缩倒排（8/20 · 16个工作日）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969264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节点建议上午10:00前完成；未完成即触发处置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45920" cy="3657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T-16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38560" cy="1778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泰隆银行小微与科技企业参访合作 · 可执行版 V2.0｜2026.8—12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1965960" cy="438912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234440"/>
            <a:ext cx="1874520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日期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1234440"/>
            <a:ext cx="1234440" cy="438912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3744" y="1234440"/>
            <a:ext cx="1143000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节点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40" y="1234440"/>
            <a:ext cx="7635240" cy="438912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03904" y="1234440"/>
            <a:ext cx="7543800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关键动作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719072"/>
            <a:ext cx="1965960" cy="43891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719072"/>
            <a:ext cx="1856232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7/29 周三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1719072"/>
            <a:ext cx="1234440" cy="43891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2032" y="1719072"/>
            <a:ext cx="1124712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D-16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40" y="1719072"/>
            <a:ext cx="7635240" cy="43891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22192" y="1719072"/>
            <a:ext cx="7525512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四方筹备会：主题/场地/预算/联系人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194560"/>
            <a:ext cx="1965960" cy="43891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2194560"/>
            <a:ext cx="1856232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7/31 周五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68880" y="2194560"/>
            <a:ext cx="1234440" cy="43891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42032" y="2194560"/>
            <a:ext cx="1124712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D-14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49040" y="2194560"/>
            <a:ext cx="7635240" cy="43891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22192" y="2194560"/>
            <a:ext cx="7525512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任务书定稿；场地锁定；口径清单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670048"/>
            <a:ext cx="1965960" cy="43891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2670048"/>
            <a:ext cx="1856232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8/3 周一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68880" y="2670048"/>
            <a:ext cx="1234440" cy="43891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42032" y="2670048"/>
            <a:ext cx="1124712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D-13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49040" y="2670048"/>
            <a:ext cx="7635240" cy="43891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22192" y="2670048"/>
            <a:ext cx="7525512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三件套发布（邀请函/报名表/用途说明）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145536"/>
            <a:ext cx="1965960" cy="43891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3145536"/>
            <a:ext cx="1856232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8/7 周五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68880" y="3145536"/>
            <a:ext cx="1234440" cy="43891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42032" y="3145536"/>
            <a:ext cx="1124712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D-9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49040" y="3145536"/>
            <a:ext cx="7635240" cy="43891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22192" y="3145536"/>
            <a:ext cx="7525512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报名首轮截止；启动定向补邀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621024"/>
            <a:ext cx="1965960" cy="43891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3621024"/>
            <a:ext cx="1856232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8/11 周二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468880" y="3621024"/>
            <a:ext cx="1234440" cy="43891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42032" y="3621024"/>
            <a:ext cx="1124712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D-7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749040" y="3621024"/>
            <a:ext cx="7635240" cy="43891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22192" y="3621024"/>
            <a:ext cx="7525512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A/B/C 分层；席位确认；预访谈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096512"/>
            <a:ext cx="1965960" cy="43891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" y="4096512"/>
            <a:ext cx="1856232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8/13 周四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68880" y="4096512"/>
            <a:ext cx="1234440" cy="43891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42032" y="4096512"/>
            <a:ext cx="1124712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D-5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49040" y="4096512"/>
            <a:ext cx="7635240" cy="43891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22192" y="4096512"/>
            <a:ext cx="7525512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匹配表定稿；排班；物料下单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4572000"/>
            <a:ext cx="1965960" cy="43891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0352" y="4572000"/>
            <a:ext cx="1856232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8/17 周一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468880" y="4572000"/>
            <a:ext cx="1234440" cy="43891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42032" y="4572000"/>
            <a:ext cx="1124712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D-3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749040" y="4572000"/>
            <a:ext cx="7635240" cy="43891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22192" y="4572000"/>
            <a:ext cx="7525512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全流程彩排；稿件终审；应急确认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5047488"/>
            <a:ext cx="1965960" cy="43891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0352" y="5047488"/>
            <a:ext cx="1856232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8/19 周三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468880" y="5047488"/>
            <a:ext cx="1234440" cy="43891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42032" y="5047488"/>
            <a:ext cx="1124712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D-1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749040" y="5047488"/>
            <a:ext cx="7635240" cy="43891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22192" y="5047488"/>
            <a:ext cx="7525512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到场确认；设备网络；敏感内容复核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5522976"/>
            <a:ext cx="1965960" cy="43891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0352" y="5522976"/>
            <a:ext cx="1856232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8/20 周四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468880" y="5522976"/>
            <a:ext cx="1234440" cy="43891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42032" y="5522976"/>
            <a:ext cx="1124712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T日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749040" y="5522976"/>
            <a:ext cx="7635240" cy="43891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822192" y="5522976"/>
            <a:ext cx="7525512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活动执行；当日资料归档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692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第2—5场关键节点对照（标准倒排）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969264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建议固定每周四为项目日，立项/匹配/周会合并占用半天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45920" cy="3657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GANTT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38560" cy="1778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泰隆银行小微与科技企业参访合作 · 可执行版 V2.0｜2026.8—12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2331720" cy="530352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280160"/>
            <a:ext cx="224028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节点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280160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9504" y="1280160"/>
            <a:ext cx="196596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第2场9/10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1280160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2624" y="1280160"/>
            <a:ext cx="196596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第3场10/22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1280160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95744" y="1280160"/>
            <a:ext cx="196596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第4场11/19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280160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8864" y="1280160"/>
            <a:ext cx="196596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第5场12/17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856232"/>
            <a:ext cx="233172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1856232"/>
            <a:ext cx="222199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T-30 立项会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34640" y="1856232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07792" y="1856232"/>
            <a:ext cx="194767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7/30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1856232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10912" y="1856232"/>
            <a:ext cx="194767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9/10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1856232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4032" y="1856232"/>
            <a:ext cx="194767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10/8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1856232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17152" y="1856232"/>
            <a:ext cx="194767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11/5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423160"/>
            <a:ext cx="2331720" cy="53035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423160"/>
            <a:ext cx="222199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T-20 三件套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40" y="2423160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07792" y="2423160"/>
            <a:ext cx="194767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8/13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37760" y="2423160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0912" y="2423160"/>
            <a:ext cx="194767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9/24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40880" y="2423160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14032" y="2423160"/>
            <a:ext cx="194767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10/22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2423160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17152" y="2423160"/>
            <a:ext cx="194767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11/19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2990088"/>
            <a:ext cx="233172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2990088"/>
            <a:ext cx="222199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T-12 报名截止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834640" y="2990088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07792" y="2990088"/>
            <a:ext cx="194767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8/21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937760" y="2990088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10912" y="2990088"/>
            <a:ext cx="194767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10/9*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040880" y="2990088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14032" y="2990088"/>
            <a:ext cx="194767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10/30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0" y="2990088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2990088"/>
            <a:ext cx="194767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11/27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3557016"/>
            <a:ext cx="2331720" cy="53035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3557016"/>
            <a:ext cx="222199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T-10 分层匹配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834640" y="3557016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07792" y="3557016"/>
            <a:ext cx="194767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8/27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937760" y="3557016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10912" y="3557016"/>
            <a:ext cx="194767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10/8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040880" y="3557016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14032" y="3557016"/>
            <a:ext cx="194767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11/5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144000" y="3557016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17152" y="3557016"/>
            <a:ext cx="194767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12/3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4123944"/>
            <a:ext cx="233172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0352" y="4123944"/>
            <a:ext cx="222199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T日 活动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834640" y="4123944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07792" y="4123944"/>
            <a:ext cx="194767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9/10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937760" y="4123944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10912" y="4123944"/>
            <a:ext cx="194767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10/22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040880" y="4123944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14032" y="4123944"/>
            <a:ext cx="194767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11/19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144000" y="4123944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17152" y="4123944"/>
            <a:ext cx="194767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12/17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200" y="4690872"/>
            <a:ext cx="2331720" cy="53035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0352" y="4690872"/>
            <a:ext cx="222199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T+10 首次反馈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834640" y="4690872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07792" y="4690872"/>
            <a:ext cx="194767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9/24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937760" y="4690872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10912" y="4690872"/>
            <a:ext cx="194767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11/5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040880" y="4690872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14032" y="4690872"/>
            <a:ext cx="194767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12/3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144000" y="4690872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217152" y="4690872"/>
            <a:ext cx="194767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12/31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57200" y="5257800"/>
            <a:ext cx="233172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0352" y="5257800"/>
            <a:ext cx="222199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T+30 闭环复盘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834640" y="5257800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907792" y="5257800"/>
            <a:ext cx="194767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10/22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937760" y="5257800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010912" y="5257800"/>
            <a:ext cx="194767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12/3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040880" y="5257800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114032" y="5257800"/>
            <a:ext cx="194767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12/31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144000" y="5257800"/>
            <a:ext cx="205740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217152" y="5257800"/>
            <a:ext cx="194767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2027/1/28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*10/2 报名截止遇假期顺延至 10/9。第3场 T-30 与第2场活动同日，合并召开。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692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单场标准流程（专题版 210 分钟）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969264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基础版 150 分钟可删茶歇与参观；年度场加 40 分钟报告与共创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45920" cy="3657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38560" cy="1778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泰隆银行小微与科技企业参访合作 · 可执行版 V2.0｜2026.8—12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2148840" cy="50292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234440"/>
            <a:ext cx="20574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时间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1234440"/>
            <a:ext cx="4069080" cy="50292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6624" y="1234440"/>
            <a:ext cx="397764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环节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1234440"/>
            <a:ext cx="4617720" cy="50292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21424" y="1234440"/>
            <a:ext cx="452628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现场产出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783080"/>
            <a:ext cx="214884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783080"/>
            <a:ext cx="203911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13:30-13:50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51760" y="1783080"/>
            <a:ext cx="406908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24912" y="1783080"/>
            <a:ext cx="395935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签到与需求确认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1783080"/>
            <a:ext cx="461772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1783080"/>
            <a:ext cx="450799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有效到场名单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322576"/>
            <a:ext cx="214884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2322576"/>
            <a:ext cx="203911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13:50-14:05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51760" y="2322576"/>
            <a:ext cx="406908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24912" y="2322576"/>
            <a:ext cx="395935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开场与机制说明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0" y="2322576"/>
            <a:ext cx="461772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9712" y="2322576"/>
            <a:ext cx="450799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统一预期（附件6口径）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862072"/>
            <a:ext cx="214884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2862072"/>
            <a:ext cx="203911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14:05-14:35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51760" y="2862072"/>
            <a:ext cx="406908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24912" y="2862072"/>
            <a:ext cx="395935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主题分享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2862072"/>
            <a:ext cx="461772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39712" y="2862072"/>
            <a:ext cx="450799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可操作框架要点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401568"/>
            <a:ext cx="214884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3401568"/>
            <a:ext cx="203911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14:35-15:10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51760" y="3401568"/>
            <a:ext cx="406908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24912" y="3401568"/>
            <a:ext cx="395935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案例与企业路演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66560" y="3401568"/>
            <a:ext cx="461772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39712" y="3401568"/>
            <a:ext cx="450799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需求与能力展示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941064"/>
            <a:ext cx="214884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3941064"/>
            <a:ext cx="203911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15:10-15:25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51760" y="3941064"/>
            <a:ext cx="406908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24912" y="3941064"/>
            <a:ext cx="395935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茶歇与自由对接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66560" y="3941064"/>
            <a:ext cx="461772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39712" y="3941064"/>
            <a:ext cx="450799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客户经理定点站位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480560"/>
            <a:ext cx="214884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" y="4480560"/>
            <a:ext cx="203911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15:25-16:25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651760" y="4480560"/>
            <a:ext cx="406908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24912" y="4480560"/>
            <a:ext cx="395935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分组问诊（核心）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766560" y="4480560"/>
            <a:ext cx="461772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39712" y="4480560"/>
            <a:ext cx="450799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每企1张服务确认卡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020056"/>
            <a:ext cx="214884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0352" y="5020056"/>
            <a:ext cx="203911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16:25-16:55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51760" y="5020056"/>
            <a:ext cx="406908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24912" y="5020056"/>
            <a:ext cx="395935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现场参观/资源交流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766560" y="5020056"/>
            <a:ext cx="461772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39712" y="5020056"/>
            <a:ext cx="450799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进一步线索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5559552"/>
            <a:ext cx="214884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0352" y="5559552"/>
            <a:ext cx="203911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16:55-17:00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651760" y="5559552"/>
            <a:ext cx="406908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24912" y="5559552"/>
            <a:ext cx="395935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总结与下一步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766560" y="5559552"/>
            <a:ext cx="461772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39712" y="5559552"/>
            <a:ext cx="450799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责任人+反馈时限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692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三大专题模块（可执行子方案）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969264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共用 SOP 与台账；仅对象口径、对接路径、产出物专题化｜三条红线：不预设结论·不越权表述·不绕开审批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45920" cy="3657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TOPICS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38560" cy="1778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泰隆银行小微与科技企业参访合作 · 可执行版 V2.0｜2026.8—12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80160"/>
            <a:ext cx="3703320" cy="48463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280160"/>
            <a:ext cx="82296" cy="4846320"/>
          </a:xfrm>
          <a:prstGeom prst="rect">
            <a:avLst/>
          </a:prstGeom>
          <a:solidFill>
            <a:srgbClr val="4EA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389888"/>
            <a:ext cx="338328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9月｜东南亚出海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37360"/>
            <a:ext cx="3383280" cy="427939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目标：识别30家出海阶段与痛点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产出：成熟度分级+金融清单+伙伴清单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筛出15家进入专项服务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启动：国际业务口径确认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≥2家伙伴利益冲突披露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可联动9/12出海峰会前置对接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280160"/>
            <a:ext cx="3703320" cy="48463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280160"/>
            <a:ext cx="82296" cy="484632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389888"/>
            <a:ext cx="338328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10月｜具身智能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737360"/>
            <a:ext cx="3383280" cy="427939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目标：理解技术分层与商业化节奏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对象：本体/零部件/算法/场景方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产出：技术/场景需求卡+观察维度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银行侧：非财务评估维度探讨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红线：参访≠投资建议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措施：无拍摄区+引导+材料回收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280160"/>
            <a:ext cx="3703320" cy="48463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280160"/>
            <a:ext cx="82296" cy="4846320"/>
          </a:xfrm>
          <a:prstGeom prst="rect">
            <a:avLst/>
          </a:prstGeom>
          <a:solidFill>
            <a:srgbClr val="C9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389888"/>
            <a:ext cx="338328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11月｜AI平台与产业链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737360"/>
            <a:ext cx="3383280" cy="427939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目标：AI生产力真实成本与采购方式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产出：需求调研摘要+供需清单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算力/Token信贷构想仅作调研议题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不进入产品承诺或对外宣传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启动：平台/链主确认接待范围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问卷合规审阅+企业授权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692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SOP 核心：3—5—10—30 服务时限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969264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工作日计时；每一阶段设完成判据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45920" cy="3657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SLA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38560" cy="1778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泰隆银行小微与科技企业参访合作 · 可执行版 V2.0｜2026.8—12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280160"/>
            <a:ext cx="13258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时点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1280160"/>
            <a:ext cx="4343400" cy="64008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75104" y="1280160"/>
            <a:ext cx="42519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动作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280160"/>
            <a:ext cx="2331720" cy="64008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280160"/>
            <a:ext cx="22402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责任岗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1280160"/>
            <a:ext cx="2697480" cy="64008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41664" y="1280160"/>
            <a:ext cx="26060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完成判据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965960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1965960"/>
            <a:ext cx="130759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T+3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1965960"/>
            <a:ext cx="434340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93392" y="1965960"/>
            <a:ext cx="423367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建档归档+感谢信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965960"/>
            <a:ext cx="233172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1965960"/>
            <a:ext cx="222199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数据管理员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1965960"/>
            <a:ext cx="269748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59952" y="1965960"/>
            <a:ext cx="258775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建档率100%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642616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2642616"/>
            <a:ext cx="130759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T+5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20240" y="2642616"/>
            <a:ext cx="434340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93392" y="2642616"/>
            <a:ext cx="423367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任务分派+首次联系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2642616"/>
            <a:ext cx="233172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2642616"/>
            <a:ext cx="222199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三链负责人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0" y="2642616"/>
            <a:ext cx="269748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59952" y="2642616"/>
            <a:ext cx="258775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分派率100%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319272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3319272"/>
            <a:ext cx="130759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T+10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920240" y="3319272"/>
            <a:ext cx="434340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93392" y="3319272"/>
            <a:ext cx="423367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状态反馈（受理/补件/转介/不适配）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3319272"/>
            <a:ext cx="233172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2512" y="3319272"/>
            <a:ext cx="222199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主责任人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0" y="3319272"/>
            <a:ext cx="269748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59952" y="3319272"/>
            <a:ext cx="258775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反馈率≥90%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995928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352" y="3995928"/>
            <a:ext cx="130759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T+20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920240" y="3995928"/>
            <a:ext cx="434340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93392" y="3995928"/>
            <a:ext cx="423367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中期催办+跨团队协调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9360" y="3995928"/>
            <a:ext cx="233172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82512" y="3995928"/>
            <a:ext cx="222199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项目经理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0" y="3995928"/>
            <a:ext cx="269748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59952" y="3995928"/>
            <a:ext cx="258775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逾期清零或升级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4672584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4672584"/>
            <a:ext cx="130759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T+30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920240" y="4672584"/>
            <a:ext cx="434340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93392" y="4672584"/>
            <a:ext cx="423367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闭环复盘+终态标记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09360" y="4672584"/>
            <a:ext cx="233172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82512" y="4672584"/>
            <a:ext cx="222199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项目办公室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86800" y="4672584"/>
            <a:ext cx="269748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59952" y="4672584"/>
            <a:ext cx="2587752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全部任务有终态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5120640"/>
            <a:ext cx="1124712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沟通节奏（融合 V1）：月度立项会（T-30）｜会前碰头（T-10、T-3）｜服务周会（活动后连续4周，每周30分钟只谈逾期）｜10月中期复盘｜12月年度复盘。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口诀：固定周四、固定三链、固定一张卡、固定 3—5—10—30。无责任人和日期的事项不进台账；进台账的事项一律有终态。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692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三条服务链路：输入—输出—闭环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969264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定位清晰，合规边界清晰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45920" cy="3657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CHAINS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38560" cy="1778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泰隆银行小微与科技企业参访合作 · 可执行版 V2.0｜2026.8—12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80160"/>
            <a:ext cx="3703320" cy="48463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280160"/>
            <a:ext cx="82296" cy="4846320"/>
          </a:xfrm>
          <a:prstGeom prst="rect">
            <a:avLst/>
          </a:prstGeom>
          <a:solidFill>
            <a:srgbClr val="4EA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389888"/>
            <a:ext cx="338328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助贷与助融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37360"/>
            <a:ext cx="3383280" cy="427939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需求：流动资金/订单/设备/研发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输出：融资体检+材料清单+路径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闭环：银行独立尽调审批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不适配→担保/政策/股权转介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禁语：保证批贷/打招呼/改报表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禁止收取任何助贷撮合费用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280160"/>
            <a:ext cx="3703320" cy="48463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280160"/>
            <a:ext cx="82296" cy="484632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389888"/>
            <a:ext cx="338328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出海支持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737360"/>
            <a:ext cx="3383280" cy="427939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需求：跨境收付/贸易融资/汇率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输出：成熟度诊断+金融/伙伴清单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阶段：准备/首单/增长/本地化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银行管金融，伙伴管法税知产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伙伴须事前披露收费关系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现场不作个案跨境业务承诺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280160"/>
            <a:ext cx="3703320" cy="48463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280160"/>
            <a:ext cx="82296" cy="4846320"/>
          </a:xfrm>
          <a:prstGeom prst="rect">
            <a:avLst/>
          </a:prstGeom>
          <a:solidFill>
            <a:srgbClr val="C9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389888"/>
            <a:ext cx="338328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科技链接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737360"/>
            <a:ext cx="3383280" cy="427939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需求：技术供需/场景/数智化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输出：需求卡+匹配建议+路演反馈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闭环：小试/中试/采购/联合研发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判据：双方确认下一步与时间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产业链：链主带动上下游路演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不以技术展示结束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692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组织机制与 RACI（摘要）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969264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每行 A 唯一；A 可授权 R 但不转移责任；逾期追责指向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45920" cy="3657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RACI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38560" cy="1778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泰隆银行小微与科技企业参访合作 · 可执行版 V2.0｜2026.8—12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34440"/>
            <a:ext cx="1965960" cy="50292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1234440"/>
            <a:ext cx="18745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角色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1234440"/>
            <a:ext cx="2880360" cy="50292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2304" y="1234440"/>
            <a:ext cx="27889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组成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1234440"/>
            <a:ext cx="3611880" cy="50292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58384" y="1234440"/>
            <a:ext cx="352044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核心职责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234440"/>
            <a:ext cx="2331720" cy="50292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1234440"/>
            <a:ext cx="224028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投入强度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1783080"/>
            <a:ext cx="196596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1783080"/>
            <a:ext cx="185623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指导组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40" y="1783080"/>
            <a:ext cx="288036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50592" y="1783080"/>
            <a:ext cx="277063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四方分管负责人各1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1783080"/>
            <a:ext cx="361188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76672" y="1783080"/>
            <a:ext cx="350215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年度方向/重大签批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1783080"/>
            <a:ext cx="233172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34272" y="1783080"/>
            <a:ext cx="222199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每季1次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2322576"/>
            <a:ext cx="196596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2322576"/>
            <a:ext cx="185623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项目办公室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77440" y="2322576"/>
            <a:ext cx="288036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50592" y="2322576"/>
            <a:ext cx="277063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发起方+银行联系人共4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2322576"/>
            <a:ext cx="361188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76672" y="2322576"/>
            <a:ext cx="350215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计划/台账/催办/报告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2322576"/>
            <a:ext cx="233172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34272" y="2322576"/>
            <a:ext cx="222199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每周≈4h/人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2862072"/>
            <a:ext cx="196596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2862072"/>
            <a:ext cx="185623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三链负责人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77440" y="2862072"/>
            <a:ext cx="288036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50592" y="2862072"/>
            <a:ext cx="277063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助贷/出海/科技各1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03520" y="2862072"/>
            <a:ext cx="361188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76672" y="2862072"/>
            <a:ext cx="350215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判断/分派/质量/反馈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61120" y="2862072"/>
            <a:ext cx="233172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34272" y="2862072"/>
            <a:ext cx="222199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活动周≈8h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3401568"/>
            <a:ext cx="196596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3401568"/>
            <a:ext cx="185623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活动执行组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377440" y="3401568"/>
            <a:ext cx="288036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50592" y="3401568"/>
            <a:ext cx="277063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会务/主持/记录/摄影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0" y="3401568"/>
            <a:ext cx="361188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76672" y="3401568"/>
            <a:ext cx="350215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现场运行与应急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61120" y="3401568"/>
            <a:ext cx="233172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34272" y="3401568"/>
            <a:ext cx="222199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T-5至T+3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3941064"/>
            <a:ext cx="196596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" y="3941064"/>
            <a:ext cx="185623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合规与数据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377440" y="3941064"/>
            <a:ext cx="288036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50592" y="3941064"/>
            <a:ext cx="277063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银行合规+数据管理员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303520" y="3941064"/>
            <a:ext cx="361188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76672" y="3941064"/>
            <a:ext cx="350215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口径/授权/材料审查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961120" y="3941064"/>
            <a:ext cx="233172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34272" y="3941064"/>
            <a:ext cx="222199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每场2审阅点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5760" y="4206240"/>
            <a:ext cx="5440680" cy="347472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0624" y="4206240"/>
            <a:ext cx="5349240" cy="3474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关键任务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852160" y="4206240"/>
            <a:ext cx="5440680" cy="347472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07024" y="4206240"/>
            <a:ext cx="5349240" cy="3474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最终负责（A）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5760" y="4599432"/>
            <a:ext cx="5440680" cy="34747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8912" y="4599432"/>
            <a:ext cx="5330952" cy="3474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单场主题立项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852160" y="4599432"/>
            <a:ext cx="5440680" cy="34747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25312" y="4599432"/>
            <a:ext cx="5330952" cy="3474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项目办 A/R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65760" y="4983480"/>
            <a:ext cx="5440680" cy="34747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8912" y="4983480"/>
            <a:ext cx="5330952" cy="3474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企业分层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852160" y="4983480"/>
            <a:ext cx="5440680" cy="34747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25312" y="4983480"/>
            <a:ext cx="5330952" cy="3474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三链 A/R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65760" y="5367528"/>
            <a:ext cx="5440680" cy="34747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8912" y="5367528"/>
            <a:ext cx="5330952" cy="3474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口径审阅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852160" y="5367528"/>
            <a:ext cx="5440680" cy="34747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25312" y="5367528"/>
            <a:ext cx="5330952" cy="3474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银行合规 A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65760" y="5751576"/>
            <a:ext cx="5440680" cy="34747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38912" y="5751576"/>
            <a:ext cx="5330952" cy="3474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现场执行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852160" y="5751576"/>
            <a:ext cx="5440680" cy="34747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925312" y="5751576"/>
            <a:ext cx="5330952" cy="3474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执行组 A/R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65760" y="6135624"/>
            <a:ext cx="5440680" cy="34747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38912" y="6135624"/>
            <a:ext cx="5330952" cy="3474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任务分派反馈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852160" y="6135624"/>
            <a:ext cx="5440680" cy="34747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25312" y="6135624"/>
            <a:ext cx="5330952" cy="3474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三链 A；银行/伙伴 R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65760" y="6519672"/>
            <a:ext cx="5440680" cy="34747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38912" y="6519672"/>
            <a:ext cx="5330952" cy="3474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案例对外发布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852160" y="6519672"/>
            <a:ext cx="5440680" cy="34747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25312" y="6519672"/>
            <a:ext cx="5330952" cy="3474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合规 A；项目办 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692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单场人力约17—20人｜预算三档与全周期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969264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费用不向企业收取；建议申报上限20万元（含税含预备金）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45920" cy="3657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BUDGET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38560" cy="1778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泰隆银行小微与科技企业参访合作 · 可执行版 V2.0｜2026.8—12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34440"/>
            <a:ext cx="2788920" cy="43891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34440"/>
            <a:ext cx="2606040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项目经理1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234440"/>
            <a:ext cx="2788920" cy="43891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234440"/>
            <a:ext cx="2606040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会务负责人1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2788920" cy="43891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234440"/>
            <a:ext cx="2606040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签到引导2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234440"/>
            <a:ext cx="2788920" cy="43891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234440"/>
            <a:ext cx="2606040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主持人1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1737360"/>
            <a:ext cx="2788920" cy="43891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737360"/>
            <a:ext cx="2606040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三链负责人3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1737360"/>
            <a:ext cx="2788920" cy="43891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1737360"/>
            <a:ext cx="2606040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记录员3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737360"/>
            <a:ext cx="2788920" cy="43891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737360"/>
            <a:ext cx="2606040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银行客户经理3—5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1737360"/>
            <a:ext cx="2788920" cy="43891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1737360"/>
            <a:ext cx="2606040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专家嘉宾2—3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2240280"/>
            <a:ext cx="2788920" cy="43891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240280"/>
            <a:ext cx="2606040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数据管理员1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2240280"/>
            <a:ext cx="2788920" cy="43891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2240280"/>
            <a:ext cx="2606040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摄影传播1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240280"/>
            <a:ext cx="2788920" cy="43891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2240280"/>
            <a:ext cx="2606040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安全引导1—2（参访场）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0" y="2240280"/>
            <a:ext cx="2788920" cy="43891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2240280"/>
            <a:ext cx="2606040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内部约11—13人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2926080"/>
            <a:ext cx="2880360" cy="47548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" y="2926080"/>
            <a:ext cx="278892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档位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2926080"/>
            <a:ext cx="2514600" cy="47548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6704" y="2926080"/>
            <a:ext cx="242316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单场/周期（元）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52160" y="2926080"/>
            <a:ext cx="5440680" cy="47548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07024" y="2926080"/>
            <a:ext cx="534924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说明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3447288"/>
            <a:ext cx="2880360" cy="47548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3447288"/>
            <a:ext cx="277063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基础版（第1场）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91840" y="3447288"/>
            <a:ext cx="2514600" cy="47548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64992" y="3447288"/>
            <a:ext cx="240487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6,600—8,100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52160" y="3447288"/>
            <a:ext cx="5440680" cy="47548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25312" y="3447288"/>
            <a:ext cx="533095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银行自有场地，无外请专家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3959352"/>
            <a:ext cx="2880360" cy="47548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3959352"/>
            <a:ext cx="277063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标准版（第2/4场）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91840" y="3959352"/>
            <a:ext cx="2514600" cy="47548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64992" y="3959352"/>
            <a:ext cx="240487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18,800—30,300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52160" y="3959352"/>
            <a:ext cx="5440680" cy="47548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25312" y="3959352"/>
            <a:ext cx="533095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45—55人，1—2位外请嘉宾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65760" y="4471416"/>
            <a:ext cx="2880360" cy="47548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8912" y="4471416"/>
            <a:ext cx="277063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专题版（第3场）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291840" y="4471416"/>
            <a:ext cx="2514600" cy="47548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64992" y="4471416"/>
            <a:ext cx="240487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32,000—50,000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852160" y="4471416"/>
            <a:ext cx="5440680" cy="47548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25312" y="4471416"/>
            <a:ext cx="533095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企业/实验室参访+闭门会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5760" y="4983480"/>
            <a:ext cx="2880360" cy="47548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912" y="4983480"/>
            <a:ext cx="277063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年度场（第5场）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91840" y="4983480"/>
            <a:ext cx="2514600" cy="47548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64992" y="4983480"/>
            <a:ext cx="240487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30,000—45,000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852160" y="4983480"/>
            <a:ext cx="5440680" cy="47548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25312" y="4983480"/>
            <a:ext cx="533095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标准版加量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65760" y="5495544"/>
            <a:ext cx="2880360" cy="47548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8912" y="5495544"/>
            <a:ext cx="277063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全周期合计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291840" y="5495544"/>
            <a:ext cx="2514600" cy="47548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64992" y="5495544"/>
            <a:ext cx="240487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约13.5—22.5万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852160" y="5495544"/>
            <a:ext cx="5440680" cy="47548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25312" y="5495544"/>
            <a:ext cx="533095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含闭门会/台账/年报/预备金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692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企业筛选与 A/B/C 服务分层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969264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分层仅用于组织与跟进优先级，不等于授信评级，不对企业公示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45920" cy="3657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TIER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38560" cy="1778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泰隆银行小微与科技企业参访合作 · 可执行版 V2.0｜2026.8—12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80160"/>
            <a:ext cx="1965960" cy="77724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1280160"/>
            <a:ext cx="187452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分层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1280160"/>
            <a:ext cx="3794760" cy="77724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2304" y="1280160"/>
            <a:ext cx="370332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判定标准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3063240" cy="77724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1280160"/>
            <a:ext cx="29718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席位与服务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1280160"/>
            <a:ext cx="2148840" cy="77724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81744" y="1280160"/>
            <a:ext cx="20574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跟进节奏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103120"/>
            <a:ext cx="1965960" cy="77724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2103120"/>
            <a:ext cx="1856232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A类 ≈30%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40" y="2103120"/>
            <a:ext cx="3794760" cy="77724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50592" y="2103120"/>
            <a:ext cx="3685032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需求明确、材料较完整、有决策人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103120"/>
            <a:ext cx="3063240" cy="77724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2103120"/>
            <a:ext cx="2953512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闭门诊断+1对1+主责任人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2103120"/>
            <a:ext cx="2148840" cy="77724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00032" y="2103120"/>
            <a:ext cx="2039112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T+5分派；双周跟进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2916936"/>
            <a:ext cx="1965960" cy="77724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2916936"/>
            <a:ext cx="1856232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B类 ≈45%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77440" y="2916936"/>
            <a:ext cx="3794760" cy="77724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50592" y="2916936"/>
            <a:ext cx="3685032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需求明确但条件待核/材料欠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916936"/>
            <a:ext cx="3063240" cy="77724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1072" y="2916936"/>
            <a:ext cx="2953512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分组问诊+材料清单辅导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2916936"/>
            <a:ext cx="2148840" cy="77724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00032" y="2916936"/>
            <a:ext cx="2039112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T+10反馈；补齐升A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3730752"/>
            <a:ext cx="1965960" cy="77724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3730752"/>
            <a:ext cx="1856232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C类 ≈25%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77440" y="3730752"/>
            <a:ext cx="3794760" cy="77724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50592" y="3730752"/>
            <a:ext cx="3685032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需求不清，以学习交流为主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3730752"/>
            <a:ext cx="3063240" cy="77724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2" y="3730752"/>
            <a:ext cx="2953512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观摩席+通用资料包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26880" y="3730752"/>
            <a:ext cx="2148840" cy="77724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00032" y="3730752"/>
            <a:ext cx="2039112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入池；下期优先邀请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4114800"/>
            <a:ext cx="2331720" cy="41148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" y="4114800"/>
            <a:ext cx="224028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观察维度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0" y="4114800"/>
            <a:ext cx="8641080" cy="41148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98064" y="4114800"/>
            <a:ext cx="854964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要点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4572000"/>
            <a:ext cx="2331720" cy="4114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4572000"/>
            <a:ext cx="2221992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基本适配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0" y="4572000"/>
            <a:ext cx="8641080" cy="4114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16352" y="4572000"/>
            <a:ext cx="8531352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依法经营/主体明确/联系人稳定 → 决定是否入池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5020056"/>
            <a:ext cx="2331720" cy="4114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" y="5020056"/>
            <a:ext cx="2221992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需求清晰度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43200" y="5020056"/>
            <a:ext cx="8641080" cy="4114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16352" y="5020056"/>
            <a:ext cx="8531352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问题/目标/时点/金额/内部负责人 → 是否闭门诊断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5760" y="5468112"/>
            <a:ext cx="2331720" cy="4114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" y="5468112"/>
            <a:ext cx="2221992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材料准备度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43200" y="5468112"/>
            <a:ext cx="8641080" cy="4114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16352" y="5468112"/>
            <a:ext cx="8531352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可验证材料 → 定 A/B/C 与会前辅导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5760" y="5916168"/>
            <a:ext cx="2331720" cy="4114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912" y="5916168"/>
            <a:ext cx="2221992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风险与合规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0" y="5916168"/>
            <a:ext cx="8641080" cy="4114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16352" y="5916168"/>
            <a:ext cx="8531352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诉讼/失信/跨境合规 → 升级审查或暂缓（不作负面标签传播）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692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目标指标与分月分解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969264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强调有效服务与按时反馈，不以单一贷款金额评价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45920" cy="3657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KPI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38560" cy="1778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泰隆银行小微与科技企业参访合作 · 可执行版 V2.0｜2026.8—12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234440"/>
            <a:ext cx="2697480" cy="50292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234440"/>
            <a:ext cx="260604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指标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234440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8104" y="1234440"/>
            <a:ext cx="105156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8月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234440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06824" y="1234440"/>
            <a:ext cx="105156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9月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1234440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95544" y="1234440"/>
            <a:ext cx="105156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10月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1234440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84264" y="1234440"/>
            <a:ext cx="105156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11月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234440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72984" y="1234440"/>
            <a:ext cx="105156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12月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1234440"/>
            <a:ext cx="1325880" cy="50292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61704" y="1234440"/>
            <a:ext cx="123444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累计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1783080"/>
            <a:ext cx="269748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1783080"/>
            <a:ext cx="258775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参会企业（家次）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63240" y="1783080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36392" y="1783080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1783080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25112" y="1783080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40680" y="1783080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13832" y="1783080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29400" y="1783080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02552" y="1783080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18120" y="1783080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91272" y="1783080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06840" y="1783080"/>
            <a:ext cx="132588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79992" y="1783080"/>
            <a:ext cx="121615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150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0040" y="2322576"/>
            <a:ext cx="269748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" y="2322576"/>
            <a:ext cx="258775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新增有效档案（家）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63240" y="2322576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36392" y="2322576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51960" y="2322576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25112" y="2322576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40680" y="2322576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13832" y="2322576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29400" y="2322576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02552" y="2322576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18120" y="2322576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91272" y="2322576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06840" y="2322576"/>
            <a:ext cx="132588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79992" y="2322576"/>
            <a:ext cx="121615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0040" y="2862072"/>
            <a:ext cx="269748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3192" y="2862072"/>
            <a:ext cx="258775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新增有效需求（项）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063240" y="2862072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36392" y="2862072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51960" y="2862072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25112" y="2862072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40680" y="2862072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3832" y="2862072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629400" y="2862072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02552" y="2862072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818120" y="2862072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91272" y="2862072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006840" y="2862072"/>
            <a:ext cx="132588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79992" y="2862072"/>
            <a:ext cx="121615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20040" y="3401568"/>
            <a:ext cx="269748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3192" y="3401568"/>
            <a:ext cx="258775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助贷进入沟通（家）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063240" y="3401568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136392" y="3401568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251960" y="3401568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25112" y="3401568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440680" y="3401568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513832" y="3401568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629400" y="3401568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02552" y="3401568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818120" y="3401568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91272" y="3401568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006840" y="3401568"/>
            <a:ext cx="132588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079992" y="3401568"/>
            <a:ext cx="121615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20040" y="3941064"/>
            <a:ext cx="269748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93192" y="3941064"/>
            <a:ext cx="258775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出海专项服务（家）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063240" y="3941064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136392" y="3941064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251960" y="3941064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25112" y="3941064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440680" y="3941064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513832" y="3941064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629400" y="3941064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702552" y="3941064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818120" y="3941064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891272" y="3941064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006840" y="3941064"/>
            <a:ext cx="1325880" cy="5029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079992" y="3941064"/>
            <a:ext cx="121615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20040" y="4480560"/>
            <a:ext cx="269748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93192" y="4480560"/>
            <a:ext cx="258775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科技供需匹配（项）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063240" y="4480560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136392" y="4480560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251960" y="4480560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325112" y="4480560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440680" y="4480560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513832" y="4480560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629400" y="4480560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702552" y="4480560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818120" y="4480560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891272" y="4480560"/>
            <a:ext cx="10332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006840" y="4480560"/>
            <a:ext cx="1325880" cy="50292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079992" y="4480560"/>
            <a:ext cx="121615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57200" y="4937760"/>
            <a:ext cx="1124712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纠偏线：单场任一指标完成率 &lt;70% → 下一场任务书必须含专项改进；某通道累计有效需求 &lt;8 → 重配资源；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全周期首次反馈率 &lt;85% → 次年须先解决人力与工具再扩场；同一主责连续两次逾期 → A角直接接管。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692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最小可用工具集：三张表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969264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以企业编号与任务编号关联；共享表格即可，不必一次性上系统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45920" cy="3657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38560" cy="1778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泰隆银行小微与科技企业参访合作 · 可执行版 V2.0｜2026.8—12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80160"/>
            <a:ext cx="3703320" cy="48463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280160"/>
            <a:ext cx="82296" cy="4846320"/>
          </a:xfrm>
          <a:prstGeom prst="rect">
            <a:avLst/>
          </a:prstGeom>
          <a:solidFill>
            <a:srgbClr val="4EA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389888"/>
            <a:ext cx="338328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表一｜企业服务池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37360"/>
            <a:ext cx="3383280" cy="427939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企业编号 YP/SH2026-xxxx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名称/信用代码/行业/联系人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来源渠道与首次触达场次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三链需求标记（可多选）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分层 A/B/C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授权状态与范围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最近更新时间/更新人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280160"/>
            <a:ext cx="3703320" cy="48463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280160"/>
            <a:ext cx="82296" cy="484632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389888"/>
            <a:ext cx="338328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表二｜服务跟进台账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737360"/>
            <a:ext cx="3383280" cy="427939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任务编号：月日-通道-序号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需求摘要≤50字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主责/协同；状态流转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下一动作=动词+对象+日期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SLA：T+5/10/30 自动打标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结果与原因（禁歧视标签）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公开范围分级授权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280160"/>
            <a:ext cx="3703320" cy="48463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280160"/>
            <a:ext cx="82296" cy="4846320"/>
          </a:xfrm>
          <a:prstGeom prst="rect">
            <a:avLst/>
          </a:prstGeom>
          <a:solidFill>
            <a:srgbClr val="C9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389888"/>
            <a:ext cx="338328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表三｜KPI看板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737360"/>
            <a:ext cx="3383280" cy="427939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覆盖：企业家次/新增档案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识别：有效需求/A类占比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转化：三通道正式流程数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时效：分派率/反馈率/逾期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每月5日前更新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周会与月度立项固定议题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权限：公开/内部/受限/敏感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692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风险登记册与合规红线（摘要）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969264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开场必须宣读边界口径；发现中介身份报名即取消资格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45920" cy="3657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RISK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38560" cy="1778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泰隆银行小微与科技企业参访合作 · 可执行版 V2.0｜2026.8—12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34440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1234440"/>
            <a:ext cx="29718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风险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234440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1234440"/>
            <a:ext cx="132588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可能/影响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1234440"/>
            <a:ext cx="6355080" cy="56692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2624" y="1234440"/>
            <a:ext cx="626364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应对要点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1847088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1847088"/>
            <a:ext cx="2953512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被理解为助贷中介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1847088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847088"/>
            <a:ext cx="1307592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中/高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1847088"/>
            <a:ext cx="635508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10912" y="1847088"/>
            <a:ext cx="6245352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宣读边界；物料免责；取消中介资格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450592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2450592"/>
            <a:ext cx="2953512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报名不足/到场低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2450592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47872" y="2450592"/>
            <a:ext cx="1307592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中/中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2450592"/>
            <a:ext cx="635508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10912" y="2450592"/>
            <a:ext cx="6245352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T-15&lt;60%定向补邀；压缩分组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054096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054096"/>
            <a:ext cx="2953512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首次反馈逾期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0" y="3054096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47872" y="3054096"/>
            <a:ext cx="1307592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高/中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37760" y="3054096"/>
            <a:ext cx="635508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10912" y="3054096"/>
            <a:ext cx="6245352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周会通报；A角接管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3657600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3657600"/>
            <a:ext cx="2953512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信息泄露/超授权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74720" y="3657600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47872" y="3657600"/>
            <a:ext cx="1307592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低/高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37760" y="3657600"/>
            <a:ext cx="635508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10912" y="3657600"/>
            <a:ext cx="6245352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无拍摄区；双人复核可公开清单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4261104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4261104"/>
            <a:ext cx="2953512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专题被误读为产品预告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74720" y="4261104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47872" y="4261104"/>
            <a:ext cx="1307592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中/中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937760" y="4261104"/>
            <a:ext cx="635508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10912" y="4261104"/>
            <a:ext cx="6245352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材料加注研究性调研；统一回应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4864608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4864608"/>
            <a:ext cx="2953512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预算未批/人员变动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74720" y="4864608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47872" y="4864608"/>
            <a:ext cx="1307592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中/中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937760" y="4864608"/>
            <a:ext cx="635508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10912" y="4864608"/>
            <a:ext cx="6245352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降本档执行；备份联系人+统一文档库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692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启动决议与首月行动清单（7/29—8/27）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969264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四方首次筹备会须形成书面共识并填入 RACI 人名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45920" cy="3657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LAUNCH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38560" cy="1778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泰隆银行小微与科技企业参访合作 · 可执行版 V2.0｜2026.8—12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34440"/>
            <a:ext cx="5029200" cy="49377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234440"/>
            <a:ext cx="82296" cy="493776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344168"/>
            <a:ext cx="470916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七项书面共识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691640"/>
            <a:ext cx="4709160" cy="43708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同意 8—12 月示范周期，日期按日历表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各方指定联系人+备份，确认三链主责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统一报名表/服务卡/跟进台账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执行 3—5—10—30，逾期按升级机制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确认预算口径与费用分担，启动内审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确认宣传审阅窗口，未审不得外发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12 月形成年报与下一周期方案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1234440"/>
            <a:ext cx="1234440" cy="38404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32704" y="1234440"/>
            <a:ext cx="114300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日期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234440"/>
            <a:ext cx="4892040" cy="38404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2864" y="1234440"/>
            <a:ext cx="480060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行动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40" y="1664208"/>
            <a:ext cx="1234440" cy="38404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50992" y="1664208"/>
            <a:ext cx="1124712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7/29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1664208"/>
            <a:ext cx="4892040" cy="38404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31152" y="1664208"/>
            <a:ext cx="4782312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四方筹备会；通过方案；填RACI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77840" y="2084832"/>
            <a:ext cx="1234440" cy="38404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50992" y="2084832"/>
            <a:ext cx="1124712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7/30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2084832"/>
            <a:ext cx="4892040" cy="38404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1152" y="2084832"/>
            <a:ext cx="4782312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第2场出海专题立项同步召开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77840" y="2505456"/>
            <a:ext cx="1234440" cy="38404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505456"/>
            <a:ext cx="1124712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7/31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2505456"/>
            <a:ext cx="4892040" cy="38404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1152" y="2505456"/>
            <a:ext cx="4782312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首场任务书+场地+口径清单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2926080"/>
            <a:ext cx="1234440" cy="38404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50992" y="2926080"/>
            <a:ext cx="1124712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8/3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2926080"/>
            <a:ext cx="4892040" cy="38404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31152" y="2926080"/>
            <a:ext cx="4782312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三件套发布；建立三张台账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77840" y="3346704"/>
            <a:ext cx="1234440" cy="38404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50992" y="3346704"/>
            <a:ext cx="1124712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8/7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3346704"/>
            <a:ext cx="4892040" cy="38404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31152" y="3346704"/>
            <a:ext cx="4782312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报名截止；定向补邀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77840" y="3767328"/>
            <a:ext cx="1234440" cy="38404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50992" y="3767328"/>
            <a:ext cx="1124712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8/11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0" y="3767328"/>
            <a:ext cx="4892040" cy="38404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31152" y="3767328"/>
            <a:ext cx="4782312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分层席位；A类预访谈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77840" y="4187952"/>
            <a:ext cx="1234440" cy="38404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50992" y="4187952"/>
            <a:ext cx="1124712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8/13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0" y="4187952"/>
            <a:ext cx="4892040" cy="38404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31152" y="4187952"/>
            <a:ext cx="4782312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匹配排班物料；第2场三件套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577840" y="4608576"/>
            <a:ext cx="1234440" cy="38404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50992" y="4608576"/>
            <a:ext cx="1124712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8/17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0" y="4608576"/>
            <a:ext cx="4892040" cy="38404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31152" y="4608576"/>
            <a:ext cx="4782312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彩排；稿件终审；应急确认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577840" y="5029200"/>
            <a:ext cx="1234440" cy="38404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50992" y="5029200"/>
            <a:ext cx="1124712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8/20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58000" y="5029200"/>
            <a:ext cx="4892040" cy="38404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31152" y="5029200"/>
            <a:ext cx="4782312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第1场执行；当日归档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577840" y="5449824"/>
            <a:ext cx="1234440" cy="38404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50992" y="5449824"/>
            <a:ext cx="1124712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8/27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58000" y="5449824"/>
            <a:ext cx="4892040" cy="38404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31152" y="5449824"/>
            <a:ext cx="4782312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T+5分派完成；KPI首次通报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泰隆银行小微与科技企业参访合作 · 可执行版 V2.0｜2026.8—12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28016" cy="128016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7160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一句话执行口诀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固定周四、固定三链、固定一张卡、固定 3—5—10—30。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凡是没有责任人和日期的事项，一律不进台账；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凡是进了台账的事项，一律有终态。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1051560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配套交付：可执行 Excel 工作簿（日历倒排 / RACI / 预算 / 企业池 / 任务台账 / KPI / 检查表 / 首月清单）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日期、预算、指标与企业名称为工作建议口径，须经四方与银行内部流程确认后方可执行或对外使用。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本方案不构成授信、利率、期限、放款或跨境业务办理承诺。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