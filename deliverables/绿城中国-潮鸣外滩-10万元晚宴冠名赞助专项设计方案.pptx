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微软雅黑"/>
                <a:ea typeface="微软雅黑"/>
                <a:cs typeface="微软雅黑"/>
              </a:rPr>
              <a:t>GREENTOWN CHINA · 潮鸣外滩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晚宴冠名战略合作伙伴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绿城中国 | 绿城·潮鸣外滩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8A25B"/>
                </a:solidFill>
                <a:latin typeface="微软雅黑"/>
                <a:ea typeface="微软雅黑"/>
                <a:cs typeface="微软雅黑"/>
              </a:rPr>
              <a:t>10 万元赞助专项设计方案 · Sponsorship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重构与突围 · 2026 人工智能商业化落地与硬核投资破局峰会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主办：北京大学经济学院上海校友会 · 复旦大学住房政策研究中心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时间：2026 年 5 月 22 日   地点：上海·北外滩·一滴水   规模：500+ 高净值嘉宾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8A25B"/>
                </a:solidFill>
                <a:latin typeface="微软雅黑"/>
                <a:ea typeface="微软雅黑"/>
                <a:cs typeface="微软雅黑"/>
              </a:rPr>
              <a:t>提报日期：2026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· 合作背景与目标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Cooperation Background &amp;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在「重构与突围 · 2026 AI 商业化峰会」500 人高净值客群中，完成绿城·潮鸣外滩的全链路品牌渗透。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743200" cy="41148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6B3F"/>
                </a:solidFill>
                <a:latin typeface="微软雅黑"/>
                <a:ea typeface="微软雅黑"/>
                <a:cs typeface="微软雅黑"/>
              </a:rPr>
              <a:t>客群匹配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246888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25% 上市公司 / 独角兽高管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20% 一二级市场基金合伙人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25% AI / 算力 / 大模型创始团队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20% 北大、复旦双校核心校友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10% 政府、媒体合作伙伴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500 + 高净值嘉宾，与潮鸣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外滩 285/310 户型核心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客群高度吻合。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20240"/>
            <a:ext cx="2743200" cy="41148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0574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6B3F"/>
                </a:solidFill>
                <a:latin typeface="微软雅黑"/>
                <a:ea typeface="微软雅黑"/>
                <a:cs typeface="微软雅黑"/>
              </a:rPr>
              <a:t>曝光场景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14600"/>
            <a:ext cx="246888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主会场 8h 大屏轮播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主背景板钻石级 logo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议程手册 / 白皮书署名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500 份手拎袋 + 折页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晚宴 KV / 桌卡 / 菜单冠名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川总专场 15min 宣讲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主持人多轮口播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媒体通稿 + 九宫格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743200" cy="41148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6B3F"/>
                </a:solidFill>
                <a:latin typeface="微软雅黑"/>
                <a:ea typeface="微软雅黑"/>
                <a:cs typeface="微软雅黑"/>
              </a:rPr>
              <a:t>项目到访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246888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论坛结束后主持口播引导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华为尊界接驳 8–10 辆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考斯特补位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项目售楼处沙盘 + 样板间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案场尊享接待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现场销售 1V1 跟进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单次到访体验 ≥ 60min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920240"/>
            <a:ext cx="2743200" cy="41148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0574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6B3F"/>
                </a:solidFill>
                <a:latin typeface="微软雅黑"/>
                <a:ea typeface="微软雅黑"/>
                <a:cs typeface="微软雅黑"/>
              </a:rPr>
              <a:t>长效沉淀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514600"/>
            <a:ext cx="246888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双校长三角校友产业联盟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战略合作伙伴永久入册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大会回顾视频片头鸣谢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白皮书扉页联合署名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后续活动优先合作权</a:t>
            </a:r>
          </a:p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嘉宾意向客户数据回传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· 10 万元晚宴冠名 · 定制权益总览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在钻石赞助 5 万基础上叠加「晚宴冠名 + 项目专场宣讲 + 尊界接驳到访」三大独家权益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14"/>
                <a:gridCol w="3525140"/>
                <a:gridCol w="4486542"/>
                <a:gridCol w="1922803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核心权益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形式 / 物料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A 晚宴冠名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「晚宴冠名战略合作伙伴」全程统称权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KV、席卡、桌卡、菜单 logo 植入；主持人开场+结束口播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 + 活动公司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B 主会场植入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主背景板 logo + 议程手册整版 + 宣传片轮播 + 手拎袋折页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钻石级 logo / 议程整版 / 500 份手拎袋 / 户型折页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 + 印刷单位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C 现场展位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电梯口 + 展场内 2 处专属品牌展位，各派销售 2 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易拉宝、户型 KT 板、纸质物料、品牌桌台轻包装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绿城 + 活动公司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D 项目专场宣讲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晚宴开场前 15 分钟，川总「潮鸣外滩」专场 PPT 演讲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PPT、话筒、音响、LED 大屏；主持人引荐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绿城 + 主办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E 接驳到访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华为尊界 8–10 辆 + 考斯特补位，定向引导到案场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尊界车队 + 引导员 + 案场接待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绿城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F 论坛后口播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圆桌结束后主持人口播赞助方并引导前往项目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定制口播稿 + 现场引导员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G 媒体宣发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媒体通稿、九宫格、白皮书署名、回顾视频片头鸣谢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通稿、朋友圈九宫格、回顾短片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主办媒体组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H 长效圈层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双校长三角校友产业联盟战略合作伙伴永久入册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联盟通讯录 + 牌匾交接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· 权益对比矩阵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与原峰会赞助级别的差异定位 · 10 万 = 钻石 + 晚宴冠名 + 项目专场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8695"/>
                <a:gridCol w="1391478"/>
                <a:gridCol w="1391478"/>
                <a:gridCol w="1590260"/>
                <a:gridCol w="357808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权益项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黄金 1 万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铂金 3 万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钻石 5 万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10 万 晚宴冠名（本方案）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大会主背景板 logo 等级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铂金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钻石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钻石 +「晚宴冠名」副标位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议程手册广告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1/4 版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半版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整版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整版 + 项目折页夹页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白皮书署名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1/4 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1/2 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扉页联合署名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VIP 晚宴入场券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 张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3 张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 张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主桌 + 销售/接待 共 8 张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圆桌席位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限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—（资源集中投入晚宴）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晚宴冠名权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 独家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晚宴前项目专场 15min 宣讲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 独家（川总）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晚宴桌卡 / 菜单 logo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 全场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主持人口播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鸣谢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鸣谢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开场 + 结束 + 引导到访 3 段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现场展位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 处（电梯口 + 展场内）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项目到访接驳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尊界 8–10 辆 + 考斯特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双校友联盟入册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永久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永久 · 战略级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· 晚宴视觉植入位 &amp; 责任分工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席卡 + 晚宴 KV 由主办加上；桌卡 / 菜单由活动公司印刷植入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37"/>
                <a:gridCol w="1773620"/>
                <a:gridCol w="3547241"/>
                <a:gridCol w="3941379"/>
                <a:gridCol w="177362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物料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植入方式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尺寸建议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KV（背板/LED）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「晚宴冠名战略合作伙伴 绿城中国 | 绿城·潮鸣外滩」横向锁屏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请场地方提供准确像素比；首选 1920×1080 或 LED 条屏 6144×1080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主办（绿城提供素材）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席卡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卡面右下角 logo + 一行品牌主张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90×55mm 双面，竖式或横式以场地最终方案为准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桌卡（桌号牌）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桌号 + 「绿城·潮鸣外滩 · 晚宴冠名」字样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A5 双面折立 148×210mm，或亚克力 200×150mm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活动公司 / 印刷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菜单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封面整版 logo + 内页页脚 logo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对开 A4 210×285mm 或单页 285×210mm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活动公司 / 印刷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LED 轮播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30s 项目宣传片 + 5 张静帧（5s/张）循环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16:9 1920×1080，H.264 .mp4 ≤ 200MB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绿城出片，主办上屏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主持人口播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开宴鸣谢 / 川总宣讲引荐 / 散场再次鸣谢 共 3 段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每段约 30 秒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 + 绿城共写稿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桌花卡 / 餐巾纸条（可选）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项目主 slogan 烫金字条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150×30mm 条形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活动公司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· 视频 &amp; PPT &amp; 印刷物料尺寸建议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待场地方最终像素比确认后微调；主会场已确认 16:9 无问题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827"/>
                <a:gridCol w="1970689"/>
                <a:gridCol w="3153103"/>
                <a:gridCol w="1773620"/>
                <a:gridCol w="2167758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素材类型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推荐比例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推荐分辨率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时长 / 帧率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主会场宣传片（轮播）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16:9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1920×1080（4K 备 3840×2160）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≤ 60s，25/30 fps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已确认主会场 16:9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LED 宣传片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16:9（条屏另出）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1920×1080 或 6144×1080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30–60s 循环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请场地方提供像素比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川总专场宣讲 PPT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16:9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1920×1080 (40×22.5cm)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≤ 25 张，控制 15min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封面/封底/沙盘 3D 页预留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KV 主视觉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依场地像素比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建议先 1920×1080 主稿，再延展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静帧 PNG/JPG + AI 源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RGB 色域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 logo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矢量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AI / EPS / SVG（无白底）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另出 PNG 透明底 4 套尺寸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户型折页（285/310）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印刷品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297×210mm 三折页，出血 3mm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CMYK 300 dpi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印刷单位统一排版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项目易拉宝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印刷品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800×2000mm，出血 5mm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CMYK 150 dpi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电梯口 + 展场内各 1 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朋友圈九宫格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1:1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1080×1080 PNG × 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媒体组统一发布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· 现场展位与动线设计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保底易拉宝 + 项目纸质物料；设计时间允许则升级背景墙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77840" cy="45720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50292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展位 1 · 电梯口（嘉宾抵达第一触点）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21208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品牌桌台 1 张（轻包装）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易拉宝 ×2（项目主形象 + 户型亮点）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户型折页/纸质物料展示架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285/310 户型 KT 板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销售 2 人（统一品牌服装、胸卡）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二维码 / 加微登记表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目标：第一时间触达入场嘉宾，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完成项目认知建立 &amp; 意向客户登记。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45720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577840" cy="50292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展位 2 · 展场内（主会场前厅近茶歇区）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21208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洽谈圆桌 1 组（轻包装）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易拉宝 ×2 + 285/310 户型 KT 板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茶歇/休息时段重点拦截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销售 2 人现场 1V1 沟通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主会场屏幕同步轮播宣传片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现场预约「项目到访」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目标：承接会议中场休息流量，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完成意向客户深度沟通 &amp; 预约到访。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现场盘点：保底交付 4 个易拉宝 + 2 张品牌桌台轻包装 + 项目纸质物料；时间允许升级背景挂幔/KT 板背景墙。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· 项目参观与晚宴衔接 · 时间冲突解决方案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测算往返车程 + 案场参观 ≥ 60 分钟，与现议程 45 分钟以上冲突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  <a:gridCol w="3108960"/>
                <a:gridCol w="2743200"/>
              </a:tblGrid>
              <a:tr h="11430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优势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 / 协调点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方案 A · 推荐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「会后专场」：18:10–20:30 晚宴照常进行；20:30 散场后由尊界车队定向接送意向嘉宾至项目案场夜场参观（灯光秀+样板间），再分送回酒店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不打断议程；项目夜场氛围有记忆点；尊界利用率高；意向客户更聚焦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需提前确认意向名单；案场夜间接待人员到位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方案 B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议程内插入「项目专场参观」：17:55 颁奖结束后拉长为 90 分钟参观窗口，晚宴延后至 19:30 开始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参观时间充裕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影响主办原议程及晚宴餐厅档期；需主办协调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方案 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「云参观 + 邀约到访」：晚宴期间用 3D VR 沙盘 + 川总 15min 现场宣讲完成线上参观，现场登记次日专车到访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完全不影响议程；可批量收集意向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现场参观感弱；接待成本后置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6B3F"/>
                </a:solidFill>
                <a:latin typeface="微软雅黑"/>
                <a:ea typeface="微软雅黑"/>
                <a:cs typeface="微软雅黑"/>
              </a:rPr>
              <a:t>建议首选方案 A；最终时间窗以主办、活动公司、绿城三方 5 月 19 日前确认为准，绿城据此安排尊界与案场接待。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· 晚宴现场流程脚本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Dinner Run-of-Show · 建议版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2999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684"/>
                <a:gridCol w="2406315"/>
                <a:gridCol w="5614736"/>
                <a:gridCol w="2005263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 / 物料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音视频需求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18:00–18:10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嘉宾入场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KV 点亮 · 席卡引位 · 项目宣传片轮播（低音乐）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LED 16:9；BGM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18:10–18:15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主持人开场 + 冠名鸣谢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口播「晚宴冠名战略合作伙伴 绿城中国 | 绿城·潮鸣外滩」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话筒×2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18:15–18:30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川总·绿城·潮鸣外滩专场宣讲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 PPT 15min + Q&amp;A 5min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1080P 16:9 PPT；话筒；切换器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18:30–18:35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联合祝酒辞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主办 + 绿城联合致酒辞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话筒×2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18:35–19:30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正餐第一轮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项目宣传片循环；菜单/桌卡 logo 植入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宣传片循环；BGM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19:30–20:00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圈层社交 + 校友联盟介绍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联盟介绍片；绿城战略合作伙伴永久入册牌匾交接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LED；摄影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20:00–20:25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正餐第二轮 / 自由交流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销售场内 1V1 沟通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BGM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20:25–20:30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结束鸣谢 &amp; 引导到访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再次口播；引导至尊界车队（方案 A 启动）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话筒×1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· 媒体宣发 &amp; 长效价值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Media Plan &amp; Long-term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214884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媒体通稿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标题或副标题级出现「绿城·潮鸣外滩」+ 晚宴冠名身份；主流财经/地产头部媒体 ≥ 5 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657600" cy="214884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657600" cy="45720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朋友圈九宫格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9 张视觉，至少 3 张含项目 logo / KV；文案口径与绿城品牌部对齐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214884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657600" cy="45720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087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白皮书署名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扉页联合署名「晚宴冠名战略合作伙伴 绿城中国 · 绿城·潮鸣外滩」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214884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3657600" cy="45720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404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回顾视频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片头 3s 鸣谢 + 片尾 logo 墙重点位 + 川总宣讲/参观画面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214884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94760"/>
            <a:ext cx="3657600" cy="45720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8404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校友联盟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434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双校长三角校友产业联盟战略合作伙伴永久入册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214884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94760"/>
            <a:ext cx="3657600" cy="45720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8404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数据回传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434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现场扫码/意向客户名单回传绿城销售线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· 时间节点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由于设计制作时间仅 1 天，关键截止节点务必前置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413"/>
                <a:gridCol w="1773620"/>
                <a:gridCol w="4532586"/>
                <a:gridCol w="3941379"/>
              </a:tblGrid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节点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绿城方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主办 / 活动公司</a:t>
                      </a:r>
                    </a:p>
                  </a:txBody>
                  <a:tcPr marL="73152" marR="73152" marT="36576" marB="36576" anchor="ctr">
                    <a:solidFill>
                      <a:srgbClr val="006B3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确认合作框架及金额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盖章合同回传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出具盖章合同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5/19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物料源文件交付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logo（AI/EPS/PNG）· 项目宣传片 · 川总 PPT · 户型折页源文件 · 品牌简介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晚宴 KV / 桌卡 / 菜单 / 席卡设计稿初稿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设计稿确认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确认一轮，提出修改意见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完成印刷物料终稿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5/21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印刷下单 &amp; 物流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桌卡、菜单、易拉宝、户型折页全部下印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5/22 上午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现场布展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销售 4 人到场对接展位包装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活动公司完成展位、KV、LED 调试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5/22 全天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大会执行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执行 + 陪同 + 案场对接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执行 + 主持口播 + 宣传片轮播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5/22 20:30+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项目参观（方案 A）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尊界 8–10 辆 + 考斯特补位 · 案场接待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现场引导员 · 名单对接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5/23–5/29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宣发 &amp; 回执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同步绿城自媒体矩阵传播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通稿/九宫格发布；7 日内出回执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· 投入产出 &amp; 对接矩阵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Investment &amp; Contact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45720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50292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投入产出概要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30352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赞助金额：人民币 100,000 元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（壹拾万元整）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覆盖人群：500+ 高净值嘉宾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· 直接触达 ≥ 500 人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· 媒体二次曝光 ≥ 50w+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· 项目到访意向客户 30–60 组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付款方式：合同签订后 5 个工作日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一次性付款至主办指定账户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发票内容：会议服务费 / 赞助费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（增值税普通发票或专用发票）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4572000"/>
          </a:xfrm>
          <a:prstGeom prst="rect">
            <a:avLst/>
          </a:prstGeom>
          <a:solidFill>
            <a:srgbClr val="D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577840" cy="50292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对接矩阵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30352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绿城方·总对接：Aiden（方案/付款/合同）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绿城方·项目宣讲：川总团队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绿城方·现场销售：销售负责人（4 人）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主办·组委会招商：13262607888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主办·现场执行：wangsheng（KV/印刷/流程）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活动公司·印刷：印刷负责人（桌卡/菜单）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关键确认事项：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① 晚宴场地像素比 / 屏幕规格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② 主办对接的印刷单位 logo 植入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 ③ 项目参观方案（推荐方案 A）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绿城中国 · 绿城·潮鸣外滩  |  2026 AI 商业化峰会 · 晚宴冠名战略合作伙伴 · 10 万元赞助专项设计方案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