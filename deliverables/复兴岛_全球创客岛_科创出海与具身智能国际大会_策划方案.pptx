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39512"/>
            <a:ext cx="411480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杨浦区复兴岛｜PPT 策划方案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复兴岛·全球创客岛收官答卷大会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科创出海 × 人工智能 × 具身智能国际大会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建议举办：2026 年 9 月 12 日（星期六 · 农历八月初二）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9/15 前最靠近收官节点的开市·挂匾黄道吉日 ｜ 现场 200–300 人 ｜ 岛上主场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规格：区委区政府主要领导  +  「一带一路」多国总领事  +  产业龙头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主呈现：PPT 汇报稿  +  Excel 执行台账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V1.0 · 建议稿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ONE-PAGER · 一页总览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给领导决策的核心信息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80160"/>
          <a:ext cx="11155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6112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活动名称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复兴岛·全球创客岛收官答卷大会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副标题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 × 人工智能 × 具身智能国际大会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建议时间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农历八月初二）（全天，约 09:00–17:30）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黄历择吉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宜开市 · 挂匾 · 立券 · 出行 · 交易（详见择日专章）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建议地点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复兴岛核心启动区大型会场（建议容量 300–400 人，详见场地专章）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活动规模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 200–300 人（核心席约 80–100；产业与生态席约 120–200）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核心主题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 · 人工智能 · 具身智能 · 低空经济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活动形式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 + 板块分论坛 + 揭牌仪式 + 项目签约 + 国际对接酒会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规格目标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 / 区长出席；「一带一路」多国总领事出席；市级相关部门领导视情邀请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成果发布 + 国际会议厅揭牌 + 项目签约 + 媒体传播矩阵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71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554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一页总览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核心信息速览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371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371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54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背景意义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创客岛收官·量子城市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371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80" y="1371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371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554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择日结论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首选 9/12 · 备选 9/9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514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514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697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五大目标清单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514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2514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2514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697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出海·AI·具身·低空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2514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2514600"/>
            <a:ext cx="640080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2514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2697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规模场地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200–300 人·岛上主场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657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657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657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3840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嘉宾规格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领导+领事分层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3400" y="3657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3657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3657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3840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揭牌落位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国家厅+片区厅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3657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83880" y="3657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80" y="3657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3840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详细议程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全天流程表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800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800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800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4983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T-50 至 T+14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4800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43400" y="4800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43400" y="4800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20640" y="4983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 KPI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投入与成效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83880" y="4800600"/>
            <a:ext cx="365760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183880" y="4800600"/>
            <a:ext cx="640080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83880" y="4800600"/>
            <a:ext cx="64008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4983480"/>
            <a:ext cx="27432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本周拍板事项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WHY NOW · 为何此刻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全球创客岛收官 × 量子城市迎合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71600"/>
            <a:ext cx="2788920" cy="4709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7160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517904"/>
            <a:ext cx="2459736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2025.12 启动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市委领导启动全球创客岛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量子城市年度成果发布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实验基地叙事立住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371600"/>
            <a:ext cx="2788920" cy="4709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137160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517904"/>
            <a:ext cx="2459736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2026.02 方案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国际创新创业集聚区方案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三岛定位落地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四大产业方向明确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71600"/>
            <a:ext cx="2788920" cy="4709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137160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517904"/>
            <a:ext cx="2459736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实践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具身智能实训平台启动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空间智能体持续积累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亟需高规格收官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371600"/>
            <a:ext cx="2788920" cy="4709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1517904"/>
            <a:ext cx="2459736" cy="4434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本场使命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政治规格拉满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国际领事到场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会客厅硬落位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产业协同可感知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AUSPICIOUS 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首选：2026 年 9 月 12 日（周六）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8016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2120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公历星期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干支值日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丙午年丁酉月癸未日 · 定日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开市 · 挂匾 · 立券 · 交易 · 出行 · 祈福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冲羊(癸未) 煞东（属羊贵宾可酌情避席或调整合影位次）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择日理由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9/15 前最靠近收官节点的开市/挂匾吉日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280160"/>
            <a:ext cx="411480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41148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2" y="1426464"/>
            <a:ext cx="3785616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备选一 · 9 月 9 日（周三）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最靠近 9/15 的工作日开市吉日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宜开市/交易/立券/出行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703320"/>
            <a:ext cx="4114800" cy="2286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3703320"/>
            <a:ext cx="41148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2" y="3849624"/>
            <a:ext cx="3785616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备选二 · 9 月 3 日（周四）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金匮黄道日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宜开市/交易/立券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可作预热或分论坛日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46320"/>
            <a:ext cx="676656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规避提示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9 月 10 日为杨公忌日，大事勿用；9 月 16 日已越过 9/15 收官节点。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决策口径：主推 9/12；领导周六不便则改 9/9。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POSITIONING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一场可汇报、可传播、可复用的答卷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以「全球创客岛」阶段性收官为政治节点，以「量子城市」政策为上位牵引，在复兴岛举办一场 200–300 人规模的国际化科创出海与具身智能大会，同步完成若干国家/片区国际会议厅（会客厅）揭牌落位，形成可汇报、可传播、可复用的政绩答卷。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11064240" cy="6400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640080" cy="64008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4028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7744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政治答卷：向市委、市政府与区委区政府呈现「全球创客岛」自 2025 年 12 月启动以来的阶段性成果。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11064240" cy="6400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71800"/>
            <a:ext cx="640080" cy="64008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7180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政策迎合：把「量子城市」时空智能建设与复兴岛实验基地叙事做深做实，服务杨浦区战略站位。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11064240" cy="6400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640080" cy="64008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033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84048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国际规格：邀请「一带一路」沿线国家驻沪总领事亲自出席，体现全球化定位。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34840"/>
            <a:ext cx="11064240" cy="6400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34840"/>
            <a:ext cx="640080" cy="64008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43484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7200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产业落地：聚焦人工智能、具身智能、低空经济板块协同，推动场景、项目与企业签约入岛。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66360"/>
            <a:ext cx="11064240" cy="6400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166360"/>
            <a:ext cx="640080" cy="64008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30352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空间落位：完成「某某国家 / 某某片区」国际会议厅（会客厅）揭牌，形成可持续国际合作窗口。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出海与科创主轴，三大硬科技协同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278892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" y="132588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472184"/>
            <a:ext cx="2459736" cy="4480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「一带一路」国家市场机会与营商环境推介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 / 复兴岛企业出海服务包与跨境对接机制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海外园区、本地空间与双边投资双向通道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325880"/>
            <a:ext cx="278892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37560" y="132588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472184"/>
            <a:ext cx="2459736" cy="4480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人工智能与空间智能
AI × Quantum City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量子城市时空智能底座与城市治理大模型成果展示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模型即服务（MaaS）与真实场景训练迭代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AI 企业入岛、算力/模型/语料券政策兑现案例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25880"/>
            <a:ext cx="278892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32588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1472184"/>
            <a:ext cx="2459736" cy="4480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具身智能
Embodied AI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实景空间实验实训实测平台阶段性成果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碳硅双基友好场景与「硅基岛民」示范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机器人 / 具身智能企业路演与场景合作签约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325880"/>
            <a:ext cx="278892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132588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1472184"/>
            <a:ext cx="2459736" cy="4480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低空经济
Low-altitude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低空经济与未来出行在岛上的试验空间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适航、空域、应用场景与产业链协同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 AI / 具身智能交叉的感知—决策—执行闭环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 · 规模场地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200–300 人 · 必须在岛上办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83464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席别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主席台 / 前排贵宾席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区领导、市级嘉宾、总领事、揭牌对象代表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国际与外事席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领馆官员、海外园区、国际组织、翻译陪同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产业核心席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80–100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/ 具身智能 / 低空重点企业与投资机构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生态与观察席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60–80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孵化器、高校、协会、媒体、服务机构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工作保障席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20–30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安保、外事、会务、宣传、医疗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弹性控制在 300 人以内，保证规格与体验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0" y="1280160"/>
            <a:ext cx="5303520" cy="47548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280160"/>
            <a:ext cx="53035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426464"/>
            <a:ext cx="4974336" cy="4480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场地原则与首选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政治象征：核心启动区 / 实验基地旁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国际接待：贵宾室·同传·安保动线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展示条件：成果展廊 + 具身演示区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首选：创客岛核心区主会场（300–400）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备选：滨江会客厅型 / 主场+分论坛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底线：不离岛，保证叙事完整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· 嘉宾规格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国际高位同时在场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11338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00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邀约对象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政要领导层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杨浦区委书记、区长（主致辞 / 揭牌）；分管副区长（科创 / 商务 / 建设）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抬升政治规格，形成区级主场答卷画面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国际领事层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「一带一路」重点国家驻沪总领事 6–10 位亲自出席（东南亚、中亚、中东、中东欧等轮动）；领团代表或总领事俱乐部相关协调机制支持邀约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全球化规格与国际合作落位的核心背书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产业与学术层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 / 机器人 / AI 大模型领军企业负责人；低空经济整机、运营与关键零部件企业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内容专业度与项目签约质量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 媒体与传播层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市级主流媒体、区融媒体中心；科技垂类媒体与国际传播渠道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形成「领导可见、社会可感、国际可传」的传播闭环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846320"/>
            <a:ext cx="111556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「一带一路」拟邀国别参考池（首场 6–10 国）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新加坡　马来西亚　泰国　印度尼西亚　越南　阿联酋　沙特阿拉伯　哈萨克斯坦 …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揭牌国总领事须本人出席；完整名单与对接重点见 Excel「一带一路国别池」表。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UNVEILING · 硬成果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国家厅 + 片区厅 + 产业平台落位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2801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3108960"/>
                <a:gridCol w="34747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落位类型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「某某国家」国际会议厅 / 国家会客厅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建议首批 2–3 个国家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空间冠名揭牌 + 合作备忘录 + 国别对接窗口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把领事资源固化为岛上常设国际合作界面，服务后续招商与出海。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「某某片区」国际会议厅 / 合作窗口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 1–2 个国内重点合作片区或海外园区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片区共建揭牌 + 双向飞地 / 离岸孵化机制发布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强化长三角 / 跨境园区联动，避免「只见活动不见落位」。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产业平台类揭牌（可选增强）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1–2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具身智能实训联合实验室 / 低空经济应用验证中心 / 出海服务站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把大会从「仪式」升级为「平台」，便于写进年底总结。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48056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原则 1  </a:t>
            </a: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先锁意向、再上仪式：揭牌对象须在活动前完成协议文本与空间确认。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原则 2  </a:t>
            </a: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一国一厅、一厅一责：明确运营主体、年度活动频次与招商指标。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0352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原则 3  </a:t>
            </a: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外事合规：领事出席与冠名事项提前报区外办 / 市外办指导。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原则 4  </a:t>
            </a: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媒体可感知：揭牌背板、铭牌、导视与宣传片同步备妥。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上午议程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规格致辞 · 成果发布 · 揭牌签约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234440"/>
          <a:ext cx="115214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5303520"/>
                <a:gridCol w="192024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08:30–09:20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签到 · 成果展廊开放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贵宾通道 / 领事接待 / 媒体采访位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09:20–09:30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开幕式 · 主持人开场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介绍出席领导与国际嘉宾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09:30–09:45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 / 区政府主要领导致辞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全球创客岛阶段性答卷与下一步部署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09:45–09:55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市级部门或特邀嘉宾致辞（视情）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 / 科创政策呼应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特邀领导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09:55–10:10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「一带一路」领事代表致辞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国际合作与科技出海期待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10:10–10:35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主旨成果发布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全球创客岛进展、量子城市岛上成果、具身智能平台进展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运营/专班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10:35–11:05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国际会议厅 / 会客厅揭牌仪式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国家厅 + 片区厅揭牌、铭牌落位、合影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区领导+领事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11:05–11:35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重点项目签约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入岛企业、出海合作、场景应用、基金/孵化器协议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区商务/科委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11:35–12:00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集体合影 · 媒体发布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领导—领事—企业三方同框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工作午宴 / 领事与区领导闭门交流（可选）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小范围深度沟通，不做大型晚宴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下午议程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分论坛深耕 · 国际对接酒会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234440"/>
          <a:ext cx="11521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926080"/>
                <a:gridCol w="5120640"/>
                <a:gridCol w="19202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平行分论坛 A：人工智能与空间智能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量子城市场景、大模型落地、企业路演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科委专班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平行分论坛 B：具身智能与低空经济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实训平台、场景合作、产业链对接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平行分论坛 C：科创出海圆桌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分国别对接桌：领事 × 出海企业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商务/外事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15:00–15:20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茶歇 · 展示区体验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具身智能演示、低空静态展、成果互动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主论坛复会 · 高端对话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政产学研国际对话：如何把实验区变成全球节点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16:20–16:50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发布「下一阶段行动」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百日行动 / 年度国际活动日历 / 会客厅运营机制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16:50–17:30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国际对接酒会（轻社交）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领事—企业—园区自由对接；不安排大型晚宴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669280"/>
            <a:ext cx="11155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完整可编辑议程、责任人与状态跟踪见配套 Excel「3.详细议程」工作表。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· 倒排期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从立项到 T+14 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23444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50392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关键任务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T-50 天（7 月底前）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立项与专班成立；确定 9/12 主日期与 9/9 备选；启动外事报批窗口沟通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T-45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锁定主会场；形成揭牌候选国家/片区短名单；起草领导活动方案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T-40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正式外事报批材料报送；首轮总领事邀约函发出；市级嘉宾意向沟通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T-30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确认至少 2 个国家厅 + 1 个片区厅意向；签约项目清单初稿；主视觉定稿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T-21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总领事出席确认过半；分论坛嘉宾锁定；安保与交通方案报审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全要素彩排脚本；揭牌铭牌与背板进场；媒体邀请名单确认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T-7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最终出席名单与座次；同传设备联调；应急预案桌面推演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会场布置完成；领导与领事行程再确认；物料与演示设备验收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活动日 9/12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按议程执行；实时舆情与后勤指挥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新闻通稿与短视频发布；领导汇报材料（一页纸 + 图文册）提交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T+14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会客厅运营启动会；签约项目跟踪台账；复盘报告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 · 预算成效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55 万，成效必须可写进专报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234440"/>
          <a:ext cx="64008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310896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场地租赁与基础改造/布置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含主会场、分会场、展廊；国企/区属载体可置换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舞台视听与同声传译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多语同传、大屏、直播机位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外事礼宾与接待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领事用车、休息室、伴手礼、翻译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揭牌空间与铭牌制作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首批会客厅基础形象与铭牌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物料视觉与印刷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主视觉、手册、胸卡、导视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餐饮茶歇与轻酒会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 人；不做大型晚宴以控成本与风控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媒体传播与直播剪辑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通稿、短视频、摄影摄像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安保交通医疗应急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按大型涉外活动标准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执行团队与不可预见费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含机动 10%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合计（示意）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42–73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中值约 55 万；场地/接待置换后可压至 40 万上下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903720" y="1234440"/>
          <a:ext cx="48920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52044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量化目标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政治规格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区委书记或区长出席；分管副区长全程；形成可呈报市级的成果专报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国际出席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总领事亲自出席 ≥6 国；国际嘉宾占比可感知（建议 ≥15%）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揭牌落位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国家/片区国际会议厅揭牌 ≥3 个；配套运营协议签署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现场签约 / 发布项目 ≥8 项；覆盖 AI、具身智能、低空、出海至少三类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 200–300 人；核心席满座率 ≥90%；无重大后勤与外事事故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传播声量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市级以上媒体报道 ≥5 篇；短视频播放与政务新媒体矩阵同步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后续转化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T+30 日内落地至少 1 场国别对接或企业入岛跟进活动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建议本周拍板的五件事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杨浦·复兴岛｜全球创客岛收官答卷大会｜策划方案 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1417320"/>
            <a:ext cx="960120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41732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141732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581912"/>
            <a:ext cx="8321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确认主日期 9/12，备选 9/9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2286000"/>
            <a:ext cx="960120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28600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28600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450592"/>
            <a:ext cx="8321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正式命名并成立六组专班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3154680"/>
            <a:ext cx="960120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80160" y="315468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319272"/>
            <a:ext cx="8321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锁定主会场与 3 个揭牌对象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023360"/>
            <a:ext cx="960120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80160" y="402336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02336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187952"/>
            <a:ext cx="8321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启动外事报批与领事邀约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0160" y="4892040"/>
            <a:ext cx="960120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80160" y="489204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89204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056632"/>
            <a:ext cx="8321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用本 PPT + Excel 作一页请示附件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6324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9 月 12 日，做成复兴岛的完美答卷。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全球创客岛 · 量子城市 · 科创出海 · 具身智能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8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主呈现文件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PPT 策划方案  +  Excel 执行计划表（13 张工作表）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V1.0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