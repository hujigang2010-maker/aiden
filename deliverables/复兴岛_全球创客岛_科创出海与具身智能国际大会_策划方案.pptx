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74920"/>
            <a:ext cx="12191695" cy="3810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5148072"/>
            <a:ext cx="4389120" cy="38100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868680"/>
            <a:ext cx="105156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杨浦区 · 复兴岛｜政府口径主题已定稿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234440"/>
            <a:ext cx="10698480" cy="1965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3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创客复兴·智汇杨浦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上海复兴岛「全球创客岛」阶段性成果发布暨科创出海与具身智能国际峰会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3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人工智能赋能 · 具身智能落地 · 国际合作揭牌 · 创客生态启航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429000"/>
            <a:ext cx="10515600" cy="1371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6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Slogan：锚定全球创客岛，答卷量子城市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主会日：2026 年 9 月 12 日（星期六 · 农历八月初二）　｜　服务 9/15 收官节点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结构：主论坛 + 分论坛 + 体验层 + 黑客松　｜　杨浦AI企业同台互动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规格：区领导 + 东亚/东南亚总领事（按全部出席准备）+ 杨浦AI企业 + 创客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394960"/>
            <a:ext cx="10515600" cy="5943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主呈现：PPT + Excel　｜　V3.3 · 建议稿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高端大气主题 · 杨浦优质企业互动 · 国际揭牌 · 敦煌样本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3810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56032"/>
            <a:ext cx="76200" cy="502920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46304"/>
            <a:ext cx="932688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ONE-PAGER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给领导决策的核心信息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320040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02/29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80467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创客复兴·智汇杨浦｜全球创客岛成果发布暨国际峰会｜V3.3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73952"/>
            <a:ext cx="29260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建议日期 2026-09-12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234440"/>
          <a:ext cx="11247120" cy="4983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9144000"/>
              </a:tblGrid>
              <a:tr h="38334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项目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内容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</a:tr>
              <a:tr h="38334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活动主题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创客复兴·智汇杨浦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38334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活动全称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上海复兴岛「全球创客岛」阶段性成果发布暨科创出海与具身智能国际峰会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38334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主题定位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人工智能赋能 · 具身智能落地 · 国际合作揭牌 · 创客生态启航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38334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Slogan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锚定全球创客岛，答卷量子城市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38334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建议时间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2026 年 9 月 12 日（星期六 · 农历八月初二）（主会日）；黑客松 2026 年 9 月 11 日（五）晚 — 9 月 12 日（六）下午（约 24 小时）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38334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黄历择吉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宜开市 · 挂匾 · 立券 · 出行 · 交易（详见择日专章）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38334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建议地点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复兴岛核心启动区 / 船台公园及周边高净高工业厂房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38334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活动规模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主会场 200–300 人；黑客松 20–40 队；体验层另计流动人次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38334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活动结构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主论坛 + 四分论坛 + 体验/游戏层 + 黑客松（四层组合）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38334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杨浦企业互动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优刻得、智谱、苏度、卓益得、傲鲨等算力/模型/具身企业同台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38334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规格目标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区委书记/区长出席；东亚+东南亚总领事全覆盖准备；敦煌等一事一议样本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383352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关键成果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成果发布 + 会客厅揭牌 + 企业互动签约 + Demo Day + 沉浸体验打样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3810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56032"/>
            <a:ext cx="76200" cy="502920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46304"/>
            <a:ext cx="932688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CONTENTS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方案目录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320040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03/29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80467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创客复兴·智汇杨浦｜全球创客岛成果发布暨国际峰会｜V3.3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73952"/>
            <a:ext cx="29260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建议日期 2026-09-12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417320"/>
            <a:ext cx="1828800" cy="128016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691640"/>
            <a:ext cx="18288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6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一页总览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331720" y="1417320"/>
            <a:ext cx="1828800" cy="128016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31720" y="1691640"/>
            <a:ext cx="18288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6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四层结构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1417320"/>
            <a:ext cx="1828800" cy="128016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0" y="1691640"/>
            <a:ext cx="18288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6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历史文脉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417320"/>
            <a:ext cx="1828800" cy="128016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63640" y="1691640"/>
            <a:ext cx="18288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6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领导寄托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0" y="1417320"/>
            <a:ext cx="1828800" cy="128016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0" y="1691640"/>
            <a:ext cx="18288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6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规划课题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195560" y="1417320"/>
            <a:ext cx="1828800" cy="128016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195560" y="1691640"/>
            <a:ext cx="18288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6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敦煌项目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5760" y="2926080"/>
            <a:ext cx="1828800" cy="128016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" y="3200400"/>
            <a:ext cx="18288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6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冷启动角色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331720" y="2926080"/>
            <a:ext cx="1828800" cy="128016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331720" y="3200400"/>
            <a:ext cx="18288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6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择日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0" y="2926080"/>
            <a:ext cx="1828800" cy="128016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97680" y="3200400"/>
            <a:ext cx="18288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6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09</a:t>
            </a:r>
          </a:p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定位目标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63640" y="2926080"/>
            <a:ext cx="1828800" cy="128016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63640" y="3200400"/>
            <a:ext cx="18288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6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杨浦企业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29600" y="2926080"/>
            <a:ext cx="1828800" cy="128016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0" y="3200400"/>
            <a:ext cx="18288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6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主题板块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195560" y="2926080"/>
            <a:ext cx="1828800" cy="128016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95560" y="3200400"/>
            <a:ext cx="18288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6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体验层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65760" y="4434840"/>
            <a:ext cx="1828800" cy="128016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65760" y="4709160"/>
            <a:ext cx="18288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6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13</a:t>
            </a:r>
          </a:p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黑客松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331720" y="4434840"/>
            <a:ext cx="1828800" cy="128016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331720" y="4709160"/>
            <a:ext cx="18288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6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14</a:t>
            </a:r>
          </a:p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规模场地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97680" y="4434840"/>
            <a:ext cx="1828800" cy="128016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297680" y="4709160"/>
            <a:ext cx="18288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6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15</a:t>
            </a:r>
          </a:p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嘉宾领事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63640" y="4434840"/>
            <a:ext cx="1828800" cy="128016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63640" y="4709160"/>
            <a:ext cx="18288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6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16</a:t>
            </a:r>
          </a:p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出海对接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229600" y="4434840"/>
            <a:ext cx="1828800" cy="128016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29600" y="4709160"/>
            <a:ext cx="18288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6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17</a:t>
            </a:r>
          </a:p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议程组织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195560" y="4434840"/>
            <a:ext cx="1828800" cy="128016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195560" y="4709160"/>
            <a:ext cx="18288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6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18</a:t>
            </a:r>
          </a:p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预算KPI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3810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56032"/>
            <a:ext cx="76200" cy="502920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46304"/>
            <a:ext cx="932688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FORMAT · 活动结构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四层结构：主论坛 · 分论坛 · 体验/游戏层 · 黑客松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320040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04/29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80467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创客复兴·智汇杨浦｜全球创客岛成果发布暨国际峰会｜V3.3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73952"/>
            <a:ext cx="29260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建议日期 2026-09-12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234440"/>
            <a:ext cx="11338560" cy="96012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1234440"/>
            <a:ext cx="109728" cy="960120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1344168"/>
            <a:ext cx="1078992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L1 主论坛（上午）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政治规格与收官叙事：领导致辞、成果发布、会客厅揭牌、重点签约；定调「百年复兴，智造再启航」，敦煌等仅作文旅科技样本点题。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2286000"/>
            <a:ext cx="11338560" cy="96012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1480" y="2286000"/>
            <a:ext cx="109728" cy="96012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395728"/>
            <a:ext cx="1078992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L2 分论坛（下午平行）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A 文脉·空间·量子城市；B 具身智能与低空；C 科创出海圆桌；D 敦煌·文旅科技与沉浸体验（新增）。专业深耕、可出纪要与对接清单。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1480" y="3337560"/>
            <a:ext cx="11338560" cy="96012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1480" y="3337560"/>
            <a:ext cx="109728" cy="960120"/>
          </a:xfrm>
          <a:prstGeom prst="rect">
            <a:avLst/>
          </a:prstGeom>
          <a:solidFill>
            <a:srgbClr val="1A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3447288"/>
            <a:ext cx="1078992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L3 体验 / 游戏层（全天并行）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非电竞意义的「游戏」，而是可玩可感的沉浸关卡：文脉三幕展、船台打卡任务、敦煌沉浸短时体验、具身智能互动关、集章换礼/线索任务，把流量与年轻创客导入岛上场景。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" y="4389120"/>
            <a:ext cx="11338560" cy="96012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" y="4389120"/>
            <a:ext cx="109728" cy="960120"/>
          </a:xfrm>
          <a:prstGeom prst="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4498848"/>
            <a:ext cx="1078992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L4 黑客松（9/11 晚—9/12）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「船台·智能体」24h 开发；增设「文旅智能体/沉浸叙事」相关赛题可选；Demo Day 回归主舞台，与主论坛形成「发布—验证—出苗」闭环。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5623560"/>
            <a:ext cx="111556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组合逻辑：主论坛领导可见 · 分论坛专业可谈 · 体验层大众可感 · 黑客松青年可来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3810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56032"/>
            <a:ext cx="76200" cy="502920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46304"/>
            <a:ext cx="932688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HERITAGE · 历史文脉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从周家嘴浅滩到全球创客岛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320040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05/29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80467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创客复兴·智汇杨浦｜全球创客岛成果发布暨国际峰会｜V3.3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73952"/>
            <a:ext cx="29260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建议日期 2026-09-12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188720"/>
          <a:ext cx="114300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011680"/>
                <a:gridCol w="777240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时期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节点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要点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清末—民初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周家嘴浅滩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黄浦江左岸鱼嘴状浅滩，因周家嘴村得名；浚浦局启动航道整治。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1913—1934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吹填成岛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抛柴排筑堤、吹泥填土，周家嘴岛基本形成；南北约 3.4 公里，面积约 1.13 平方公里。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1927 前后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定海桥贯通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定海路桥建成，岛与市区陆路连通；浚浦局工场、仓储起步。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1930 年代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工业岛成型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大中华造船机器厂、上海鱼市场等入驻；造船、仓储、能源产业集聚。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1937—1945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定海岛岁月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日军占领后改称定海岛（一度昭和岛）；抗战胜利后更名「复兴岛」，寓国家复兴。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解放后—本世纪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产业基地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燃料、木材、石油、仓储、造船、渔业等国央企扎根，见证民族工业荣光。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战略留白期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留白岛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中心城区稀缺滨水战略空间，为未来城市实验预留；工业肌理与遗存得以保全。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2024.12 起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量子城市场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上海量子城市时空智能创新基地启动，岛上感知、语料与场景底座起步。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2025.12.18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全球创客岛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市委书记陈吉宁调研并启动「上海复兴岛—全球创客岛」，岛正式进入开局年。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2026.02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集聚区方案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杨府发〔2026〕1 号印发，锚定三岛定位与四大产业方向，政策体系成型。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3810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56032"/>
            <a:ext cx="76200" cy="502920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46304"/>
            <a:ext cx="932688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HERITAGE · 衍生议题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工业遗存 + 敦煌文明如何转译为活动主题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320040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06/29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80467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创客复兴·智汇杨浦｜全球创客岛成果发布暨国际峰会｜V3.3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73952"/>
            <a:ext cx="29260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建议日期 2026-09-12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234440"/>
            <a:ext cx="5394960" cy="484632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65760" y="1234440"/>
            <a:ext cx="5394960" cy="50800"/>
          </a:xfrm>
          <a:prstGeom prst="round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" y="1362456"/>
            <a:ext cx="5102352" cy="459028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关键文脉载体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船台公园（共青路 130 号）：沪东中华造船厂旧址；保留船台斜率、1973 年 120 吨塔吊与厂区道路肌理；量子城…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定海路桥（定海桥）：1927 年钢筋混凝土桥，曾是连通市区的唯一陆路通道；岛城关系的历史符号。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白庐 / 复兴岛公园：浚浦局职员俱乐部旧址与公园绿地；近代工程管理与生活记忆的空间标本。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存量工业厂房（约 30 万㎡）：先期盘活约 5 万㎡老厂房为共享实验室、概念验证中心、中试基地与创客空间。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复兴岛运河：筑岛同期疏浚形成的人工水道；环水地理环境支撑低空/无人艇等测试叙事。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89320" y="1234440"/>
            <a:ext cx="5760720" cy="109728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89320" y="1234440"/>
            <a:ext cx="5760720" cy="50800"/>
          </a:xfrm>
          <a:prstGeom prst="roundRect">
            <a:avLst/>
          </a:prstGeom>
          <a:solidFill>
            <a:srgbClr val="1A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35624" y="1362456"/>
            <a:ext cx="5468112" cy="84124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从「造船下海」到「科创出海」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0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大中华/中华造船的下海基因，映射今日 AI、具身智能、低空装备的全球化。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0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国别推介与会客厅揭牌，延续「面江向海」的开放传统。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89320" y="2423160"/>
            <a:ext cx="5760720" cy="109728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989320" y="2423160"/>
            <a:ext cx="5760720" cy="50800"/>
          </a:xfrm>
          <a:prstGeom prst="round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35624" y="2551176"/>
            <a:ext cx="5468112" cy="84124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从「工业遗存」到「创新资产」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0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轻度改造、保护肌理——呼应市委「盘活用好工业建筑、注重保护原有肌理」。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0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成果展廊设「船台—塔吊—智能体」三幕叙事，供领导视察与媒体拍摄。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89320" y="3611880"/>
            <a:ext cx="5760720" cy="109728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989320" y="3611880"/>
            <a:ext cx="5760720" cy="50800"/>
          </a:xfrm>
          <a:prstGeom prst="roundRect">
            <a:avLst/>
          </a:prstGeom>
          <a:solidFill>
            <a:srgbClr val="1A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35624" y="3739896"/>
            <a:ext cx="5468112" cy="84124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从「定海/复兴」到「再复兴」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0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岛名本身即政治象征：抗战胜利后定名「复兴」，今日再以创客与智能复兴。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0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活动主视觉可用「船台曲线 × 数字网格」，口号建议：「百年复兴，智造再启航」。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89320" y="4800600"/>
            <a:ext cx="5760720" cy="109728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89320" y="4800600"/>
            <a:ext cx="5760720" cy="50800"/>
          </a:xfrm>
          <a:prstGeom prst="round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35624" y="4928616"/>
            <a:ext cx="5468112" cy="84124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从「壁画文明」到「岛上沉浸」——敦煌 × 复兴岛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0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敦煌壁画 IP 与复兴岛「设计艺术岛」高度契合，可做文旅科技永久落地样本。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0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沉浸式剧目/机器人互动构成「体验层」，与主论坛形成「听故事—进场景」闭环。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3810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56032"/>
            <a:ext cx="76200" cy="502920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46304"/>
            <a:ext cx="932688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MANDATE · 领导寄托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市领导要求与区里如何接得住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320040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07/29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80467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创客复兴·智汇杨浦｜全球创客岛成果发布暨国际峰会｜V3.3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73952"/>
            <a:ext cx="29260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建议日期 2026-09-12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234440"/>
            <a:ext cx="5760720" cy="320040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65760" y="1234440"/>
            <a:ext cx="5760720" cy="50800"/>
          </a:xfrm>
          <a:prstGeom prst="round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" y="1362456"/>
            <a:ext cx="5468112" cy="29443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市委书记陈吉宁（2025-12-18）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坚持以规划为引领，把复兴岛打造为科技创新策源的活力新空间。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盘活用好见证城市发展历史的工业建筑，注重保护原有肌理，注入创新创业功能。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搭建好平台、组织好培训、开展好活动，更好吸引集聚创新创业人才。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着眼低成本、高效率、便利性，优化配置创新创业资源要素，与全球创客同频共振。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围绕人工智能赋能城市空间治理，在具体场景测试应用中试出经验、试出路径。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234440"/>
            <a:ext cx="5394960" cy="320040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355080" y="1234440"/>
            <a:ext cx="5394960" cy="50800"/>
          </a:xfrm>
          <a:prstGeom prst="round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01384" y="1362456"/>
            <a:ext cx="5102352" cy="29443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杨浦区委区政府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锚定「数字智能岛、设计艺术岛、人民城市岛」新使命。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以约 30 万㎡存量工业建筑、约 2500 间人才公寓为禀赋，打造国际创新创业集聚区。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功能导向：低成本、高效率、便利性；先期盘活约 5 万㎡老厂房。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政策工具：创新券、算力券、模型券、语料券；创客学院、高校创新联盟、OPC 社群。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举办国际顶尖峰会、大赛展会与社群活动，培育多元化、超活力、自生长创客集群。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617720"/>
            <a:ext cx="11247120" cy="1463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本场活动如何回应寄托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用大会回应「开展好活动」——高规格主论坛 + 国际揭牌 + 黑客松，三者齐备。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用展陈回应「保护肌理、注入功能」——船台/塔吊视察动线 + 智能体演示同场。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用政策发布回应「低成本、高效率、便利性」——券包、公寓、入岛通道现场兑现案例。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用场景测试回应「试出经验、试出路径」——具身智能/低空/空间智能课题路演与签约。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3810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56032"/>
            <a:ext cx="76200" cy="502920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46304"/>
            <a:ext cx="932688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PLANNING · 规划课题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大上海与杨浦规划下的六大课题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320040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08/29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80467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创客复兴·智汇杨浦｜全球创客岛成果发布暨国际峰会｜V3.3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73952"/>
            <a:ext cx="29260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建议日期 2026-09-12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188720"/>
          <a:ext cx="576072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4114800"/>
              </a:tblGrid>
              <a:tr h="705394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维度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对齐要点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市级战略空间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黄浦江中北段科创高地与高品质水岸；复兴岛为中心城区稀缺滨水战略空间与「留白」转化样板。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量子城市行动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时空智能创新基地 → 实验基地愿景行动 → 岛上全息空间智能体与感知终端；大会设置成果发布专章。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规划资源新政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2025-12-17《支持复兴岛打造国际创新创业集聚区的规划资源指导意见》：综合发展区、过渡型综合利用、短期用地机制。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杨浦实施方案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杨府发〔2026〕1 号：四大产业方向 + 六大支持政策 + 市区分层协调、创客学院、高校创新联盟。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存量盘活机制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产业用地综合绩效评估、国企「四个一批」、轻度改造保护工业文脉；船台公园已验证「遗存→资产」。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705396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人民城市理念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数字智能 × 设计艺术 × 人民城市三岛一体；滨江公共空间、文体活动与创客生活同步呈现。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263640" y="1188720"/>
          <a:ext cx="548640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2011680"/>
                <a:gridCol w="2560320"/>
              </a:tblGrid>
              <a:tr h="705394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课题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题目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聚焦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课题 A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百年复兴的空间哲学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文脉保护、轻度改造、过渡型综合利用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课题 B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量子城市岛上答卷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空间智能成果、场景清单、可复制治理经验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课题 C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具身智能与低空试验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实训平台、空域水道测试、产业链协同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课题 D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科创出海与会客厅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国别机会、揭牌运营、企业对接闭环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课题 E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敦煌文旅科技落岛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IP 授权、高净高空间、沉浸商业与一事一议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705396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课题 F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创客生态与黑客松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青年人才、OPC 社群、体验层导流与转化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3810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56032"/>
            <a:ext cx="76200" cy="502920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46304"/>
            <a:ext cx="932688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DUNHUANG · 意向样本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「敦煌」文旅科技项目（意向落户）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320040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09/29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80467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创客复兴·智汇杨浦｜全球创客岛成果发布暨国际峰会｜V3.3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73952"/>
            <a:ext cx="29260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建议日期 2026-09-12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70432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意向对接中 · 建议纳入 9/12 活动一事一议展示与分论坛/体验层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1554480"/>
            <a:ext cx="5669280" cy="274320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65760" y="1554480"/>
            <a:ext cx="5669280" cy="50800"/>
          </a:xfrm>
          <a:prstGeom prst="round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1682496"/>
            <a:ext cx="5376672" cy="2487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项目基本面（部分数据待核实）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发起：拥有敦煌壁画 IP 授权的国企背景项目方。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市场信号：曾在「样立方」剧场开展剧播/沉浸活动；对外称约 10 天门票收益约 950 万元——该数据须在对接会上向项目方核实（票价、上座率、核算口径），本稿标注「待核实」。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产品形态：沉浸式体验 + 机器人等科技互动；希望从短期活动升级为长期实体落地。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空间诉求：约 2000㎡；建筑净高 9–11m；意向地杨浦·复兴岛，作未来产品基地。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554480"/>
            <a:ext cx="5440680" cy="274320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1554480"/>
            <a:ext cx="5440680" cy="50800"/>
          </a:xfrm>
          <a:prstGeom prst="roundRect">
            <a:avLst/>
          </a:prstGeom>
          <a:solidFill>
            <a:srgbClr val="1A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9944" y="1682496"/>
            <a:ext cx="5148072" cy="2487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与复兴岛契合点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与「设计艺术岛」定位高度契合，补齐文旅科技与沉浸体验短板。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与工业遗存大空间（高净高厂房）天然匹配，可做轻度改造样本。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可与具身智能/机器人赛道交叉，形成「壁画 IP × 智能体」传播点。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若在 9/12 前后完成意向仪式或体验打样，可直接服务 9/15 成果展示节点。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4480560"/>
            <a:ext cx="11338560" cy="155448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65760" y="4480560"/>
            <a:ext cx="11338560" cy="50800"/>
          </a:xfrm>
          <a:prstGeom prst="round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4608576"/>
            <a:ext cx="11045952" cy="129844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活动用法：主论坛点题 · 分论坛 D 深讲 · 体验层打样 · 成熟则一事一议意向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主论坛：作为「高价值文旅科技入岛」一事一议案例亮相（不作未核实数据背书）。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分论坛 D：敦煌·文旅科技与沉浸体验专场（IP 授权、空间改造、机器人互动、商业模型）。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体验/游戏层：设置限流沉浸打卡或短时体验场（视空间进度；未完工则用多媒体+样片）。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签约/备忘：若对接成熟，可安排框架合作/选址意向签署；不成则保留调研结论。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3810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56032"/>
            <a:ext cx="76200" cy="502920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46304"/>
            <a:ext cx="932688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COLD START · 角色原则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智库顾问定位 · 一事一议 · 先调研后成交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320040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10/29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80467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创客复兴·智汇杨浦｜全球创客岛成果发布暨国际峰会｜V3.3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73952"/>
            <a:ext cx="29260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建议日期 2026-09-12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234440"/>
            <a:ext cx="5669280" cy="484632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65760" y="1234440"/>
            <a:ext cx="5669280" cy="50800"/>
          </a:xfrm>
          <a:prstGeom prst="round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" y="1362456"/>
            <a:ext cx="5376672" cy="459028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冷启动原则（会商纪要）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复兴岛仍处冷启动：可用载体多已被认领，入驻政策口径尚不清晰，规则由创客学院等机制逐步定。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领导层高度关注 9 月 15 日建设成果展示节点——一切可呈现的活动与成果须快速响应。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定位为「智库 / 顾问」：非业主、非政府决策主体，不直接承诺政策，但积极调研、建议与撮合。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高价值项目走「一事一议」直报区领导；一般项目先调研摸底，不强行成交。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核心动作：摸清各方需求与市场情报，筛出与岛气质匹配的项目，寻找互利共赢机会。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人脉即资产：需高频激活、打标签、形成价值链；用活动与场景让资源流动起来。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234440"/>
            <a:ext cx="5440680" cy="484632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263640" y="1234440"/>
            <a:ext cx="5440680" cy="50800"/>
          </a:xfrm>
          <a:prstGeom prst="round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9944" y="1362456"/>
            <a:ext cx="5148072" cy="459028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协同角色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杨浦区科技企业联合会（胡继刚等）：执行会长资源；低成本办会、大厂论坛、AI 活动操盘；上万私域人脉；上半年招商落地约 2700㎡ …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上海云基地 / 复兴岛运营协同方：地理与垂直生态优势；创客学院草创期「化缘」与合规付费原则；授权一线对接、调研摸底；强调合作「明明…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创客学院（规则与生态）：负责逐步明确入驻与活动规则；叠加「未来城市创新实验」方向：方案孵化、产学研联动；把偶然需求打样为…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敦煌项目方（意向入岛）：持壁画 IP 授权的国企发起；寻求落户与政策支持；拟约 2000㎡、净高 9–11m 空间作产品…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3810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56032"/>
            <a:ext cx="76200" cy="502920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46304"/>
            <a:ext cx="932688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DATE · 择日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首选 2026-09-12（周六）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320040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11/29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80467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创客复兴·智汇杨浦｜全球创客岛成果发布暨国际峰会｜V3.3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73952"/>
            <a:ext cx="29260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建议日期 2026-09-12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280160"/>
          <a:ext cx="69494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5303520"/>
              </a:tblGrid>
              <a:tr h="585216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项目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内容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公历星期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2026 年 9 月 12 日（星期六 · 农历八月初二）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宜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开市 · 挂匾 · 立券 · 交易 · 出行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节奏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9/11 晚黑客松开营 → 9/12 主会+Demo Day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理由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9/15 前最近开市/挂匾吉日，契合揭牌与国际到访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7589520" y="1280160"/>
            <a:ext cx="4114800" cy="228600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589520" y="1280160"/>
            <a:ext cx="4114800" cy="50800"/>
          </a:xfrm>
          <a:prstGeom prst="roundRect">
            <a:avLst/>
          </a:prstGeom>
          <a:solidFill>
            <a:srgbClr val="1A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35824" y="1408176"/>
            <a:ext cx="3822192" cy="20299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备选 · 9 月 9 日（周三）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工作日开市吉日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领导周六不便时启用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黑客松可前置周末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0" y="3794760"/>
            <a:ext cx="4114800" cy="219456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589520" y="3794760"/>
            <a:ext cx="4114800" cy="50800"/>
          </a:xfrm>
          <a:prstGeom prst="round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35824" y="3922776"/>
            <a:ext cx="3822192" cy="193852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规避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9/10 杨公忌日，大事勿用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9/16 已越过收官节点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4480560"/>
            <a:ext cx="6858000" cy="1463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决策口径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主推 9/12；领导周六不便则改 9/9。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黑客松与主会绑定，形成「创客夜→答卷日」完整叙事。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3810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56032"/>
            <a:ext cx="76200" cy="502920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46304"/>
            <a:ext cx="932688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GOALS · 定位目标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可汇报、可传播、可复用的答卷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320040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12/29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80467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创客复兴·智汇杨浦｜全球创客岛成果发布暨国际峰会｜V3.3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73952"/>
            <a:ext cx="29260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建议日期 2026-09-12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34440"/>
            <a:ext cx="1115568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以百年「复兴」文脉与「敦煌」级文化 IP 为双引擎，以 9 月 15 日前收官节点为政治死线，在岛上以「主论坛 + 分论坛 + 沉浸式体验/游戏层 + 黑客松」组合拳，完成成果发布、国际会客厅揭牌与高价值项目（含敦煌意向）一事一议展示，形成可汇报、可传播、可复用的冷启动答卷。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148840"/>
            <a:ext cx="11155680" cy="566928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2148840"/>
            <a:ext cx="566928" cy="566928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148840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2258568"/>
            <a:ext cx="10241280" cy="38404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政治答卷：服务 9 月 15 日建设成果展示节点，回应市、区领导对显性成果的渴求。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788920"/>
            <a:ext cx="11155680" cy="566928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2788920"/>
            <a:ext cx="566928" cy="566928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2788920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2898648"/>
            <a:ext cx="10241280" cy="38404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文脉续写：工业遗存活化 + 敦煌文化 IP 沉浸体验，形成「设计艺术岛」可感画面。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429000"/>
            <a:ext cx="11155680" cy="566928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3429000"/>
            <a:ext cx="566928" cy="566928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3429000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3538728"/>
            <a:ext cx="10241280" cy="38404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结构创新：主论坛定调 + 分论坛深耕 + 体验/游戏层引流 + 黑客松出苗子。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069080"/>
            <a:ext cx="11155680" cy="566928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4069080"/>
            <a:ext cx="566928" cy="566928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4069080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34440" y="4178808"/>
            <a:ext cx="10241280" cy="38404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国际规格：东亚+东南亚驻沪总领事按全部出席准备，完成国家/片区会客厅揭牌落位。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4709160"/>
            <a:ext cx="11155680" cy="566928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02920" y="4709160"/>
            <a:ext cx="566928" cy="566928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4709160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34440" y="4818888"/>
            <a:ext cx="10241280" cy="38404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项目样本：推动敦煌等文旅科技高价值意向走「一事一议」通道，形成可打样案例。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349240"/>
            <a:ext cx="11155680" cy="566928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02920" y="5349240"/>
            <a:ext cx="566928" cy="566928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920" y="5349240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34440" y="5458968"/>
            <a:ext cx="10241280" cy="38404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生态协同：科企联活动/招商能力 × 云基地与创客学院智库机制，盘活人脉资产。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3810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56032"/>
            <a:ext cx="76200" cy="502920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46304"/>
            <a:ext cx="932688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YANGPU AI · 企业互动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优刻得 · 智谱 · 苏度 · 卓益得等上岛同台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320040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13/29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80467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创客复兴·智汇杨浦｜全球创客岛成果发布暨国际峰会｜V3.3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73952"/>
            <a:ext cx="29260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建议日期 2026-09-12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74320" y="1170432"/>
          <a:ext cx="1161288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828800"/>
                <a:gridCol w="7589520"/>
              </a:tblGrid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企业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赛道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活动互动角色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优刻得 UCloud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智算/云计算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主论坛技术底座发言；黑客松算力/云资源赞助；分论坛 B 或算力圆桌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智谱 AI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大模型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主论坛/分论坛模型应用分享；黑客松模型 API/导师支持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苏度科技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具身智能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具身分论坛核心路演；体验层真机互动；实训场景合作意向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卓益得机器人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人形/具身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体验层人形互动；分论坛 B 案例；硅基岛民/巡游展示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傲鲨智能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外骨骼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体验层可穿戴互动；产业分论坛场景分享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清宝引擎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仿生人形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体验层/展示区真机；黑客松具身赛道导师候选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声网 Agora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实时互动 AI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同传/直播技术支持或分论坛实时互动方案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道客网络 DaoCloud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云原生/算力调度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算力调度/云原生圆桌；黑客松基础设施支持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5257800"/>
            <a:ext cx="1124712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互动机制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主论坛「杨浦AI力量」发言 ｜ 分论坛具身圆桌 ｜ 体验层真机 ｜ 黑客松导师/算力 ｜ 签约意向墙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说明：苏度科技为杨浦具身智能重点企业（会商口述「首度」对应此方向企业）。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3810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56032"/>
            <a:ext cx="76200" cy="502920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46304"/>
            <a:ext cx="932688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PILLARS · 主题板块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文脉 · 出海 · 硬科技 · 敦煌沉浸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320040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14/29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80467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创客复兴·智汇杨浦｜全球创客岛成果发布暨国际峰会｜V3.3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73952"/>
            <a:ext cx="29260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建议日期 2026-09-12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280160"/>
            <a:ext cx="2788920" cy="480060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65760" y="1280160"/>
            <a:ext cx="2788920" cy="50800"/>
          </a:xfrm>
          <a:prstGeom prst="round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" y="1408176"/>
            <a:ext cx="2496312" cy="45445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文脉续写与空间更新
Heritage × Renewal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治江→治城：浚浦工程传统与量子城市治理对照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工业遗存轻度改造：船台公园与高净高厂房焕新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人民城市理念下的滨江公共空间与创客生活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91840" y="1280160"/>
            <a:ext cx="2788920" cy="480060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91840" y="1280160"/>
            <a:ext cx="2788920" cy="50800"/>
          </a:xfrm>
          <a:prstGeom prst="round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38144" y="1408176"/>
            <a:ext cx="2496312" cy="45445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科创出海
Go Global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「一带一路」营商环境与科技合作机会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从「造船下海」到「智能装备/算法出海」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国家会客厅与双向投资、离岸孵化机制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280160"/>
            <a:ext cx="2788920" cy="480060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17920" y="1280160"/>
            <a:ext cx="2788920" cy="50800"/>
          </a:xfrm>
          <a:prstGeom prst="roundRect">
            <a:avLst/>
          </a:prstGeom>
          <a:solidFill>
            <a:srgbClr val="1A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224" y="1408176"/>
            <a:ext cx="2496312" cy="45445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人工智能 · 具身 · 低空
AI × Embodied × Low-alt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量子城市时空智能与城市治理大模型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具身智能实景实训与「硅基岛民」示范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环水条件下低空/无人系统应用试验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0" y="1280160"/>
            <a:ext cx="2788920" cy="480060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144000" y="1280160"/>
            <a:ext cx="2788920" cy="50800"/>
          </a:xfrm>
          <a:prstGeom prst="round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90304" y="1408176"/>
            <a:ext cx="2496312" cy="45445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敦煌·文旅科技沉浸
Dunhuang Immersive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壁画 IP × 机器人/智能体的沉浸叙事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约 2000㎡ / 净高 9–11m 产品基地空间议题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论坛讲解 + 体验关卡，服务设计艺术岛定位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3810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56032"/>
            <a:ext cx="76200" cy="502920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46304"/>
            <a:ext cx="932688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PLAY LAYER · 体验层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论坛 × 游戏化体验：可玩可感的沉浸关卡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320040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15/29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80467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创客复兴·智汇杨浦｜全球创客岛成果发布暨国际峰会｜V3.3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73952"/>
            <a:ext cx="29260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建议日期 2026-09-12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188720"/>
          <a:ext cx="1143000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8686800"/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关卡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内容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关卡 1 · 文脉三幕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周家嘴—定海—复兴—创客岛图文/影像，集章起点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关卡 2 · 船台任务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船台/塔吊打卡问答或 AR 简任务，强化工业遗存记忆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关卡 3 · 敦煌沉浸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短时沉浸样片/限流体验或多媒体剧场（视空间进度）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关卡 4 · 智能体互动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具身机器人互动关，衔接黑客松与实训平台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关卡 5 · 出海线索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国别会客厅导览任务，引导至分论坛 C 与酒会对接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结算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集齐印章兑换伴手礼/体验券；优胜线索进入黑客松或招商线索库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02920" y="5212080"/>
            <a:ext cx="1115568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说明：此处「游戏」指沉浸关卡与集章任务，非电竞赛事；与主论坛、分论坛 D（敦煌）、黑客松互相导流。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冷启动打样原则：空间未就绪可用多媒体样片；成熟后再上重资产永久落地。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3810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56032"/>
            <a:ext cx="76200" cy="502920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46304"/>
            <a:ext cx="932688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HACKATHON · 黑客松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「船台·智能体」复兴创客黑客松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320040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16/29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80467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创客复兴·智汇杨浦｜全球创客岛成果发布暨国际峰会｜V3.3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73952"/>
            <a:ext cx="29260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建议日期 2026-09-12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15568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在百年船台，写出下一代智能体　｜　2026 年 9 月 11 日（五）晚 — 9 月 12 日（六）下午（约 24 小时）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1691640"/>
            <a:ext cx="5669280" cy="219456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65760" y="1691640"/>
            <a:ext cx="5669280" cy="50800"/>
          </a:xfrm>
          <a:prstGeom prst="round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1819656"/>
            <a:ext cx="5376672" cy="193852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为何必须做黑客松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直接回应市委「开展好活动、集聚创新创业人才」要求。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呼应区方案鼓励大赛展会、OPC 社群与创客学院生态。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把「全球创客岛」从发布会做成可感知的创客现场。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文脉衍生：船台曾承载造船下海，今日承载智能体「下水」。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691640"/>
            <a:ext cx="5440680" cy="219456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1691640"/>
            <a:ext cx="5440680" cy="50800"/>
          </a:xfrm>
          <a:prstGeom prst="round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9944" y="1819656"/>
            <a:ext cx="5148072" cy="193852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规模与场地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20–40 支团队（高校/创客/初创，每队 3–5 人）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岛上老厂房创客空间 / 实训平台周边（与主会场分流）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优胜项目登周六主舞台 Demo Day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激励：奖金+券包+入孵绿色通道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365760" y="4069080"/>
          <a:ext cx="1143000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8229600"/>
              </a:tblGrid>
              <a:tr h="35052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赛道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课题方向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赛道 1 · 空间智能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城市治理大模型、时空数据应用、岛上场景助手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赛道 2 · 具身智能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机器人实景任务、人机协同、实训场课题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赛道 3 · 低空/无人系统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巡检、物流、应急或文旅低空应用原型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赛道 4 · 科创出海工具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跨境合规、多语言服务、海外获客与本地化工具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赛道 5 · 文旅智能体（可选）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敦煌/壁画叙事智能体、沉浸导览、机器人互动脚本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3810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56032"/>
            <a:ext cx="76200" cy="502920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46304"/>
            <a:ext cx="932688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HACKATHON · 赛程规则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24 小时登岛出作品、出苗子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320040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17/29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80467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创客复兴·智汇杨浦｜全球创客岛成果发布暨国际峰会｜V3.3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73952"/>
            <a:ext cx="29260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建议日期 2026-09-12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188720"/>
          <a:ext cx="68580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4297680"/>
              </a:tblGrid>
              <a:tr h="52251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时间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环节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9/11 18:30–19:30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报到开营 · 文脉短片 · 课题发布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9/11 19:30–22:30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组队确认 · 导师匹配 · 开工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9/11 22:30–次日 12:00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连续开发（夜间值守与安全预案）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9/12 12:00–13:30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提交截止 · 初审 · 午餐休整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9/12 15:20–16:20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Demo Day（主论坛复会环节，决赛队伍路演）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522516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9/12 16:20–16:40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颁奖 · 入孵/券包意向授意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7452360" y="1188720"/>
            <a:ext cx="4297680" cy="365760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452360" y="1188720"/>
            <a:ext cx="4297680" cy="50800"/>
          </a:xfrm>
          <a:prstGeom prst="roundRect">
            <a:avLst/>
          </a:prstGeom>
          <a:solidFill>
            <a:srgbClr val="1A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98664" y="1316736"/>
            <a:ext cx="4005072" cy="34015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规则与激励要点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赛前 2 周发布课题包与岛上开放数据/API（脱敏）；现场也可自带题目但须贴合赛道。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提供算力代金/云资源、导师工位、工业遗存场地氛围与演示道具。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导师团：产业专家 + 入岛企业 + 高校导师；国际领事可参与点评（可选）。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产出：可演示原型 + 3 分钟路演 + 一页应用场景说明。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激励：奖金/算力券/模型券/入孵绿色通道/会客厅对接名额；优胜项目周六 Demo Day 登主舞台。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074920"/>
            <a:ext cx="11247120" cy="10058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黑客松 KPI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报名队伍 ≥30，完赛 ≥20　｜　产生可演示原型 ≥15 个　｜　意向入孵/场景合作 ≥5 项　｜　青年人才线索入库 ≥80 人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3810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56032"/>
            <a:ext cx="76200" cy="502920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46304"/>
            <a:ext cx="932688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SCALE &amp; VENUE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主会 200–300 人 · 体验/黑客松分流 · 必须在岛上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320040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18/29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80467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创客复兴·智汇杨浦｜全球创客岛成果发布暨国际峰会｜V3.3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73952"/>
            <a:ext cx="29260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建议日期 2026-09-12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188720"/>
          <a:ext cx="585216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097280"/>
                <a:gridCol w="2743200"/>
              </a:tblGrid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席别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人数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组成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主席台 / 前排贵宾席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40–55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区领导、市级嘉宾、东亚+东南亚总领事（按全员预留）、揭牌对象代表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国际与外事席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40–50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领馆官员、海外园区、国际组织、翻译陪同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产业核心席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70–90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AI / 具身智能 / 低空重点企业与投资机构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创客与黑客松观察席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30–40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导师、优胜候选队代表、高校创新联盟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生态与媒体席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40–50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孵化器、协会、媒体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工作保障席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20–30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安保、外事、会务、宣传、医疗、黑客松值守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合计（主会场）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200–300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黑客松选手主要在工位区，决赛代表进入主会场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6446520" y="1188720"/>
            <a:ext cx="5303520" cy="484632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46520" y="1188720"/>
            <a:ext cx="5303520" cy="50800"/>
          </a:xfrm>
          <a:prstGeom prst="round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92824" y="1316736"/>
            <a:ext cx="5010912" cy="459028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场地首选：启动区 + 船台公园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主论坛/揭牌在核心启动区厂房会场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领导领事短途步入船台公园文脉打卡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黑客松置于相邻老厂房，动线最短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可见船台、塔吊，保证历史—未来同框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底线：不离岛，叙事完整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3810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56032"/>
            <a:ext cx="76200" cy="502920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46304"/>
            <a:ext cx="932688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GUESTS &amp; UNVEILING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政治高位 + 国际高位 + 杨浦企业 + 硬成果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320040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19/29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80467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创客复兴·智汇杨浦｜全球创客岛成果发布暨国际峰会｜V3.3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73952"/>
            <a:ext cx="29260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建议日期 2026-09-12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188720"/>
          <a:ext cx="1152144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6035040"/>
                <a:gridCol w="3383280"/>
              </a:tblGrid>
              <a:tr h="530352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层级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邀约对象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目标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 政要领导层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杨浦区委书记、区长（主致辞 / 揭牌）；分管副区长（科创 / 商务 / 建设 / 规划资源）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抬升政治规格，形成区级主场答卷画面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 国际领事层（东亚+东南亚优先）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暂按东亚+东南亚驻沪总领事全部出席准备（约 11 国，见领事名单）；揭牌国对应总领事优先本人出席；其余国安排致辞/圆桌/酒会对接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全球化规格与国际合作落位的核心背书；形成「邻域全覆盖」画面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 杨浦产业主力军（重点互动）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优刻得、智谱 AI（算力与大模型）；苏度科技、卓益得、傲鲨智能、清宝引擎（具身智能）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区内存量企业上岛互动，形成「杨浦 AI 回家乡」画面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 媒体与传播层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市级主流媒体、区融媒体中心；科技垂类与国际传播渠道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领导可见、社会可感、国际可传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4023360"/>
          <a:ext cx="115214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2011680"/>
                <a:gridCol w="5394960"/>
              </a:tblGrid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揭牌类型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数量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形式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「某某国家」国际会议厅 / 国家会客厅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建议首批 2–3 个国家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空间冠名揭牌 + 合作备忘录 + 国别对接窗口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「某某片区」国际会议厅 / 合作窗口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建议 1–2 个国内重点合作片区或海外园区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片区共建揭牌 + 双向飞地 / 离岸孵化机制发布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产业与创客平台揭牌（增强项）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1–2 项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具身智能联合实验室 / 低空应用验证中心 / 创客学院·黑客松常设营地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敦煌文旅科技意向仪式（视对接进度）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0–1 项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选址意向 / 框架合作备忘录；或仅作体验层打样不强制签约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3810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56032"/>
            <a:ext cx="76200" cy="502920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46304"/>
            <a:ext cx="932688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CONSULS · 东亚东南亚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驻沪总领事名单 · 暂按全部出席准备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320040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20/29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80467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创客复兴·智汇杨浦｜全球创客岛成果发布暨国际峰会｜V3.3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73952"/>
            <a:ext cx="29260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建议日期 2026-09-12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28600" y="1097280"/>
          <a:ext cx="11704320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371600"/>
                <a:gridCol w="3108960"/>
                <a:gridCol w="3200400"/>
                <a:gridCol w="3108960"/>
              </a:tblGrid>
              <a:tr h="40767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片区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国家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总领事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合作侧重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现场安排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</a:tr>
              <a:tr h="40767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东亚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日本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冈田胜（Okada Masaru）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制造、机器人、低碳与产业技术合作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拟邀本人出席；揭牌/主论坛优先候选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40767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东亚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韩国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金英俊（Young-jun Kim）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半导体、消费电子、跨境电商与文创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拟邀本人出席；出海/产业圆桌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40767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东亚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蒙古国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道尔吉德日木·宝勒德（Dorjderem Bold）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资源能源、跨境通道与教育人文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拟邀本人出席；国际对接酒会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40767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东南亚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新加坡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陈子勤（Tan Chee King）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总部经济、金融与数字贸易枢纽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拟邀本人出席；揭牌/主论坛优先候选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40767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东南亚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马来西亚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沙哈菲兹·沙哈里斯（Mohd Shahafeez Shaharis）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电子制造、数据中心、清真经济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拟邀本人出席；分论坛 C 出海对接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40767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东南亚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泰国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陈佩恩（Tachaphorn Suntrajarn）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智能制造、新能源配套、消费市场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拟邀本人出席；揭牌候选 / 国别推介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40767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东南亚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印度尼西亚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邯伯盼（Berlianto Situngkir）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数字经济、资源与消费市场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拟邀本人出席；出海圆桌与酒会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40767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东南亚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越南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陈辉雄（Tran Huy Hung）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电子制造转移、供应链协同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拟邀本人出席；分论坛 C 对接桌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40767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东南亚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菲律宾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方明易（Myca Fischer）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BPO、数字服务、基建与消费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拟邀本人出席；国际对接酒会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40767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东南亚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柬埔寨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宁维斯（Nguon Visoth）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产能合作、基建与农业加工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拟邀本人出席；国别推介 / 酒会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40767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东南亚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老挝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维达万·桥本控（Vidavone Keobounkhong）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中老铁路沿线经贸与人文交流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拟邀本人出席；国际对接酒会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6035040"/>
            <a:ext cx="115214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公开资料整理（2026-07）· 共 11 国驻沪总领事 · 未在沪设馆：缅甸/文莱/朝鲜/东帝汶（见 Excel）· 出席以外事确认为准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3810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56032"/>
            <a:ext cx="76200" cy="502920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46304"/>
            <a:ext cx="932688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OUTBOUND · 行业方向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复兴岛侧重点出海企业聚焦六大方向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320040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21/29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80467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创客复兴·智汇杨浦｜全球创客岛成果发布暨国际峰会｜V3.3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73952"/>
            <a:ext cx="29260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建议日期 2026-09-12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28600" y="1097280"/>
          <a:ext cx="1170432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2377440"/>
                <a:gridCol w="2560320"/>
                <a:gridCol w="2560320"/>
                <a:gridCol w="3474720"/>
              </a:tblGrid>
              <a:tr h="653142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代号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行业方向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代表企业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优先市场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出海计划要点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01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智算云与数据基础设施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优刻得、道客网络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新加坡、马来西亚、泰国、印尼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区域云节点 / 算力调度 / 政企上云与出海企业「伴生云」服务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02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大模型与行业智能应用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智谱 AI、声网 Agora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新加坡、越南、印尼、泰国、马来西亚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行业大模型 API、智能体、实时互动/同传与本地化 SaaS 落地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03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具身智能与智能制造装备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苏度、卓益得、傲鲨、清宝引擎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日本、韩国、越南、泰国、马来西亚、印尼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工业/康养外骨骼、人形机器人示范产线、培训与售后本地化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04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智能终端与物理 AI 商业场景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商米科技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东南亚重点市场；日韩渠道协同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智能收银/终端 + AI 店务，服务本地零售餐饮连锁扩张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05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低空经济与城市无人系统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美团无人机（场景方）及生态伙伴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新加坡、日本、韩国、马来西亚、泰国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城市物流试飞、景区/园区低空应用与标准互认探讨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653148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06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文旅科技与沉浸体验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敦煌文旅科技意向方；声网等实时互动协同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泰国、新加坡、日本、韩国、印尼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沉浸展陈、机器人导览、文旅数字化产品区域复制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65760" y="5852160"/>
            <a:ext cx="114300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完整版见单独专报 PPT《出海行业方向与当地支持诉求》；供总领事会前预读与分论坛 C 分桌。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3810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56032"/>
            <a:ext cx="76200" cy="502920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46304"/>
            <a:ext cx="932688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OUTBOUND · 当地支持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出海后需要什么：领事可有的放矢回应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320040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22/29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80467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创客复兴·智汇杨浦｜全球创客岛成果发布暨国际峰会｜V3.3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73952"/>
            <a:ext cx="29260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建议日期 2026-09-12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28600" y="1097280"/>
          <a:ext cx="11704320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4572000"/>
                <a:gridCol w="4206240"/>
              </a:tblGrid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行业方向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当地支持诉求（节选）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总领事可如何帮助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01 智算云与数据基础设施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数据本地化与跨境传输合规路径解读（PDPA 等）；机房/电力/土地审批与绿色电力对接窗口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推荐合规顾问与运营商；协调投资促进机构见洽；说明数据中心能耗政策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02 大模型与行业智能应用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AI 内容/伦理监管与行业准入口径说明；本地语言语料、高校/科研院所合作对接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介绍数字经济主管部门；牵线行业协会与标杆政企客户；澄清敏感应用边界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03 具身智能与智能制造装备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进出口、安全与电磁等认证路径（含检测机构）；工业园区示范线、仓储物流与康养场景试点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对接工业园/BOI 类机构；推荐认证实验室；组织买家与渠道见面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04 智能终端与物理 AI 商业场景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零售/餐饮头部连锁与经销商名录；清关、关税与本地售后仓储便利化建议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引荐商协会与连锁总部；说明消费电子进口要点；协调展会摊位资源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05 低空经济与城市无人系统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空域法规、试飞许可与保险要求解读；可开放示范航线/园区场景清单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介绍民航/交通主管部门窗口；协助申请观摩或试点对接；提示禁飞红线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06 文旅科技与沉浸体验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文旅主管部门与头部景区/博物馆对接；IP 授权、内容审查与演出展陈合规指引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牵线文旅局与标杆场馆；说明内容审查要点；推荐本地运营伙伴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65760" y="5440680"/>
            <a:ext cx="1143000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支持五包（可认领）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合规准入包　｜　资源对接包　｜　场景试点包　｜　伙伴撮合包　｜　活动赋能包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3810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56032"/>
            <a:ext cx="76200" cy="502920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46304"/>
            <a:ext cx="932688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OUTBOUND · 国别匹配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11 国总领事 × 优先行业 · 圆桌分桌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320040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23/29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80467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创客复兴·智汇杨浦｜全球创客岛成果发布暨国际峰会｜V3.3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73952"/>
            <a:ext cx="29260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建议日期 2026-09-12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28600" y="1097280"/>
          <a:ext cx="1170432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2194560"/>
                <a:gridCol w="3474720"/>
                <a:gridCol w="4846320"/>
              </a:tblGrid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国家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总领事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优先对接行业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会谈切入点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新加坡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陈子勤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智算云、大模型、低空、文旅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总部/合规/金融科技枢纽；优先谈数据合规与区域总部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马来西亚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沙哈菲兹·沙哈里斯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智算云、具身制造、智能终端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数据中心与电子制造；电力土地与 BOI 类激励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泰国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陈佩恩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智算云、具身、智能终端、文旅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智能制造+消费市场；EEC/投资促进与文旅场景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印尼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邯伯盼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智算云、大模型、具身、智能终端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人口与消费市场；本地化运营与渠道为先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越南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陈辉雄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大模型应用、具身制造、智能终端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电子制造与供应链；工厂自动化与培训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菲律宾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方明易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大模型应用、智能终端、文旅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BPO/数字服务与消费场景；渠道与人才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柬埔寨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宁维斯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智能终端、具身轻应用、文旅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产能合作与基建配套；务实项目制对接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老挝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维达万·桥本控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智能终端、文旅、通道物流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中老铁路沿线经贸与人文场景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日本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冈田胜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具身智能、低空、大模型行业应用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高端制造与康养；认证标准与示范产线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韩国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金英俊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具身、智能终端、大模型应用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消费电子与文创；渠道与技术标准协同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蒙古国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道尔吉德日木·宝勒德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智算轻应用、通道与资源数字化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教育人文+跨境通道；量力务实项目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3810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56032"/>
            <a:ext cx="76200" cy="502920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46304"/>
            <a:ext cx="932688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AGENDA · 上午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规格致辞 · 杨浦AI力量 · 揭牌签约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320040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24/29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80467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创客复兴·智汇杨浦｜全球创客岛成果发布暨国际峰会｜V3.3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73952"/>
            <a:ext cx="29260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建议日期 2026-09-12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74320" y="1170432"/>
          <a:ext cx="1161288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2651760"/>
                <a:gridCol w="5577840"/>
                <a:gridCol w="1920240"/>
              </a:tblGrid>
              <a:tr h="386861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时间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环节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内容要点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责任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08:30–09:15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签到 · 体验层开放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文脉三幕展 + 集章任务开启；贵宾/领事接待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会务+体验层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09:15–09:25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开幕影像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文脉短片《百年复兴，智造再启航》；点题敦煌沉浸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宣传组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09:25–09:35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主持人开场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介绍四层结构：主论坛/分论坛/体验层/黑客松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主持人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09:35–09:50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区委/区政府主要领导致辞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回应市领导寄托与 9/15 节点答卷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区领导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09:50–10:00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市级部门或特邀致辞（视情）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量子城市/规划资源/科创政策呼应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特邀领导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10:00–10:10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东亚/东南亚领事代表致辞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邻域合作与科技出海期待（可轮值 1–2 位）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总领事代表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10:10–10:30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主旨成果发布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创客岛进展、量子城市、具身智能、文旅科技意向样本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运营/专班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10:30–10:55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杨浦AI力量 · 企业高端发言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优刻得/智谱/苏度等 2–3 家各 5–8 分钟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科企联+企业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10:55–11:20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国际会议厅/会客厅揭牌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国家厅+片区厅揭牌、铭牌落位、文脉场景合影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区领导+领事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11:20–11:45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重点项目签约/意向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杨浦企业互动签约；敦煌等一事一议（视成熟度）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区商务/科委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11:45–12:05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集体合影 · 媒体发布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领导—领事—杨浦企业—创客代表同框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宣传组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386868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12:00–13:30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工作午宴/闭门交流（可选）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小范围深度沟通；黑客松初审；体验层轮转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外事+黑客松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3810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56032"/>
            <a:ext cx="76200" cy="502920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46304"/>
            <a:ext cx="932688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AGENDA · 下午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四分论坛 · 体验层 · Demo Day · 酒会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320040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25/29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80467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创客复兴·智汇杨浦｜全球创客岛成果发布暨国际峰会｜V3.3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73952"/>
            <a:ext cx="29260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建议日期 2026-09-12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74320" y="1170432"/>
          <a:ext cx="1161288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2743200"/>
                <a:gridCol w="5486400"/>
                <a:gridCol w="192024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时间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环节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内容要点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责任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13:30–15:00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分论坛 A：文脉·空间·量子城市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治江治城、遗存活化、空间智能课题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规划/科委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13:30–15:00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分论坛 B：具身智能与低空经济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实训平台、场景合作、产业链对接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产业专班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13:30–15:00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分论坛 C：科创出海圆桌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国别分桌：行业方向×当地支持（见领事专报）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商务/外事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13:30–15:00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分论坛 D：敦煌·文旅科技沉浸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IP/空间/机器人互动/商业模型；一事一议路径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文旅+科企联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13:30–15:00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体验层/黑客松观摩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沉浸关卡限流体验；黑客松工位开放（限流）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体验+黑客松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15:00–15:20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茶歇 · 展示体验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具身演示、低空静态展、敦煌样片/短时体验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展示组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15:20–16:20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Demo Day · 高端对话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黑客松决赛路演 + 「论坛×游戏化体验」复盘对话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主持+评委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16:20–16:50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颁奖与下一阶段行动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黑客松颁奖；百日行动/会客厅/敦煌跟进清单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专班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16:50–17:30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国际对接酒会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领事—企业—优胜创客—文旅方自由对接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会务组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5897880"/>
            <a:ext cx="11247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完整议程、领事专报、敦煌对接与黑客松见 Excel / 单独出海专报 PPT。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3810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56032"/>
            <a:ext cx="76200" cy="502920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46304"/>
            <a:ext cx="932688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TIMELINE &amp; ORG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倒排期与专班架构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320040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26/29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80467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创客复兴·智汇杨浦｜全球创客岛成果发布暨国际峰会｜V3.3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73952"/>
            <a:ext cx="29260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建议日期 2026-09-12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170432"/>
          <a:ext cx="704088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4754880"/>
              </a:tblGrid>
              <a:tr h="386861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节点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关键任务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T-50 天（7 月底前）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立项与专班成立；确定 9/12 主日期与 9/9 备选；启动外事报批窗口沟通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T-45 天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锁定主会场与黑客松厂房；形成揭牌候选短名单；启动文脉短片脚本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T-40 天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正式外事报批；东亚+东南亚 11 国总领事首轮邀约（按全部出席准备）；黑客松赛题与报名上线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T-30 天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确认至少 2 个国家厅+1 个片区厅意向；签约清单初稿；主视觉定稿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T-21 天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总领事确认过半、揭牌国本人锁定；分论坛嘉宾锁定；黑客松报名截止与初筛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T-14 天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全要素彩排脚本；揭牌铭牌进场；开放数据/API 包发给入围队伍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T-7 天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最终座次；同传联调；黑客松夜间值守与安全预案桌面推演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T-2 天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会场与工位布置完成；领导/领事行程再确认；演示设备验收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9/11 晚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黑客松开营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活动日 9/12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主会场+Demo Day+揭牌签约按议程执行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T+3 天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新闻通稿与短视频；领导汇报材料（一页纸+图文册）提交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386868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T+14 天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会客厅运营启动会；黑客松优胜转化台账；复盘报告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7543800" y="1170432"/>
            <a:ext cx="4251960" cy="502920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543800" y="1170432"/>
            <a:ext cx="4251960" cy="50800"/>
          </a:xfrm>
          <a:prstGeom prst="roundRect">
            <a:avLst/>
          </a:prstGeom>
          <a:solidFill>
            <a:srgbClr val="1A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90104" y="1298448"/>
            <a:ext cx="3959352" cy="4773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专班架构（新增文脉/黑客松组）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领导小组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综合协调组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智库顾问组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生态转化组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文脉展示组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文旅沉浸组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外事礼宾组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产业内容组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黑客松组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空间落位组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宣传媒体组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会务保障组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3810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56032"/>
            <a:ext cx="76200" cy="502920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46304"/>
            <a:ext cx="932688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BUDGET &amp; KPI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中值约 74 万 · 成效必须可写进专报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320040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27/29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80467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创客复兴·智汇杨浦｜全球创客岛成果发布暨国际峰会｜V3.3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73952"/>
            <a:ext cx="29260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建议日期 2026-09-12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74320" y="1170432"/>
          <a:ext cx="649224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1005840"/>
                <a:gridCol w="3017520"/>
              </a:tblGrid>
              <a:tr h="359228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成本项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万元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说明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场地租赁与基础改造/布置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8–15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主会场+展廊+船台礼仪动线；国企/区属载体可置换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黑客松场地与通宵保障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4–8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工位、网络、值守、夜宵、安全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舞台视听与同声传译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6–10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多语同传、大屏、直播机位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外事礼宾与接待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8–12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按 11 国总领事全员预留：用车、休息室、伴手礼、翻译与位次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揭牌空间与铭牌制作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4–8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首批会客厅基础形象与铭牌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文脉短片与展陈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3–6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影像、展板、互动装置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黑客松奖金与券包激励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5–10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奖金+算力/模型券对接；可与政策券包联动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物料视觉与印刷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3–5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主视觉、手册、胸卡、导视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餐饮茶歇与轻酒会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6–10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主会 200–300 人；不做大型晚宴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媒体传播与直播剪辑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3–6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通稿、短视频、摄影摄像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安保交通医疗应急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3–6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大型涉外+通宵活动标准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执行团队与不可预见费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4–6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含机动 10%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359236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合计（示意）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57–102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中值约 74 万；场地/券包置换后现金可压至约 50–55 万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949440" y="1170432"/>
          <a:ext cx="484632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3474720"/>
              </a:tblGrid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维度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量化目标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政治规格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区委书记或区长出席；形成可呈报市级的 9/15 节点成果专报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四层结构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主论坛+四分论坛+体验层+黑客松全部跑通，各层有可截取画面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文脉呈现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文脉短片+展廊+船台打卡；领导视察动线含工业肌理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敦煌样本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完成事实核查；形成一事一议建议或意向仪式/体验打样其一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国际出席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东亚+东南亚按全部出席准备（约 11 国）；底线保障亲自出席 ≥6 国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揭牌落位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国家/片区国际会议厅揭牌 ≥3 个；配套运营协议签署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黑客松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完赛 ≥20 队；可演示原型 ≥15；意向转化 ≥5 项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产业成果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现场签约/发布 ≥8 项；覆盖 AI、具身、低空、出海、文旅至少三类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规模体验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主会场 200–300 人；体验层有序限流；无重大事故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传播声量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市级以上媒体报道 ≥5 篇；短视频与政务新媒体矩阵同步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后续转化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T+30 日内国别对接或敦煌/优胜项目跟进至少 1 场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3810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56032"/>
            <a:ext cx="76200" cy="502920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46304"/>
            <a:ext cx="932688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NEXT · 决策清单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建议立即拍板与跟进的关键事项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320040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28/29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80467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创客复兴·智汇杨浦｜全球创客岛成果发布暨国际峰会｜V3.3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73952"/>
            <a:ext cx="29260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建议日期 2026-09-12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34440" y="1371600"/>
            <a:ext cx="9692640" cy="73152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234440" y="1371600"/>
            <a:ext cx="777240" cy="731520"/>
          </a:xfrm>
          <a:prstGeom prst="round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1371600"/>
            <a:ext cx="777240" cy="7315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0280" y="15361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确认主题「创客复兴·智汇杨浦」与主会日 9/12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34440" y="2240280"/>
            <a:ext cx="9692640" cy="73152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234440" y="2240280"/>
            <a:ext cx="777240" cy="731520"/>
          </a:xfrm>
          <a:prstGeom prst="round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34440" y="2240280"/>
            <a:ext cx="777240" cy="7315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40280" y="240487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锁定优刻得/智谱/苏度等企业互动与发言名单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34440" y="3108960"/>
            <a:ext cx="9692640" cy="73152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34440" y="3108960"/>
            <a:ext cx="777240" cy="731520"/>
          </a:xfrm>
          <a:prstGeom prst="round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34440" y="3108960"/>
            <a:ext cx="777240" cy="7315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40280" y="327355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48h 完成敦煌核查；锁定会场与揭牌对象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34440" y="3977640"/>
            <a:ext cx="9692640" cy="73152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234440" y="3977640"/>
            <a:ext cx="777240" cy="731520"/>
          </a:xfrm>
          <a:prstGeom prst="round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34440" y="3977640"/>
            <a:ext cx="777240" cy="7315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40280" y="414223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启动外事报批；附出海专报给 11 国总领事预读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234440" y="4846320"/>
            <a:ext cx="9692640" cy="73152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234440" y="4846320"/>
            <a:ext cx="777240" cy="731520"/>
          </a:xfrm>
          <a:prstGeom prst="round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34440" y="4846320"/>
            <a:ext cx="777240" cy="7315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240280" y="501091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一事一议达线报区；用本 PPT+Excel 作请示附件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926080"/>
            <a:ext cx="12191695" cy="3810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515600" cy="12801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1000"/>
              </a:spcAft>
            </a:pPr>
            <a:r>
              <a:rPr sz="3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创客复兴·智汇杨浦</a:t>
            </a:r>
          </a:p>
          <a:p>
            <a:pPr algn="ctr"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锚定全球创客岛，答卷量子城市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108960"/>
            <a:ext cx="10515600" cy="1920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500"/>
              </a:spcAft>
            </a:pPr>
            <a:r>
              <a:rPr sz="1400" b="1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上海复兴岛「全球创客岛」阶段性成果发布暨科创出海与具身智能国际峰会</a:t>
            </a:r>
          </a:p>
          <a:p>
            <a:pPr algn="ctr">
              <a:lnSpc>
                <a:spcPct val="105000"/>
              </a:lnSpc>
              <a:spcAft>
                <a:spcPts val="500"/>
              </a:spcAft>
            </a:pPr>
            <a:r>
              <a:rPr sz="14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2026 年 9 月 12 日（星期六 · 农历八月初二）　｜　服务 9/15 收官节点</a:t>
            </a:r>
          </a:p>
          <a:p>
            <a:pPr algn="ctr">
              <a:lnSpc>
                <a:spcPct val="105000"/>
              </a:lnSpc>
              <a:spcAft>
                <a:spcPts val="500"/>
              </a:spcAft>
            </a:pPr>
            <a:r>
              <a:rPr sz="13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优刻得 · 智谱 · 苏度 · 卓益得等杨浦企业同台互动</a:t>
            </a:r>
          </a:p>
          <a:p>
            <a:pPr algn="ctr">
              <a:lnSpc>
                <a:spcPct val="105000"/>
              </a:lnSpc>
              <a:spcAft>
                <a:spcPts val="500"/>
              </a:spcAft>
            </a:pPr>
            <a:r>
              <a:rPr sz="12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主呈现：PPT 策划方案  +  Excel 执行台账　｜　V3.3 · 建议稿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