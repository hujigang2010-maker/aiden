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285232"/>
            <a:ext cx="3840480" cy="3810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5156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杨浦区复兴岛｜全球创客岛阶段性成果发布暨国际合作揭牌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698480" cy="2011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2026 复兴岛·全球创客岛收官答卷大会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2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科创出海 × 人工智能 × 具身智能国际大会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40480"/>
            <a:ext cx="105156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建议举办：2026 年 9 月 12 日（星期六 · 农历八月初二）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9 月 15 日前最靠近收官节点的开市 / 挂匾黄道吉日 ｜ 现场 200–300 人 ｜ 岛上主场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规格：区委区政府主要领导 +「一带一路」多国总领事 + 产业龙头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44068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策划方案（建议稿）  ·  V1.0 · 建议稿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92608"/>
            <a:ext cx="76200" cy="530352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"/>
            <a:ext cx="96012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CONTENTS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方案目录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3657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 · 复兴岛｜全球创客岛收官答卷大会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46520"/>
            <a:ext cx="219456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463040"/>
            <a:ext cx="5394960" cy="9144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539496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627632"/>
            <a:ext cx="5029200" cy="594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  背景与战略意义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创客岛收官 · 量子城市迎合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394960" cy="9144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09360" y="1463040"/>
            <a:ext cx="539496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627632"/>
            <a:ext cx="5029200" cy="594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  择日结论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首选 9/12，备选 9/9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560320"/>
            <a:ext cx="5394960" cy="9144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2560320"/>
            <a:ext cx="539496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724912"/>
            <a:ext cx="5029200" cy="594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  定位与四大板块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出海 · AI · 具身 · 低空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2560320"/>
            <a:ext cx="5394960" cy="9144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09360" y="2560320"/>
            <a:ext cx="539496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724912"/>
            <a:ext cx="5029200" cy="594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 规模与场地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200–300 人 · 岛上主场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657600"/>
            <a:ext cx="5394960" cy="9144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3657600"/>
            <a:ext cx="539496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822192"/>
            <a:ext cx="5029200" cy="594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  嘉宾与揭牌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领导 + 领事 + 会客厅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3657600"/>
            <a:ext cx="5394960" cy="9144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09360" y="3657600"/>
            <a:ext cx="539496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3822192"/>
            <a:ext cx="5029200" cy="594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  议程与组织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全天流程 · 倒排期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754880"/>
            <a:ext cx="5394960" cy="9144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4754880"/>
            <a:ext cx="539496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919472"/>
            <a:ext cx="5029200" cy="594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  预算与 KPI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成效可汇报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9360" y="4754880"/>
            <a:ext cx="5394960" cy="9144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09360" y="4754880"/>
            <a:ext cx="539496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4919472"/>
            <a:ext cx="5029200" cy="594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08  风险与下一步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立即决策清单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92608"/>
            <a:ext cx="76200" cy="530352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"/>
            <a:ext cx="96012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WHY NOW · 为何此刻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全球创客岛收官 × 量子城市迎合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3657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 · 复兴岛｜全球创客岛收官答卷大会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46520"/>
            <a:ext cx="219456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508760"/>
            <a:ext cx="2743200" cy="44805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508760"/>
            <a:ext cx="274320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673352"/>
            <a:ext cx="2377440" cy="4160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2025.12 启动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市委领导启动全球创客岛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量子城市年度成果同步发布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岛上实验基地叙事立住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508760"/>
            <a:ext cx="2743200" cy="44805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83280" y="1508760"/>
            <a:ext cx="274320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1673352"/>
            <a:ext cx="2377440" cy="4160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2026.02 方案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国际创新创业集聚区实施方案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数字智能 / 设计艺术 / 人民城市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四大产业方向明确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508760"/>
            <a:ext cx="2743200" cy="44805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1508760"/>
            <a:ext cx="274320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673352"/>
            <a:ext cx="2377440" cy="4160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2026 实践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具身智能实训实测平台启动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空间智能体与场景持续积累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需要高规格收官答卷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508760"/>
            <a:ext cx="2743200" cy="44805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44000" y="1508760"/>
            <a:ext cx="274320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1673352"/>
            <a:ext cx="2377440" cy="4160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本场使命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政治规格拉满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国际领事到场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会客厅硬落位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产业协同可感知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92608"/>
            <a:ext cx="76200" cy="530352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"/>
            <a:ext cx="96012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AUSPICIOUS DATE · 择日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首选：2026 年 9 月 12 日（周六）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3657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 · 复兴岛｜全球创客岛收官答卷大会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46520"/>
            <a:ext cx="219456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417320"/>
            <a:ext cx="6766560" cy="466344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417320"/>
            <a:ext cx="6766560" cy="6350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645920"/>
            <a:ext cx="630936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黄历要点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农历八月初二 · 定日 · 癸未日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宜：开市 · 挂匾 · 立券 · 交易 · 出行 · 祈福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冲：冲羊煞东（属羊贵宾可调整位次）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为何是它？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9/15 前最靠近收官节点的开市/挂匾吉日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同日宜出行与立券，契合领事到访与签约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避开 9/10 杨公忌日；9/16 已越过节点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417320"/>
            <a:ext cx="3931920" cy="21945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0" y="1417320"/>
            <a:ext cx="393192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0" y="1581912"/>
            <a:ext cx="3566160" cy="1874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备选一 · 9 月 9 日（周三）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最靠近 9/15 的工作日开市吉日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宜开市 / 交易 / 立券 / 出行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领导周六不便时启用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3840480"/>
            <a:ext cx="3931920" cy="22402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0" y="3840480"/>
            <a:ext cx="393192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0" y="4005072"/>
            <a:ext cx="3566160" cy="1920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备选二 · 9 月 3 日（周四）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金匮黄道日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宜开市 / 交易 / 立券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可作预热或分论坛日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92608"/>
            <a:ext cx="76200" cy="530352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"/>
            <a:ext cx="96012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POSITIONING · 定位目标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一场可汇报、可传播、可复用的答卷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3657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 · 复兴岛｜全球创客岛收官答卷大会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46520"/>
            <a:ext cx="219456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以「全球创客岛」阶段性收官为政治节点，以「量子城市」政策为上位牵引，在复兴岛举办一场 200–300 人规模的国际化科创出海与具身智能大会，同步完成若干国家/片区国际会议厅（会客厅）揭牌落位，形成可汇报、可传播、可复用的政绩答卷。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377440"/>
            <a:ext cx="10972800" cy="621792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377440"/>
            <a:ext cx="76200" cy="621792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10424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政治答卷：向市委、市政府与区委区政府呈现「全球创客岛」自 2025 年 12 月启动以来的阶段性成果。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090672"/>
            <a:ext cx="10972800" cy="621792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090672"/>
            <a:ext cx="76200" cy="621792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200400"/>
            <a:ext cx="10424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政策迎合：把「量子城市」时空智能建设与复兴岛实验基地叙事做深做实，服务杨浦区战略站位。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03904"/>
            <a:ext cx="10972800" cy="621792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803904"/>
            <a:ext cx="76200" cy="621792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913632"/>
            <a:ext cx="10424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国际规格：邀请「一带一路」沿线国家驻沪总领事亲自出席，体现全球化定位。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517136"/>
            <a:ext cx="10972800" cy="621792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517136"/>
            <a:ext cx="76200" cy="621792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626864"/>
            <a:ext cx="10424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产业落地：聚焦人工智能、具身智能、低空经济板块协同，推动场景、项目与企业签约入岛。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230368"/>
            <a:ext cx="10972800" cy="621792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230368"/>
            <a:ext cx="76200" cy="621792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340096"/>
            <a:ext cx="10424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空间落位：完成「某某国家 / 某某片区」国际会议厅（会客厅）揭牌，形成可持续国际合作窗口。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92608"/>
            <a:ext cx="76200" cy="530352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"/>
            <a:ext cx="96012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PILLARS · 主题板块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出海与科创主轴，三大硬科技协同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3657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 · 复兴岛｜全球创客岛收官答卷大会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46520"/>
            <a:ext cx="219456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463040"/>
            <a:ext cx="2788920" cy="45720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463040"/>
            <a:ext cx="278892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627632"/>
            <a:ext cx="2423160" cy="4251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科创出海
Go Global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「一带一路」国家市场机会与营商环境推介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杨浦 / 复兴岛企业出海服务包与跨境对接机制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海外园区、本地空间与双边投资双向通道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463040"/>
            <a:ext cx="2788920" cy="45720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83280" y="1463040"/>
            <a:ext cx="278892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1627632"/>
            <a:ext cx="2423160" cy="4251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人工智能与空间智能
AI × Quantum City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量子城市时空智能底座与城市治理大模型成果展示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模型即服务（MaaS）与真实场景训练迭代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AI 企业入岛、算力/模型/语料券政策兑现案例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463040"/>
            <a:ext cx="2788920" cy="45720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1463040"/>
            <a:ext cx="278892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627632"/>
            <a:ext cx="2423160" cy="4251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具身智能
Embodied AI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实景空间实验实训实测平台阶段性成果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碳硅双基友好场景与「硅基岛民」示范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机器人 / 具身智能企业路演与场景合作签约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1463040"/>
            <a:ext cx="2788920" cy="45720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35440" y="1463040"/>
            <a:ext cx="2788920" cy="50800"/>
          </a:xfrm>
          <a:prstGeom prst="round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627632"/>
            <a:ext cx="2423160" cy="4251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低空经济
Low-altitude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低空经济与未来出行在岛上的试验空间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适航、空域、应用场景与产业链协同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与 AI / 具身智能交叉的感知—决策—执行闭环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92608"/>
            <a:ext cx="76200" cy="530352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"/>
            <a:ext cx="96012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SCALE &amp; VENUE · 规模场地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200–300 人 · 必须在岛上办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3657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 · 复兴岛｜全球创客岛收官答卷大会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46520"/>
            <a:ext cx="219456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486400" cy="466344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417320"/>
            <a:ext cx="548640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581912"/>
            <a:ext cx="5120640" cy="4343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席位结构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主席台 / 前排贵宾席｜30–40｜区领导、市级嘉宾、总领事、揭牌对象代表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国际与外事席｜40–50｜领馆官员、海外园区、国际组织、翻译陪同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产业核心席｜80–100｜AI / 具身智能 / 低空重点企业与投资机构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生态与观察席｜60–80｜孵化器、高校、协会、媒体、服务机构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工作保障席｜20–30｜安保、外事、会务、宣传、医疗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合计｜200–300｜弹性控制在 300 人以内，保证规格与体验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17320"/>
            <a:ext cx="5394960" cy="466344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81912"/>
            <a:ext cx="5029200" cy="4343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场地原则与首选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政治象征：核心启动区 / 实验基地旁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国际接待：贵宾室 · 同传 · 安保动线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展示条件：成果展廊 + 具身演示区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首选：创客岛核心区主会场（300–400）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备选：滨江会客厅型 / 主场+分论坛分流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底线：不离岛，保证叙事完整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92608"/>
            <a:ext cx="76200" cy="530352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"/>
            <a:ext cx="96012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GUESTS · 嘉宾规格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政治高位 + 国际高位同时在场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3657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 · 复兴岛｜全球创客岛收官答卷大会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46520"/>
            <a:ext cx="219456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532120" cy="214884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371600"/>
            <a:ext cx="553212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536192"/>
            <a:ext cx="5166360" cy="1828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 政要领导层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杨浦区委书记、区长（主致辞 / 揭牌）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分管副区长（科创 / 商务 / 建设）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视情邀请市级相关部门（规划资源、科委、商务、外办）领导出席或书面致辞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抬升政治规格，形成区级主场答卷画面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71600"/>
            <a:ext cx="5532120" cy="214884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63640" y="1371600"/>
            <a:ext cx="553212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536192"/>
            <a:ext cx="5166360" cy="1828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 国际领事层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「一带一路」重点国家驻沪总领事 6–10 位亲自出席（东南亚、中亚、中东、中东欧等轮动）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领团代表或总领事俱乐部相关协调机制支持邀约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国别推介与国际会议厅冠名国对应总领事优先出席揭牌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全球化规格与国际合作落位的核心背书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03320"/>
            <a:ext cx="5532120" cy="214884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3703320"/>
            <a:ext cx="553212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867912"/>
            <a:ext cx="5166360" cy="1828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 产业与学术层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具身智能 / 机器人 / AI 大模型领军企业负责人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低空经济整机、运营与关键零部件企业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量子城市 / 空间智能相关实验室与高校代表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内容专业度与项目签约质量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703320"/>
            <a:ext cx="5532120" cy="214884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53212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867912"/>
            <a:ext cx="5166360" cy="1828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 媒体与传播层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市级主流媒体、区融媒体中心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科技垂类媒体与国际传播渠道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活动官方摄影摄像与直播团队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形成「领导可见、社会可感、国际可传」的传播闭环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92608"/>
            <a:ext cx="76200" cy="530352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"/>
            <a:ext cx="96012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UNVEILING · 硬成果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国家厅 + 片区厅 + 产业平台落位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3657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 · 复兴岛｜全球创客岛收官答卷大会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46520"/>
            <a:ext cx="219456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3657600" cy="329184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417320"/>
            <a:ext cx="365760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581912"/>
            <a:ext cx="3291840" cy="2971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「某某国家」国际会议厅 / 国家会客厅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建议首批 2–3 个国家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空间冠名揭牌 + 合作备忘录 + 国别对接窗口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把领事资源固化为岛上常设国际合作界面，服务后续招商与出海。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417320"/>
            <a:ext cx="3657600" cy="329184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43400" y="1417320"/>
            <a:ext cx="365760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1581912"/>
            <a:ext cx="3291840" cy="2971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「某某片区」国际会议厅 / 合作窗口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建议 1–2 个国内重点合作片区或海外园区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片区共建揭牌 + 双向飞地 / 离岸孵化机制发布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强化长三角 / 跨境园区联动，避免「只见活动不见落位」。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1417320"/>
            <a:ext cx="3657600" cy="329184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83880" y="1417320"/>
            <a:ext cx="365760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1581912"/>
            <a:ext cx="3291840" cy="2971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产业平台类揭牌（可选增强）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1–2 项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具身智能实训联合实验室 / 低空经济应用验证中心 / 出海服务站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把大会从「仪式」升级为「平台」，便于写进年底总结。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937760"/>
            <a:ext cx="1097280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落位原则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先锁意向再上仪式 ｜ 一国一厅、一厅一责 ｜ 外事合规报批 ｜ 铭牌与媒体画面同步备妥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92608"/>
            <a:ext cx="76200" cy="530352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"/>
            <a:ext cx="96012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AGENDA · 议程节奏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上午规格与揭牌，下午产业与对接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3657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 · 复兴岛｜全球创客岛收官答卷大会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46520"/>
            <a:ext cx="219456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371600"/>
            <a:ext cx="5577840" cy="47548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371600"/>
            <a:ext cx="557784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536192"/>
            <a:ext cx="5212080" cy="4434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上午 · 政治答卷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08:30–09:20  签到 · 成果展廊开放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09:20–09:30  开幕式 · 主持人开场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09:30–09:45  区委 / 区政府主要领导致辞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09:45–09:55  市级部门或特邀嘉宾致辞（视情）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09:55–10:10  「一带一路」领事代表致辞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10:10–10:35  主旨成果发布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10:35–11:05  国际会议厅 / 会客厅揭牌仪式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11:05–11:35  重点项目签约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71600"/>
            <a:ext cx="5394960" cy="47548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63640" y="1371600"/>
            <a:ext cx="539496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536192"/>
            <a:ext cx="5029200" cy="4434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下午 · 产业与国际对接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13:30–15:00  平行分论坛 A：人工智能与空间智能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13:30–15:00  平行分论坛 B：具身智能与低空经济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13:30–15:00  平行分论坛 C：科创出海圆桌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15:00–15:20  茶歇 · 展示区体验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15:20–16:20  主论坛复会 · 高端对话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16:20–16:50  发布「下一阶段行动」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16:50–17:30  国际对接酒会（轻社交）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92608"/>
            <a:ext cx="76200" cy="530352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"/>
            <a:ext cx="96012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TIMELINE · 倒排期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从立项到 T+14 复盘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3657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 · 复兴岛｜全球创客岛收官答卷大会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46520"/>
            <a:ext cx="219456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371600"/>
            <a:ext cx="5577840" cy="47548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371600"/>
            <a:ext cx="557784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536192"/>
            <a:ext cx="5212080" cy="4434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前半程（锁日期 · 报批 · 揭牌）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T-50 天（7 月底前）：立项与专班成立；确定 9/12 主日期与 9/9 备选；启动外事报批窗口沟通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T-45 天：锁定主会场；形成揭牌候选国家/片区短名单；起草领导活动方案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T-40 天：正式外事报批材料报送；首轮总领事邀约函发出；市级嘉宾意向沟通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T-30 天：确认至少 2 个国家厅 + 1 个片区厅意向；签约项目清单初稿；主视觉定稿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T-21 天：总领事出席确认过半；分论坛嘉宾锁定；安保与交通方案报审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T-14 天：全要素彩排脚本；揭牌铭牌与背板进场；媒体邀请名单确认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71600"/>
            <a:ext cx="5394960" cy="47548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63640" y="1371600"/>
            <a:ext cx="539496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536192"/>
            <a:ext cx="5029200" cy="4434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后半程（确认 · 执行 · 转化）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T-7 天：最终出席名单与座次；同传设备联调；应急预案桌面推演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T-2 天：会场布置完成；领导与领事行程再确认；物料与演示设备验收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活动日 9/12：按议程执行；实时舆情与后勤指挥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T+3 天：新闻通稿与短视频发布；领导汇报材料（一页纸 + 图文册）提交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T+14 天：会客厅运营启动会；签约项目跟踪台账；复盘报告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92608"/>
            <a:ext cx="76200" cy="530352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"/>
            <a:ext cx="96012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BUDGET &amp; KPI · 预算成效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中值约 55 万，成效必须可写进专报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3657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 · 复兴岛｜全球创客岛收官答卷大会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46520"/>
            <a:ext cx="219456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371600"/>
            <a:ext cx="5577840" cy="47548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371600"/>
            <a:ext cx="557784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536192"/>
            <a:ext cx="5212080" cy="4434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预算结构（万元，示意）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场地租赁与基础改造/布置  8–15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舞台视听与同声传译  6–10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外事礼宾与接待  5–8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揭牌空间与铭牌制作  4–8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物料视觉与印刷  3–5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餐饮茶歇与轻酒会  6–10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媒体传播与直播剪辑  3–6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安保交通医疗应急  3–5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执行团队与不可预见费  4–6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合计（示意）  42–73（场地置换后可压至约 40）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71600"/>
            <a:ext cx="5394960" cy="47548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63640" y="1371600"/>
            <a:ext cx="539496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536192"/>
            <a:ext cx="5029200" cy="4434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 KPI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政治规格：区委书记或区长出席；分管副区长全程；形成可呈报市级的成果专报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国际出席：总领事亲自出席 ≥6 国；国际嘉宾占比可感知（建议 ≥15%）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揭牌落位：国家/片区国际会议厅揭牌 ≥3 个；配套运营协议签署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产业成果：现场签约 / 发布项目 ≥8 项；覆盖 AI、具身智能、低空、出海至少三类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规模体验：现场 200–300 人；核心席满座率 ≥90%；无重大后勤与外事事故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传播声量：市级以上媒体报道 ≥5 篇；短视频播放与政务新媒体矩阵同步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后续转化：T+30 日内落地至少 1 场国别对接或企业入岛跟进活动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92608"/>
            <a:ext cx="76200" cy="530352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"/>
            <a:ext cx="96012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NEXT · 决策清单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建议本周拍板的五件事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3657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 · 复兴岛｜全球创客岛收官答卷大会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46520"/>
            <a:ext cx="219456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1463040"/>
            <a:ext cx="941832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71600" y="1463040"/>
            <a:ext cx="731520" cy="73152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463040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627632"/>
            <a:ext cx="8229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确认主日期 9/12，备选 9/9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2331720"/>
            <a:ext cx="941832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371600" y="2331720"/>
            <a:ext cx="731520" cy="73152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2331720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2496312"/>
            <a:ext cx="8229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正式命名并成立六组专班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71600" y="3200400"/>
            <a:ext cx="941832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371600" y="3200400"/>
            <a:ext cx="731520" cy="73152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3200400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3364992"/>
            <a:ext cx="8229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锁定主会场与 3 个揭牌对象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71600" y="4069080"/>
            <a:ext cx="941832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371600" y="4069080"/>
            <a:ext cx="731520" cy="73152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0" y="4069080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233672"/>
            <a:ext cx="8229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启动外事报批与领事邀约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937760"/>
            <a:ext cx="941832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371600" y="4937760"/>
            <a:ext cx="731520" cy="73152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0" y="4937760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20" y="5102352"/>
            <a:ext cx="8229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提交一页纸请示供区领导决策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1000"/>
              </a:spcAft>
            </a:pPr>
            <a:r>
              <a:rPr sz="2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 9 月 12 日，做成复兴岛的完美答卷。</a:t>
            </a:r>
          </a:p>
          <a:p>
            <a:pPr algn="ctr"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全球创客岛 · 量子城市 · 科创出海 · 具身智能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2026 年 9 月 12 日（星期六 · 农历八月初二）</a:t>
            </a:r>
          </a:p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详细方案见 Word；执行台账见 Excel</a:t>
            </a:r>
          </a:p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V1.0 · 建议稿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