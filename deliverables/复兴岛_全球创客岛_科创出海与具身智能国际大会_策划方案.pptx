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48072"/>
            <a:ext cx="4389120" cy="3810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杨浦区复兴岛｜PPT 策划方案 V3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9848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复兴岛·全球创客岛收官答卷大会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科创出海 × 人工智能 × 具身智能国际大会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主论坛 + 分论坛 + 体验/游戏层 + 黑客松　｜　敦煌文旅科技意向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Slogan：百年复兴，智造再启航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主会日：2026 年 9 月 12 日（星期六 · 农历八月初二）　｜　服务 9/15 收官节点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黑客松：2026 年 9 月 11 日（五）晚 — 9 月 12 日（六）下午（约 24 小时）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规格：区领导 + 一带一路总领事 + 产业龙头 + 敦煌样本 + 创客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主呈现：PPT + Excel　｜　V3.0 · 建议稿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文脉 · 领导寄托 · 规划课题 · 敦煌一事一议 · 四层活动结构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ONE-PAGER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给领导决策的核心信息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34440"/>
          <a:ext cx="1124712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144000"/>
              </a:tblGrid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活动名称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复兴岛·全球创客岛收官答卷大会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副标题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科创出海 × 人工智能 × 具身智能国际大会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主题Slogan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百年复兴，智造再启航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建议时间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农历八月初二）（主会日）；黑客松 2026 年 9 月 11 日（五）晚 — 9 月 12 日（六）下午（约 24 小时）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黄历择吉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宜开市 · 挂匾 · 立券 · 出行 · 交易（详见择日专章）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建议地点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复兴岛核心启动区 / 船台公园及周边高净高工业厂房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活动规模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 200–300 人；黑客松 20–40 队；体验层另计流动人次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核心主题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文脉续写 · 科创出海 · AI/具身/低空 · 敦煌文旅科技 · 黑客松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活动结构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 + 四分论坛 + 体验/游戏层 + 黑客松（四层组合）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规格目标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区委书记/区长出席；一带一路总领事；敦煌等一事一议样本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关键成果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成果发布 + 会客厅揭牌 + 项目意向/签约 + Demo Day + 沉浸体验打样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5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协同机制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创客学院/云基地智库顾问 + 科企联活动招商转化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一页总览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四层结构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历史文脉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领导寄托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规划课题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敦煌项目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冷启动角色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172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择日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定位目标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主题板块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体验/游戏层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9556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9556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黑客松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规模场地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3172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3172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嘉宾揭牌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议程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倒排组织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预算KPI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9556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556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决策清单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FORMAT · 活动结构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四层结构：主论坛 · 分论坛 · 体验/游戏层 · 黑客松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109728" cy="9601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4416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L1 主论坛（上午）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政治规格与收官叙事：领导致辞、成果发布、会客厅揭牌、重点签约；定调「百年复兴，智造再启航」，敦煌等仅作文旅科技样本点题。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28600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2286000"/>
            <a:ext cx="109728" cy="96012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9572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L2 分论坛（下午平行）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A 文脉·空间·量子城市；B 具身智能与低空；C 科创出海圆桌；D 敦煌·文旅科技与沉浸体验（新增）。专业深耕、可出纪要与对接清单。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33756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3337560"/>
            <a:ext cx="109728" cy="960120"/>
          </a:xfrm>
          <a:prstGeom prst="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4728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L3 体验 / 游戏层（全天并行）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非电竞意义的「游戏」，而是可玩可感的沉浸关卡：文脉三幕展、船台打卡任务、敦煌沉浸短时体验、具身智能互动关、集章换礼/线索任务，把流量与年轻创客导入岛上场景。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38912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89120"/>
            <a:ext cx="109728" cy="9601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9884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L4 黑客松（9/11 晚—9/12）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「船台·智能体」24h 开发；增设「文旅智能体/沉浸叙事」相关赛题可选；Demo Day 回归主舞台，与主论坛形成「发布—验证—出苗」闭环。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组合逻辑：主论坛领导可见 · 分论坛专业可谈 · 体验层大众可感 · 黑客松青年可来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HERITAGE · 历史文脉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从周家嘴浅滩到全球创客岛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7772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时期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清末—民初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周家嘴浅滩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黄浦江左岸鱼嘴状浅滩，因周家嘴村得名；浚浦局启动航道整治。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1913—1934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吹填成岛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抛柴排筑堤、吹泥填土，周家嘴岛基本形成；南北约 3.4 公里，面积约 1.13 平方公里。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1927 前后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定海桥贯通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定海路桥建成，岛与市区陆路连通；浚浦局工场、仓储起步。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1930 年代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工业岛成型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大中华造船机器厂、上海鱼市场等入驻；造船、仓储、能源产业集聚。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1937—1945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定海岛岁月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日军占领后改称定海岛（一度昭和岛）；抗战胜利后更名「复兴岛」，寓国家复兴。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解放后—本世纪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产业基地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燃料、木材、石油、仓储、造船、渔业等国央企扎根，见证民族工业荣光。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战略留白期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留白岛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中心城区稀缺滨水战略空间，为未来城市实验预留；工业肌理与遗存得以保全。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2024.12 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上海量子城市时空智能创新基地启动，岛上感知、语料与场景底座起步。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2025.12.18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全球创客岛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市委书记陈吉宁调研并启动「上海复兴岛—全球创客岛」，岛正式进入开局年。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2026.02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集聚区方案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杨府发〔2026〕1 号印发，锚定三岛定位与四大产业方向，政策体系成型。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HERITAGE · 衍生议题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工业遗存 + 敦煌文明如何转译为活动主题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39496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10235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关键文脉载体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船台公园（共青路 130 号）：沪东中华造船厂旧址；保留船台斜率、1973 年 120 吨塔吊与厂区道路肌理；量子城…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定海路桥（定海桥）：1927 年钢筋混凝土桥，曾是连通市区的唯一陆路通道；岛城关系的历史符号。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白庐 / 复兴岛公园：浚浦局职员俱乐部旧址与公园绿地；近代工程管理与生活记忆的空间标本。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存量工业厂房（约 30 万㎡）：先期盘活约 5 万㎡老厂房为共享实验室、概念验证中心、中试基地与创客空间。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复兴岛运河：筑岛同期疏浚形成的人工水道；环水地理环境支撑低空/无人艇等测试叙事。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23444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9320" y="1234440"/>
            <a:ext cx="57607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136245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从「造船下海」到「科创出海」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大中华/中华造船的下海基因，映射今日 AI、具身智能、低空装备的全球化。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国别推介与会客厅揭牌，延续「面江向海」的开放传统。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242316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89320" y="242316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255117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从「工业遗存」到「创新资产」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轻度改造、保护肌理——呼应市委「盘活用好工业建筑、注重保护原有肌理」。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成果展廊设「船台—塔吊—智能体」三幕叙事，供领导视察与媒体拍摄。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61188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89320" y="3611880"/>
            <a:ext cx="57607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4" y="373989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从「定海/复兴」到「再复兴」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岛名本身即政治象征：抗战胜利后定名「复兴」，今日再以创客与智能复兴。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活动主视觉可用「船台曲线 × 数字网格」，口号建议：「百年复兴，智造再启航」。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480060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89320" y="480060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35624" y="492861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从「壁画文明」到「岛上沉浸」——敦煌 × 复兴岛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敦煌壁画 IP 与复兴岛「设计艺术岛」高度契合，可做文旅科技永久落地样本。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沉浸式剧目/机器人互动构成「体验层」，与主论坛形成「听故事—进场景」闭环。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MANDATE · 领导寄托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市领导要求与区里如何接得住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760720" cy="3200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468112" cy="29443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市委书记陈吉宁（2025-12-18）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坚持以规划为引领，把复兴岛打造为科技创新策源的活力新空间。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盘活用好见证城市发展历史的工业建筑，注重保护原有肌理，注入创新创业功能。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搭建好平台、组织好培训、开展好活动，更好吸引集聚创新创业人才。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着眼低成本、高效率、便利性，优化配置创新创业资源要素，与全球创客同频共振。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围绕人工智能赋能城市空间治理，在具体场景测试应用中试出经验、试出路径。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234440"/>
            <a:ext cx="5394960" cy="3200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55080" y="12344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362456"/>
            <a:ext cx="5102352" cy="29443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杨浦区委区政府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锚定「数字智能岛、设计艺术岛、人民城市岛」新使命。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以约 30 万㎡存量工业建筑、约 2500 间人才公寓为禀赋，打造国际创新创业集聚区。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功能导向：低成本、高效率、便利性；先期盘活约 5 万㎡老厂房。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政策工具：创新券、算力券、模型券、语料券；创客学院、高校创新联盟、OPC 社群。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举办国际顶尖峰会、大赛展会与社群活动，培育多元化、超活力、自生长创客集群。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17720"/>
            <a:ext cx="1124712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本场活动如何回应寄托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用大会回应「开展好活动」——高规格主论坛 + 国际揭牌 + 黑客松，三者齐备。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用展陈回应「保护肌理、注入功能」——船台/塔吊视察动线 + 智能体演示同场。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用政策发布回应「低成本、高效率、便利性」——券包、公寓、入岛通道现场兑现案例。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用场景测试回应「试出经验、试出路径」——具身智能/低空/空间智能课题路演与签约。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PLANNING · 规划课题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大上海与杨浦规划下的六大课题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5760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11480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对齐要点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市级战略空间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黄浦江中北段科创高地与高品质水岸；复兴岛为中心城区稀缺滨水战略空间与「留白」转化样板。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量子城市行动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时空智能创新基地 → 实验基地愿景行动 → 岛上全息空间智能体与感知终端；大会设置成果发布专章。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规划资源新政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2025-12-17《支持复兴岛打造国际创新创业集聚区的规划资源指导意见》：综合发展区、过渡型综合利用、短期用地机制。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杨浦实施方案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杨府发〔2026〕1 号：四大产业方向 + 六大支持政策 + 市区分层协调、创客学院、高校创新联盟。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存量盘活机制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产业用地综合绩效评估、国企「四个一批」、轻度改造保护工业文脉；船台公园已验证「遗存→资产」。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人民城市理念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数字智能 × 设计艺术 × 人民城市三岛一体；滨江公共空间、文体活动与创客生活同步呈现。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188720"/>
          <a:ext cx="54864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56032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题目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聚焦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A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百年复兴的空间哲学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文脉保护、轻度改造、过渡型综合利用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B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量子城市岛上答卷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空间智能成果、场景清单、可复制治理经验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C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具身智能与低空试验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实训平台、空域水道测试、产业链协同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D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科创出海与会客厅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国别机会、揭牌运营、企业对接闭环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E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敦煌文旅科技落岛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 授权、高净高空间、沉浸商业与一事一议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F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创客生态与黑客松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青年人才、OPC 社群、体验层导流与转化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DUNHUANG · 意向样本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「敦煌」文旅科技项目（意向落户）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70432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意向对接中 · 建议纳入 9/12 活动一事一议展示与分论坛/体验层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554480"/>
            <a:ext cx="5669280" cy="2743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55448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682496"/>
            <a:ext cx="5376672" cy="2487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项目基本面（部分数据待核实）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发起：拥有敦煌壁画 IP 授权的国企背景项目方。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市场信号：曾在「样立方」剧场开展剧播/沉浸活动；对外称约 10 天门票收益约 950 万元——该数据须在对接会上向项目方核实（票价、上座率、核算口径），本稿标注「待核实」。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产品形态：沉浸式体验 + 机器人等科技互动；希望从短期活动升级为长期实体落地。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空间诉求：约 2000㎡；建筑净高 9–11m；意向地杨浦·复兴岛，作未来产品基地。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54480"/>
            <a:ext cx="5440680" cy="2743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554480"/>
            <a:ext cx="544068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682496"/>
            <a:ext cx="5148072" cy="2487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与复兴岛契合点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与「设计艺术岛」定位高度契合，补齐文旅科技与沉浸体验短板。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与工业遗存大空间（高净高厂房）天然匹配，可做轻度改造样本。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可与具身智能/机器人赛道交叉，形成「壁画 IP × 智能体」传播点。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若在 9/12 前后完成意向仪式或体验打样，可直接服务 9/15 成果展示节点。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480560"/>
            <a:ext cx="11338560" cy="15544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1133856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608576"/>
            <a:ext cx="11045952" cy="12984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活动用法：主论坛点题 · 分论坛 D 深讲 · 体验层打样 · 成熟则一事一议意向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主论坛：作为「高价值文旅科技入岛」一事一议案例亮相（不作未核实数据背书）。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分论坛 D：敦煌·文旅科技与沉浸体验专场（IP 授权、空间改造、机器人互动、商业模型）。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体验/游戏层：设置限流沉浸打卡或短时体验场（视空间进度；未完工则用多媒体+样片）。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签约/备忘：若对接成熟，可安排框架合作/选址意向签署；不成则保留调研结论。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COLD START · 角色原则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智库顾问定位 · 一事一议 · 先调研后成交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66928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37667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冷启动原则（会商纪要）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复兴岛仍处冷启动：可用载体多已被认领，入驻政策口径尚不清晰，规则由创客学院等机制逐步定。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领导层高度关注 9 月 15 日建设成果展示节点——一切可呈现的活动与成果须快速响应。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定位为「智库 / 顾问」：非业主、非政府决策主体，不直接承诺政策，但积极调研、建议与撮合。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高价值项目走「一事一议」直报区领导；一般项目先调研摸底，不强行成交。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核心动作：摸清各方需求与市场情报，筛出与岛气质匹配的项目，寻找互利共赢机会。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人脉即资产：需高频激活、打标签、形成价值链；用活动与场景让资源流动起来。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34440"/>
            <a:ext cx="544068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234440"/>
            <a:ext cx="544068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362456"/>
            <a:ext cx="514807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协同角色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杨浦区科技企业联合会（胡继刚等）：执行会长资源；低成本办会、大厂论坛、AI 活动操盘；上万私域人脉；上半年招商落地约 2700㎡ 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上海云基地 / 复兴岛运营协同方：地理与垂直生态优势；创客学院草创期「化缘」与合规付费原则；授权一线对接、调研摸底；强调合作「明明…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创客学院（规则与生态）：负责逐步明确入驻与活动规则；叠加「未来城市创新实验」方向：方案孵化、产学研联动；把偶然需求打样为…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敦煌项目方（意向入岛）：持壁画 IP 授权的国企发起；寻求落户与政策支持；拟约 2000㎡、净高 9–11m 空间作产品…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DATE · 择日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首选 2026-09-12（周六）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28016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3035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公历星期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开市 · 挂匾 · 立券 · 交易 · 出行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节奏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晚黑客松开营 → 9/12 主会+Demo Day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理由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9/15 前最近开市/挂匾吉日，契合揭牌与国际到访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89520" y="1280160"/>
            <a:ext cx="4114800" cy="22860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0" y="1280160"/>
            <a:ext cx="411480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4" y="1408176"/>
            <a:ext cx="3822192" cy="20299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备选 · 9 月 9 日（周三）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工作日开市吉日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领导周六不便时启用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黑客松可前置周末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3794760"/>
            <a:ext cx="411480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0" y="3794760"/>
            <a:ext cx="411480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35824" y="3922776"/>
            <a:ext cx="382219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规避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9/10 杨公忌日，大事勿用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9/16 已越过收官节点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80560"/>
            <a:ext cx="685800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决策口径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主推 9/12；领导周六不便则改 9/9。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黑客松与主会绑定，形成「创客夜→答卷日」完整叙事。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GOALS · 定位目标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可汇报、可传播、可复用的答卷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111556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以百年「复兴」文脉与「敦煌」级文化 IP 为双引擎，以 9 月 15 日前收官节点为政治死线，在岛上以「主论坛 + 分论坛 + 沉浸式体验/游戏层 + 黑客松」组合拳，完成成果发布、国际会客厅揭牌与高价值项目（含敦煌意向）一事一议展示，形成可汇报、可传播、可复用的冷启动答卷。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25856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政治答卷：服务 9 月 15 日建设成果展示节点，回应市、区领导对显性成果的渴求。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8892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8892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8892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9864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文脉续写：工业遗存活化 + 敦煌文化 IP 沉浸体验，形成「设计艺术岛」可感画面。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42900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42900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53872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结构创新：主论坛定调 + 分论坛深耕 + 体验/游戏层引流 + 黑客松出苗子。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6908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06908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17880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国际规格：一带一路总领事出席，完成国家/片区会客厅揭牌落位。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0916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81888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项目样本：推动敦煌等文旅科技高价值意向走「一事一议」通道，形成可打样案例。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34924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4924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34924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45896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生态协同：科企联活动/招商能力 × 云基地与创客学院智库机制，盘活人脉资产。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PILLARS · 主题板块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 · 出海 · 硬科技 · 敦煌沉浸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80160"/>
            <a:ext cx="27889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文脉续写与空间更新
Heritage × Renewal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治江→治城：浚浦工程传统与量子城市治理对照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工业遗存轻度改造：船台公园与高净高厂房焕新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人民城市理念下的滨江公共空间与创客生活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7889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科创出海
Go Global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「一带一路」营商环境与科技合作机会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从「造船下海」到「智能装备/算法出海」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国家会客厅与双向投资、离岸孵化机制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280160"/>
            <a:ext cx="27889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人工智能 · 具身 · 低空
AI × Embodied × Low-alt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量子城市时空智能与城市治理大模型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具身智能实景实训与「硅基岛民」示范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环水条件下低空/无人系统应用试验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0" y="1280160"/>
            <a:ext cx="2788920" cy="50800"/>
          </a:xfrm>
          <a:prstGeom prst="round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030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敦煌·文旅科技沉浸
Dunhuang Immersive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壁画 IP × 机器人/智能体的沉浸叙事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约 2000㎡ / 净高 9–11m 产品基地空间议题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论坛讲解 + 体验关卡，服务设计艺术岛定位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PLAY LAYER · 体验层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论坛 × 游戏化体验：可玩可感的沉浸关卡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14/24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1 · 文脉三幕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周家嘴—定海—复兴—创客岛图文/影像，集章起点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2 · 船台任务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船台/塔吊打卡问答或 AR 简任务，强化工业遗存记忆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3 · 敦煌沉浸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短时沉浸样片/限流体验或多媒体剧场（视空间进度）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4 · 智能体互动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具身机器人互动关，衔接黑客松与实训平台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5 · 出海线索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国别会客厅导览任务，引导至分论坛 C 与酒会对接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集齐印章兑换伴手礼/体验券；优胜线索进入黑客松或招商线索库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说明：此处「游戏」指沉浸关卡与集章任务，非电竞赛事；与主论坛、分论坛 D（敦煌）、黑客松互相导流。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冷启动打样原则：空间未就绪可用多媒体样片；成熟后再上重资产永久落地。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HACKATHON · 黑客松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「船台·智能体」复兴创客黑客松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15/24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1556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在百年船台，写出下一代智能体　｜　2026 年 9 月 11 日（五）晚 — 9 月 12 日（六）下午（约 24 小时）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691640"/>
            <a:ext cx="566928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819656"/>
            <a:ext cx="537667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为何必须做黑客松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直接回应市委「开展好活动、集聚创新创业人才」要求。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呼应区方案鼓励大赛展会、OPC 社群与创客学院生态。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把「全球创客岛」从发布会做成可感知的创客现场。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文脉衍生：船台曾承载造船下海，今日承载智能体「下水」。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44068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544068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819656"/>
            <a:ext cx="514807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规模与场地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20–40 支团队（高校/创客/初创，每队 3–5 人）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岛上老厂房创客空间 / 实训平台周边（与主会场分流）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优胜项目登周六主舞台 Demo Day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激励：奖金+券包+入孵绿色通道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40690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22960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课题方向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1 · 空间智能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城市治理大模型、时空数据应用、岛上场景助手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2 · 具身智能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机器人实景任务、人机协同、实训场课题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3 · 低空/无人系统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巡检、物流、应急或文旅低空应用原型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4 · 科创出海工具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跨境合规、多语言服务、海外获客与本地化工具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5 · 文旅智能体（可选）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敦煌/壁画叙事智能体、沉浸导览、机器人互动脚本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HACKATHON · 赛程规则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24 小时登岛出作品、出苗子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16/24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6858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97680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18:30–19:30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报到开营 · 文脉短片 · 课题发布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19:30–22:30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组队确认 · 导师匹配 · 开工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22:30–次日 12:00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连续开发（夜间值守与安全预案）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12:00–13:30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提交截止 · 初审 · 午餐休整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15:20–16:20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Demo Day（主论坛复会环节，决赛队伍路演）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16:20–16:40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颁奖 · 入孵/券包意向授意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452360" y="1188720"/>
            <a:ext cx="4297680" cy="3657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188720"/>
            <a:ext cx="429768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98664" y="1316736"/>
            <a:ext cx="4005072" cy="3401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规则与激励要点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赛前 2 周发布课题包与岛上开放数据/API（脱敏）；现场也可自带题目但须贴合赛道。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提供算力代金/云资源、导师工位、工业遗存场地氛围与演示道具。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导师团：产业专家 + 入岛企业 + 高校导师；国际领事可参与点评（可选）。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产出：可演示原型 + 3 分钟路演 + 一页应用场景说明。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激励：奖金/算力券/模型券/入孵绿色通道/会客厅对接名额；优胜项目周六 Demo Day 登主舞台。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1124712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黑客松 KPI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报名队伍 ≥30，完赛 ≥20　｜　产生可演示原型 ≥15 个　｜　意向入孵/场景合作 ≥5 项　｜　青年人才线索入库 ≥80 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SCALE &amp; VENUE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主会 200–300 人 · 体验/黑客松分流 · 必须在岛上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17/24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席别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人数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组成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主席台 / 前排贵宾席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30–40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区领导、市级嘉宾、总领事、揭牌对象代表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国际与外事席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领馆官员、海外园区、国际组织、翻译陪同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产业核心席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70–90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/ 具身智能 / 低空重点企业与投资机构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创客与黑客松观察席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30–40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导师、优胜候选队代表、高校创新联盟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生态与媒体席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孵化器、协会、媒体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工作保障席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20–30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安保、外事、会务、宣传、医疗、黑客松值守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合计（主会场）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200–300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黑客松选手主要在工位区，决赛代表进入主会场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46520" y="1188720"/>
            <a:ext cx="530352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1188720"/>
            <a:ext cx="53035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2824" y="1316736"/>
            <a:ext cx="501091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场地首选：启动区 + 船台公园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主论坛/揭牌在核心启动区厂房会场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领导领事短途步入船台公园文脉打卡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黑客松置于相邻老厂房，动线最短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可见船台、塔吊，保证历史—未来同框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底线：不离岛，叙事完整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GUESTS &amp; UNVEILING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政治高位 + 国际高位 + 硬成果落位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18/24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115214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035040"/>
                <a:gridCol w="3383280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层级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邀约对象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政要领导层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杨浦区委书记、区长（主致辞 / 揭牌）；分管副区长（科创 / 商务 / 建设 / 规划资源）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抬升政治规格，形成区级主场答卷画面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 国际领事层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「一带一路」重点国家驻沪总领事 6–10 位亲自出席；领团代表或总领事俱乐部相关协调机制支持邀约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全球化规格与国际合作落位的核心背书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产业·学术·创客层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 / 机器人 / AI 大模型 / 低空经济领军企业；量子城市 / 空间智能实验室与高校创新联盟代表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内容专业度、项目签约与创客生态可见度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 媒体与传播层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市级主流媒体、区融媒体中心；科技垂类与国际传播渠道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领导可见、社会可感、国际可传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2336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011680"/>
                <a:gridCol w="539496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揭牌类型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「某某国家」国际会议厅 / 国家会客厅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建议首批 2–3 个国家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空间冠名揭牌 + 合作备忘录 + 国别对接窗口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「某某片区」国际会议厅 / 合作窗口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 1–2 个国内重点合作片区或海外园区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片区共建揭牌 + 双向飞地 / 离岸孵化机制发布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产业与创客平台揭牌（增强项）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1–2 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具身智能联合实验室 / 低空应用验证中心 / 创客学院·黑客松常设营地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敦煌文旅科技意向仪式（视对接进度）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0–1 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选址意向 / 框架合作备忘录；或仅作体验层打样不强制签约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上午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文脉开幕 · 规格致辞 · 揭牌签约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19/24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651760"/>
                <a:gridCol w="5577840"/>
                <a:gridCol w="192024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08:30–09:15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签到 · 体验层开放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文脉三幕展 + 集章任务开启；贵宾/领事接待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会务+体验层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09:15–09:25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开幕影像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文脉短片《百年复兴，智造再启航》；点题敦煌沉浸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09:25–09:35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主持人开场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介绍四层结构：主论坛/分论坛/体验层/黑客松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09:35–09:50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区委/区政府主要领导致辞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回应市领导寄托与 9/15 节点答卷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09:50–10:00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市级部门或特邀致辞（视情）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量子城市/规划资源/科创政策呼应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特邀领导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10:00–10:10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「一带一路」领事代表致辞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国际合作与科技出海期待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总领事代表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10:10–10:35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主旨成果发布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创客岛进展、量子城市、具身智能、文旅科技意向样本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运营/专班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10:35–11:05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国际会议厅/会客厅揭牌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国家厅+片区厅揭牌、铭牌落位、文脉场景合影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区领导+领事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11:05–11:35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重点项目签约/意向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入岛企业、出海合作；敦煌等一事一议（视成熟度）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区商务/科委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11:35–12:00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集体合影 · 媒体发布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领导—领事—企业—创客代表同框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12:00–13:30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工作午宴/闭门交流（可选）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小范围深度沟通；黑客松初审；体验层轮转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外事+黑客松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下午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四分论坛 · 体验层 · Demo Day · 酒会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20/24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548640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A：文脉·空间·量子城市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治江治城、遗存活化、空间智能课题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规划/科委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B：具身智能与低空经济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实训平台、场景合作、产业链对接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C：科创出海圆桌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分国别对接桌：领事×出海企业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商务/外事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D：敦煌·文旅科技沉浸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IP/空间/机器人互动/商业模型；一事一议路径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文旅+科企联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体验层/黑客松观摩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沉浸关卡限流体验；黑客松工位开放（限流）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体验+黑客松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15:00–15:20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茶歇 · 展示体验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具身演示、低空静态展、敦煌样片/短时体验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展示组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15:20–16:20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Demo Day · 高端对话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黑客松决赛路演 + 「论坛×游戏化体验」复盘对话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主持+评委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16:20–16:50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颁奖与下一阶段行动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黑客松颁奖；百日行动/会客厅/敦煌跟进清单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16:50–17:30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国际对接酒会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领事—企业—优胜创客—文旅方自由对接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完整议程、敦煌对接与黑客松台账见 Excel。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TIMELINE &amp; ORG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倒排期与专班架构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21/24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70432"/>
          <a:ext cx="7040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关键任务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T-50 天（7 月底前）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立项与专班成立；确定 9/12 主日期与 9/9 备选；启动外事报批窗口沟通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T-45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锁定主会场与黑客松厂房；形成揭牌候选短名单；启动文脉短片脚本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T-40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正式外事报批；首轮总领事邀约；黑客松赛题与报名通道上线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T-30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确认至少 2 个国家厅+1 个片区厅意向；签约清单初稿；主视觉定稿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T-21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总领事出席确认过半；分论坛嘉宾锁定；黑客松报名截止与初筛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T-14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全要素彩排脚本；揭牌铭牌进场；开放数据/API 包发给入围队伍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T-7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最终座次；同传联调；黑客松夜间值守与安全预案桌面推演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会场与工位布置完成；领导/领事行程再确认；演示设备验收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黑客松开营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活动日 9/12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主会场+Demo Day+揭牌签约按议程执行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新闻通稿与短视频；领导汇报材料（一页纸+图文册）提交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T+14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会客厅运营启动会；黑客松优胜转化台账；复盘报告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43800" y="1170432"/>
            <a:ext cx="4251960" cy="5029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43800" y="1170432"/>
            <a:ext cx="425196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0104" y="1298448"/>
            <a:ext cx="3959352" cy="4773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专班架构（新增文脉/黑客松组）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领导小组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综合协调组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智库顾问组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生态转化组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文脉展示组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文旅沉浸组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外事礼宾组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产业内容组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空间落位组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宣传媒体组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会务保障组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BUDGET &amp; KPI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中值约 70 万 · 成效必须可写进专报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22/24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6492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005840"/>
                <a:gridCol w="301752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成本项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万元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场地租赁与基础改造/布置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8–15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主会场+展廊+船台礼仪动线；国企/区属载体可置换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黑客松场地与通宵保障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4–8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工位、网络、值守、夜宵、安全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舞台视听与同声传译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多语同传、大屏、直播机位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外事礼宾与接待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5–8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领事用车、休息室、伴手礼、翻译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揭牌空间与铭牌制作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首批会客厅基础形象与铭牌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文脉短片与展陈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影像、展板、互动装置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黑客松奖金与券包激励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奖金+算力/模型券对接；可与政策券包联动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物料视觉与印刷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主视觉、手册、胸卡、导视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餐饮茶歇与轻酒会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 200–300 人；不做大型晚宴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媒体传播与直播剪辑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通稿、短视频、摄影摄像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安保交通医疗应急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大型涉外+通宵活动标准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执行团队与不可预见费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含机动 10%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合计（示意）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54–98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中值约 70 万；场地/券包置换后现金可压至约 50 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949440" y="1170432"/>
          <a:ext cx="48463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47472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量化目标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政治规格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区委书记或区长出席；形成可呈报市级的 9/15 节点成果专报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四层结构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主论坛+四分论坛+体验层+黑客松全部跑通，各层有可截取画面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文脉呈现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文脉短片+展廊+船台打卡；领导视察动线含工业肌理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敦煌样本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完成事实核查；形成一事一议建议或意向仪式/体验打样其一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国际出席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总领事亲自出席 ≥6 国；国际嘉宾可感知占比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揭牌落位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国家/片区国际会议厅揭牌 ≥3 个；配套运营协议签署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完赛 ≥20 队；可演示原型 ≥15；意向转化 ≥5 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产业成果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现场签约/发布 ≥8 项；覆盖 AI、具身、低空、出海、文旅至少三类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规模体验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 200–300 人；体验层有序限流；无重大事故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传播声量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市级以上媒体报道 ≥5 篇；短视频与政务新媒体矩阵同步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后续转化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T+30 日内国别对接或敦煌/优胜项目跟进至少 1 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NEXT · 决策清单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建议立即拍板与跟进的关键事项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23/24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37160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37160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37160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5361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确认主日期 9/12 + 四层结构（含体验层/黑客松）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224028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34440" y="224028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24028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240487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48h 内完成敦煌事实核查与空间踏勘初判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" y="310896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34440" y="310896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310896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27355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锁定主会场、体验/黑客松厂房与 3 个揭牌对象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97764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97764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397764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414223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启动外事报批、领事邀约、黑客松报名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" y="484632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34440" y="484632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484632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501091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敦煌达线则一事一议报区；同步用 PPT+Excel 请示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百年复兴，智造再启航。</a:t>
            </a:r>
          </a:p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主论坛 · 分论坛 · 体验层 · 黑客松　｜　敦煌一事一议样本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7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2026 年 9 月 12 日（星期六 · 农历八月初二）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服务 9 月 15 日收官节点　｜　2026 年 9 月 11 日（五）晚 — 9 月 12 日（六）下午（约 24 小时）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4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主呈现：PPT 策划方案  +  Excel 执行台账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V3.0 · 建议稿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