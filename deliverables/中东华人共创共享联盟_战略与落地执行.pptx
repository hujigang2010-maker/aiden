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0"/>
            <a:ext cx="4709160" cy="6858000"/>
          </a:xfrm>
          <a:prstGeom prst="rect">
            <a:avLst/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146304" cy="123444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143000"/>
            <a:ext cx="6400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D0A0"/>
                </a:solidFill>
                <a:latin typeface="微软雅黑"/>
                <a:ea typeface="微软雅黑"/>
              </a:rPr>
              <a:t>MECA · 战略落地执行方案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65836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中东华人共创共享联盟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C9A26B"/>
                </a:solidFill>
                <a:latin typeface="微软雅黑"/>
                <a:ea typeface="微软雅黑"/>
              </a:rPr>
              <a:t>1000 位创始会员计划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E8EEF1"/>
                </a:solidFill>
                <a:latin typeface="微软雅黑"/>
                <a:ea typeface="微软雅黑"/>
              </a:rPr>
              <a:t>暨迪拜华人生活生态平台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6400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B4BE"/>
                </a:solidFill>
                <a:latin typeface="微软雅黑"/>
                <a:ea typeface="微软雅黑"/>
              </a:rPr>
              <a:t>以房产为入口 · 以会员为纽带 · 以生态为长期资产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主办方 · 会员定价 · 生态定位 · 海外社群 · 背书落地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5349240"/>
            <a:ext cx="1554480" cy="43891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可执行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5349240"/>
            <a:ext cx="1554480" cy="43891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可考核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1554480" cy="43891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931920" cy="3200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核心交付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① 主办方与治理架构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② 会员定位与价格体系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③ 会员生态与合作商网络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④ 微信 / Facebook 等社群搭建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⑤ 大学与政府背书路径建议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⑥ 90 天启动与财务 KPI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从愿景到施工图：按模块推进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5448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问题与定位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痛点、边界、一句话定位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55448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主办方与背书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谁来办、要不要政府/大学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55448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745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42316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会员产品与价格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分层定位、年费、生命周期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会员生态定位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七大权益 + 六大中心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0233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5720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社群搭建体系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微信 / FB / 海外矩阵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70332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40233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A26B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5720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商业与落地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AB4BE"/>
                </a:solidFill>
                <a:latin typeface="微软雅黑"/>
                <a:ea typeface="微软雅黑"/>
              </a:rPr>
              <a:t>收入结构、财务、90 天、KPI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前言：六大现实痛点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先定义问题，再谈平台价值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45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01  可信资源缺失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无统一、长期稳定入口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解法：创始会员 + 实名认证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02  信息高度分散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散落数十个微信群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解法：数字化平台 + 企业黄页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1645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03  熟人介绍低效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规模小、不可复制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解法：撮合机制 + 需求匹配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03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04  会员体系脆弱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社群生命周期短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解法：权益 + 履约 + 续费闭环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03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931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05  生活保障缺失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住/医/教/法无标准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解法：七大权益 + SLA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703320"/>
            <a:ext cx="3703320" cy="20574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9" y="3931920"/>
            <a:ext cx="320040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06  生态连接断裂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人房资源资本割裂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解法：六大中心 + 数据沉淀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中东华人全生命周期生态平台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26B"/>
                </a:solidFill>
                <a:latin typeface="微软雅黑"/>
                <a:ea typeface="微软雅黑"/>
              </a:rPr>
              <a:t>一句话定位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以房产为入口、以创始会员身份为纽带、以标准化生活与商务服务为交付、以数字平台沉淀数据与信任的中东华人全生命周期生态平台。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803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1828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愿景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63240"/>
            <a:ext cx="85953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成为华人在中东长期发展的基础设施：资源 / 生活 / 商业 / 价值共享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828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使命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114800"/>
            <a:ext cx="85953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有房 · 有圈子 · 有资源 · 有事业 · 有未来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83479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66359"/>
            <a:ext cx="1828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价值观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66359"/>
            <a:ext cx="85953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共创 · 共建 · 共享 · 共赢 · 长期主义 · 诚信透明 · 利他合作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主办方情况：谁来办、怎么办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实体先行 · 权责清晰 · 跨境双主体协同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主办方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370332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371600"/>
            <a:ext cx="91440" cy="475488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499616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建议主办架构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901952"/>
            <a:ext cx="333756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迪拜侧运营主体：DED / 自贸区公司（主经营）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房产交付：RERA 持牌经纪实体（自有或独家合作）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中国侧协作主体：上海注册公司或合作机构（获客/内容/政企对接）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品牌主体：MECA 中英文商标双注册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治理层：理事会 9–12 人（发起方+理事单位+创始会员代表）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执行层：CEO/秘书长 + 五部门（房产/会员/生态/市场/职能）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70332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91440" cy="475488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499616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主办方必须先做的事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01952"/>
            <a:ext cx="333756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完成法律意见书与牌照路径（P0）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明确“联盟”名称使用与活动许可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厘清：谁收会员费、谁签合作商、谁承担 SLA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房产优惠/返佣全部写入书面合同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不向会员承诺股权、分红或平台估值增值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金融/移民/医疗一律转介持牌方，不自营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371600"/>
            <a:ext cx="91440" cy="475488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499616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主办方能力画像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901952"/>
            <a:ext cx="320040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中东本地运营与合规经验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华人高净值客户触达能力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房产项目议价与交付管理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跨语种内容与社群运营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政商学资源协调（非替代经营）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首年建议编制 20–24 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要不要大学 / 上海市政府 / 省级背书？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结论：需要“辅助背书”，不需要“政府主办”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背书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26B"/>
                </a:solidFill>
                <a:latin typeface="微软雅黑"/>
                <a:ea typeface="微软雅黑"/>
              </a:rPr>
              <a:t>建议结论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大学与上海（或省级）相关机构的背书，对国内获客、出海论坛与品牌信任有明显加分；但迪拜落地的硬条件是阿联酋牌照、合规与履约能力。背书应定位为“指导 / 支持 / 学术合作”，避免形成“政府主办”预期，以免决策慢、承诺重、责任边界模糊。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0604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70632"/>
            <a:ext cx="2194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大学研究机构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770632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AA87A"/>
                </a:solidFill>
                <a:latin typeface="微软雅黑"/>
                <a:ea typeface="微软雅黑"/>
              </a:rPr>
              <a:t>推荐（阶段一）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7157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白皮书、论坛、择校/住房研究背书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15768"/>
            <a:ext cx="32918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B4BE"/>
                </a:solidFill>
                <a:latin typeface="微软雅黑"/>
                <a:ea typeface="微软雅黑"/>
              </a:rPr>
              <a:t>复旦住房研究中心、涉阿/国关院所、商学院出海研究团队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4747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2194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上海市级平台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639312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C98A3C"/>
                </a:solidFill>
                <a:latin typeface="微软雅黑"/>
                <a:ea typeface="微软雅黑"/>
              </a:rPr>
              <a:t>可选（阶段二）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5844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上海侧出海活动、企业动员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84448"/>
            <a:ext cx="32918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B4BE"/>
                </a:solidFill>
                <a:latin typeface="微软雅黑"/>
                <a:ea typeface="微软雅黑"/>
              </a:rPr>
              <a:t>侨务/商务类平台、区级科创/企联、国际会客厅类载体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4340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507992"/>
            <a:ext cx="2194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省级层面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507992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9AB4BE"/>
                </a:solidFill>
                <a:latin typeface="微软雅黑"/>
                <a:ea typeface="微软雅黑"/>
              </a:rPr>
              <a:t>谨慎（阶段三）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45312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大型峰会或区域合作时再谈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453128"/>
            <a:ext cx="32918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B4BE"/>
                </a:solidFill>
                <a:latin typeface="微软雅黑"/>
                <a:ea typeface="微软雅黑"/>
              </a:rPr>
              <a:t>避免早期过重行政叙事，优先商会与产业联盟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212079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2E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376671"/>
            <a:ext cx="2194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E8D0A0"/>
                </a:solidFill>
                <a:latin typeface="微软雅黑"/>
                <a:ea typeface="微软雅黑"/>
              </a:rPr>
              <a:t>驻外使领馆/商会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5376671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AA87A"/>
                </a:solidFill>
                <a:latin typeface="微软雅黑"/>
                <a:ea typeface="微软雅黑"/>
              </a:rPr>
              <a:t>强烈建议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321807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本地公信力与活动合规沟通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321807"/>
            <a:ext cx="32918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B4BE"/>
                </a:solidFill>
                <a:latin typeface="微软雅黑"/>
                <a:ea typeface="微软雅黑"/>
              </a:rPr>
              <a:t>驻迪拜总领馆相关活动、华人商会、行业协会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三大战略体系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安居入口 → 创始会员 → 华人共同体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战略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91440" cy="470916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第一层 · 安居计划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帮助 1000 个华人家庭在迪拜安家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精选 3–5 个战略合作项目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精装 + 软装 + 智能家居 + 拎包入住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交房后 45 天内可入住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房产由 RERA 持牌方执行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417320"/>
            <a:ext cx="91440" cy="470916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第二层 · 创始会员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购房即成为创始会员（No.0001–1000）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编号终身唯一、可继承、不可转售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电子身份 + 创始金卡 + 权益包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重大权益优先向创始会员开放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企业会员单独编号序列 E001 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417320"/>
            <a:ext cx="91440" cy="470916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第三层 · 华人共同体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1000 企业家 × 1000 家庭 × 1000 企业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每月 ≥2 场线下活动（商务+家庭）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每季度 1 次需求发布会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12 个行业分会（会长任期 1 年）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核心指标是成交与履约，不是人数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未来会员定位与价格体系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规划假设以 AED 计价，立项时以实测替换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定价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-54861" cy="50292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463040"/>
            <a:ext cx="-182877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层级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2" y="1371600"/>
            <a:ext cx="-54861" cy="50292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4" y="1463040"/>
            <a:ext cx="-182877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获取方式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4" y="1371600"/>
            <a:ext cx="-54861" cy="50292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6" y="1463040"/>
            <a:ext cx="-182877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年费（规划）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6" y="1371600"/>
            <a:ext cx="-54862" cy="50292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8" y="1463040"/>
            <a:ext cx="-18287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名额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8" y="1371600"/>
            <a:ext cx="-54860" cy="50292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40" y="1463040"/>
            <a:ext cx="-182876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核心定位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192024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02996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创始会员（个人）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2" y="192024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2" y="202996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通过平台购房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4" y="192024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4" y="202996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首 3 年免年费 / 第 4 年起 3,000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6" y="1920240"/>
            <a:ext cx="-54862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6" y="2029968"/>
            <a:ext cx="-228598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1,000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8" y="1920240"/>
            <a:ext cx="-5486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8" y="2029968"/>
            <a:ext cx="-228596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全权益 + 优先权 + 编号荣誉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74320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85292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正式会员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2" y="274320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2" y="285292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申请 + 审核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4" y="274320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4" y="285292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AED 3,000/年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6" y="2743200"/>
            <a:ext cx="-54862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6" y="2852928"/>
            <a:ext cx="-228598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不限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8" y="2743200"/>
            <a:ext cx="-54860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8" y="2852928"/>
            <a:ext cx="-228596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标准生活权益，扩展层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356616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7588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企业会员（标准）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2" y="356616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2" y="367588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企业申请审核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1484" y="356616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4" y="367588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AED 12,000/年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6" y="3566160"/>
            <a:ext cx="-54862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6" y="3675888"/>
            <a:ext cx="-228598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不限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8" y="3566160"/>
            <a:ext cx="-5486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8" y="3675888"/>
            <a:ext cx="-228596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黄页/招聘/撮合/活动 2 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438912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49884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企业会员（战略）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2" y="438912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2" y="449884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邀请制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1484" y="438912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4" y="449884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AED 60,000/年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6" y="4389120"/>
            <a:ext cx="-54862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6" y="4498848"/>
            <a:ext cx="-228598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≤30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8" y="4389120"/>
            <a:ext cx="-54860" cy="74980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8" y="4498848"/>
            <a:ext cx="-228596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联合品牌、峰会主论坛、深度撮合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21208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32180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理事单位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11482" y="521208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2" y="532180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邀请 + 理事会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4" y="5212080"/>
            <a:ext cx="-54861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4" y="5321808"/>
            <a:ext cx="-228597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AED 200,000/年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6" y="5212080"/>
            <a:ext cx="-54862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6" y="5321808"/>
            <a:ext cx="-228598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≤12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8" y="5212080"/>
            <a:ext cx="-5486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8" y="5321808"/>
            <a:ext cx="-228596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参与治理、优先合作、冠名权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会员人群分层与获取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A 核心买房家庭 → B 在地华人 → C 出海考察客群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人群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A 核心层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1,000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在迪拜购房/已购房华人家庭与企业主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32004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核心诉求：安家、圈层、资产配置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渠道：房产项目、渠道商、老带新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产品：创始会员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0020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B 扩展层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5740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10,000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65176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在阿联酋工作、创业的华人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83280"/>
            <a:ext cx="32004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核心诉求：生活服务、职业、合作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渠道：社群、活动、内容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产品：正式会员 / 企业会员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60020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6B"/>
                </a:solidFill>
                <a:latin typeface="微软雅黑"/>
                <a:ea typeface="微软雅黑"/>
              </a:rPr>
              <a:t>C 外围层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5740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100,000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65176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计划来中东考察/出海的中国企业与个人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383280"/>
            <a:ext cx="32004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核心诉求：信息、落地、对接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渠道：线上内容、商会、展会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• 产品：注册用户 → 转化入会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针对未来会员的定位生态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七大权益模块构成日常生活与商务底座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安居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物业/托管/维修/搬家/家政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紧急维修 4h 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医疗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体检/绿通/家庭医生/保险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持牌机构交付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41732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教育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择校/中文/双语/升学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年度择校白皮书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41732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1737360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餐饮生活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餐厅/酒店/宴会折扣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首年签约 100 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49039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69079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运动健康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健身/球类/马拉松社群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6 个常设运动社群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749039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4069079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商务出行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用车/酒店/考察/签证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每季商务考察团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3749039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4069079"/>
            <a:ext cx="242316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D0A0"/>
                </a:solidFill>
                <a:latin typeface="微软雅黑"/>
                <a:ea typeface="微软雅黑"/>
              </a:rPr>
              <a:t>金融法律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开户/财税/律所/注册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A26B"/>
                </a:solidFill>
                <a:latin typeface="微软雅黑"/>
                <a:ea typeface="微软雅黑"/>
              </a:rPr>
              <a:t>每年 2 次免费初咨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六大中心：生态供给侧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首年只启 ①③⑥，避免全面铺开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109728" cy="210312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① 商业资源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企业库 1000 / 撮合 100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9A26B"/>
                </a:solidFill>
                <a:latin typeface="微软雅黑"/>
                <a:ea typeface="微软雅黑"/>
              </a:rPr>
              <a:t>启动节奏：Y1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17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17320"/>
            <a:ext cx="109728" cy="210312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37360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② 人才发展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人才库 3000 / 推荐 100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E6B7A"/>
                </a:solidFill>
                <a:latin typeface="微软雅黑"/>
                <a:ea typeface="微软雅黑"/>
              </a:rPr>
              <a:t>启动节奏：Y2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109728" cy="210312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1737360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③ 品牌联盟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品牌 50 / 集采 3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9A26B"/>
                </a:solidFill>
                <a:latin typeface="微软雅黑"/>
                <a:ea typeface="微软雅黑"/>
              </a:rPr>
              <a:t>启动节奏：Y1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49039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749039"/>
            <a:ext cx="109728" cy="210312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69079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④ 创业孵化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项目 20 / 导师 30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E6B7A"/>
                </a:solidFill>
                <a:latin typeface="微软雅黑"/>
                <a:ea typeface="微软雅黑"/>
              </a:rPr>
              <a:t>启动节奏：Y2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49039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49039"/>
            <a:ext cx="109728" cy="2103120"/>
          </a:xfrm>
          <a:prstGeom prst="rect">
            <a:avLst/>
          </a:prstGeom>
          <a:solidFill>
            <a:srgbClr val="9AB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4069079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⑤ 投资发展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路演 4 / 投资人 100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B4BE"/>
                </a:solidFill>
                <a:latin typeface="微软雅黑"/>
                <a:ea typeface="微软雅黑"/>
              </a:rPr>
              <a:t>启动节奏：Y3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749039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3749039"/>
            <a:ext cx="109728" cy="210312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19" y="4069079"/>
            <a:ext cx="310896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⑥ 公益文化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公益 6 / 节日 2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9A26B"/>
                </a:solidFill>
                <a:latin typeface="微软雅黑"/>
                <a:ea typeface="微软雅黑"/>
              </a:rPr>
              <a:t>启动节奏：Y1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社群搭建总览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微信主阵地 + Facebook/海外矩阵协同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社群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379476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91440" cy="475488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499616"/>
            <a:ext cx="3429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中国侧（微信生态）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01952"/>
            <a:ext cx="342900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公众号：政策/白皮书/会员故事，周 2 篇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视频号/抖音：迪拜生活与避坑，周 4 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小红书：家庭决策（择校/亲子），周 5 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企业微信/私域：转化与留存，日更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分层群：创始会员群 / 行业分会群 / 城市群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规则：实名、禁广告、工单化客服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79476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91440" cy="475488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499616"/>
            <a:ext cx="3429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海外侧（Facebook 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01952"/>
            <a:ext cx="342900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Facebook Group：迪拜华人公开层获客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Facebook Page：品牌与活动传播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Instagram：生活方式与现场感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LinkedIn：企业会员与商务 B2B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WhatsApp Community：本地即时触达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小红书/抖音海外号：跨平台分发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371600"/>
            <a:ext cx="91440" cy="475488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499616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社群运营原则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1901952"/>
            <a:ext cx="320040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不为热闹，为信任与成交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每群设管理员 + 议题官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活动后 48h 内发出名录与线索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商务活动强制结构化连接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双端账号统一会员 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遵守 UAE PDPL + 中国 PIPL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海外社群搭建清单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渠道定位 · 内容 · 首年目标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25880"/>
            <a:ext cx="-54862" cy="43891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389888"/>
            <a:ext cx="-182878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1" y="1325880"/>
            <a:ext cx="-54862" cy="43891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3" y="1389888"/>
            <a:ext cx="-182878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3" y="1325880"/>
            <a:ext cx="-54861" cy="43891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5" y="1389888"/>
            <a:ext cx="-182877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内容类型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6" y="1325880"/>
            <a:ext cx="-54861" cy="43891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8" y="1389888"/>
            <a:ext cx="-182877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组织形态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8" y="1325880"/>
            <a:ext cx="-54861" cy="43891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20" y="1389888"/>
            <a:ext cx="-182877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首年目标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828800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1901952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微信私域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1" y="1828800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3" y="1901952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转化留存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3" y="182880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5" y="190195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权益上新/答疑/活动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6" y="182880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8" y="190195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创始群 1 + 分会 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8" y="182880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20" y="190195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续费率 ≥70%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359152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432304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微信公众号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1" y="2359152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3" y="2432304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深度权威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3" y="235915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5" y="243230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政策解读/白皮书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6" y="235915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8" y="243230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周更 2 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8" y="235915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20" y="243230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粉丝 3 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889504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2962656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Facebook 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1" y="2889504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3" y="2962656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海外获客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3" y="288950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5" y="296265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本地生活/活动招募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6" y="288950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8" y="296265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主群 1 + 城市分群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8" y="288950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20" y="296265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成员 1 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419856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" y="3493008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Facebook 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1" y="3419856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913" y="3493008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品牌传播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3" y="3419856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5" y="3493008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活动相册/媒体合作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5766" y="3419856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8" y="3493008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周更 3 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8" y="3419856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20" y="3493008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互动率 ≥3%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760" y="3950208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" y="4023360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Instagram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1" y="3950208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3" y="4023360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生活方式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3" y="3950208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5" y="4023360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现场/探店/会员故事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5766" y="3950208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8" y="4023360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周更 4 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65768" y="3950208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8920" y="4023360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粉丝 2 万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760" y="4480560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4553712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LinkedIn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1" y="4480560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8913" y="4553712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企业商务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5763" y="448056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915" y="455371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峰会/合作案例/招聘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5766" y="448056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918" y="455371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周更 2 条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8" y="4480560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8920" y="4553712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企业线索 200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65760" y="5010912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8912" y="5084064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WhatsApp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1" y="5010912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913" y="5084064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本地触达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5763" y="501091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38915" y="508406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活动提醒/紧急通知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65766" y="501091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8918" y="508406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分层社区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65768" y="5010912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38920" y="5084064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打开率 ≥60%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5760" y="5541264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8912" y="5614416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线下分会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1" y="5541264"/>
            <a:ext cx="-54862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8913" y="5614416"/>
            <a:ext cx="-182878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关系沉淀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65763" y="554126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8915" y="561441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月度沙龙/需求墙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65766" y="554126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8918" y="561441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12 行业分会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65768" y="5541264"/>
            <a:ext cx="-54861" cy="475488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8920" y="5614416"/>
            <a:ext cx="-182877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月活出席 ≥80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年度活动日历（旗舰节奏）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每月有旗舰，每周有连接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活动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1月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新年商业酒会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69164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2月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春节庆典家庭日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41732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9164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3月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投资沙龙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41732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169164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4月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行业峰会①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7180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5月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企业出海论坛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297180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24612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6月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半年度会员大会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97180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24612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7–8月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夏令营/线上维系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97180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324612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9月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中秋晚宴+慈善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52628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80060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10月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品牌/集采大会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452628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80060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11月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年度企业家论坛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52628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0060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12月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盛典+创始授勋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4526280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4800600"/>
            <a:ext cx="2423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A26B"/>
                </a:solidFill>
                <a:latin typeface="微软雅黑"/>
                <a:ea typeface="微软雅黑"/>
              </a:rPr>
              <a:t>常态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分会月度沙龙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商业模式与收入演进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第一年靠房产养平台，第三年去房产依赖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商业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566928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91440" cy="475488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499616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十大收入来源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01952"/>
            <a:ext cx="530352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房地产服务佣金 / 渠道分成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房屋托管及物业增值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会员年费（个人 / 企业 / 理事）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品牌合作与赞助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广告及推广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商城与供应链（含集采）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活动及会展（票务 / 展位 / 冠名）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医疗教育旅游等服务分成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金融保险法律转介分成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企业出海及商务落地服务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8D0A0"/>
                </a:solidFill>
                <a:latin typeface="微软雅黑"/>
                <a:ea typeface="微软雅黑"/>
              </a:rPr>
              <a:t>收入结构演进（规划）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96596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7568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96596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07568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Y1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96596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07568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Y3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196596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20" y="207568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B1F2A"/>
                </a:solidFill>
                <a:latin typeface="微软雅黑"/>
                <a:ea typeface="微软雅黑"/>
              </a:rPr>
              <a:t>Y5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60603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71576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房地产相关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260603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271576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75%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260603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71576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45%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32720" y="260603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0" y="271576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30%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24612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335584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会员及企业服务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24612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335584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12%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24612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335584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25%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32720" y="324612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20" y="335584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28%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388620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99592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生态服务分成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388620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399592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6840" y="388620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06840" y="399592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20%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32720" y="3886200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20" y="3995928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27%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55080" y="452627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3600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品牌/活动/广告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60" y="452627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0" y="463600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5%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06840" y="452627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6840" y="463600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10%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332720" y="4526279"/>
            <a:ext cx="1261872" cy="530352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32720" y="4636007"/>
            <a:ext cx="1261872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15%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5257800"/>
            <a:ext cx="5349240" cy="82296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D4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5394960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D0A0"/>
                </a:solidFill>
                <a:latin typeface="微软雅黑"/>
                <a:ea typeface="微软雅黑"/>
              </a:rPr>
              <a:t>战略含义：Y3 生态+会员收入合计应 ≥45%，否则平台只是房产中介另一张皮。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三年财务简化模型（假设）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盈亏平衡约 143 套；启动资金建议 AED 5M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4173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544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  <a:latin typeface="微软雅黑"/>
                <a:ea typeface="微软雅黑"/>
              </a:rPr>
              <a:t>第 1 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4173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5544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  <a:latin typeface="微软雅黑"/>
                <a:ea typeface="微软雅黑"/>
              </a:rPr>
              <a:t>第 2 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4173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  <a:latin typeface="微软雅黑"/>
                <a:ea typeface="微软雅黑"/>
              </a:rPr>
              <a:t>第 3 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1031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2402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收入合计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1031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2402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9.64M AED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1031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22402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22.50M AED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1031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22402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41.10M AED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7889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9260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成本合计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889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60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7.60M AED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27889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29260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13.05M AED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27889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29260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20.30M AED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4747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6118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AA87A"/>
                </a:solidFill>
                <a:latin typeface="微软雅黑"/>
                <a:ea typeface="微软雅黑"/>
              </a:rPr>
              <a:t>税前利润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4747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6118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AA87A"/>
                </a:solidFill>
                <a:latin typeface="微软雅黑"/>
                <a:ea typeface="微软雅黑"/>
              </a:rPr>
              <a:t>2.04M AED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34747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36118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AA87A"/>
                </a:solidFill>
                <a:latin typeface="微软雅黑"/>
                <a:ea typeface="微软雅黑"/>
              </a:rPr>
              <a:t>9.45M AED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3474720"/>
            <a:ext cx="2697480" cy="59436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3611880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AA87A"/>
                </a:solidFill>
                <a:latin typeface="微软雅黑"/>
                <a:ea typeface="微软雅黑"/>
              </a:rPr>
              <a:t>20.80M AED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38912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57200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首年成交：200 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438912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457200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均价：AED 1.8M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38160" y="438912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457200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佣金净得：2%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25780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44068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正式会员：300 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0" y="525780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26280" y="544068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企业会员：50 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5257800"/>
            <a:ext cx="3657600" cy="74980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66760" y="5440680"/>
            <a:ext cx="32004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EEF1"/>
                </a:solidFill>
                <a:latin typeface="微软雅黑"/>
                <a:ea typeface="微软雅黑"/>
              </a:rPr>
              <a:t>续费率：70%→80%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首年启动：90 天冲刺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奠基 → 搭建 → 引爆；设 Go / No-Go 闸门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90天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3749039" cy="3657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91440" cy="36576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49961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D1–30 奠基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01952"/>
            <a:ext cx="3383279" cy="3017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法律架构与牌照方案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2–3 个房产项目 LOI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品牌 VI 与命名核准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核心团队 8 人 Offer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财务模型与预算审批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会员章程与权益手册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749039" cy="3657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91440" cy="365760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49961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D31–60 搭建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01952"/>
            <a:ext cx="3383279" cy="3017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公司注册与基础牌照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签约首批 30 家合作商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小程序 1 期启动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内容矩阵开播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种子会员 50 位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CRM / 工单上线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3749039" cy="365760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371600"/>
            <a:ext cx="91440" cy="36576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49961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D61–90 引爆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1901952"/>
            <a:ext cx="3383279" cy="3017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发布会 200–300 人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小程序上线可用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创始会员正式招募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合作商扩至 80 家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首场行业沙龙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月度经营看板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212080"/>
            <a:ext cx="11430000" cy="960120"/>
          </a:xfrm>
          <a:prstGeom prst="roundRect">
            <a:avLst>
              <a:gd name="adj" fmla="val 8000"/>
            </a:avLst>
          </a:prstGeom>
          <a:solidFill>
            <a:srgbClr val="122F3D"/>
          </a:solidFill>
          <a:ln w="15875">
            <a:solidFill>
              <a:srgbClr val="5AA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34924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EF1"/>
                </a:solidFill>
                <a:latin typeface="微软雅黑"/>
                <a:ea typeface="微软雅黑"/>
              </a:rPr>
              <a:t>Go 标准：实体与房产合作落地 · 创始会员≥100 · 成交≥25 套 · 合作商≥80 · 小程序可用。任一严重不达标 → 暂停扩张，回到验证阶段。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KPI 与北极星指标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MAM × ARPU；用数据驱动续费与生态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KPI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91440" cy="466344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增长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创始会员 1000（18 月内）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房产成交 200 套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企业会员 50 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417320"/>
            <a:ext cx="91440" cy="466344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留存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续费率 ≥70%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NPS ≥50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月活跃率 ≥40%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417320"/>
            <a:ext cx="91440" cy="466344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生态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认证合作商 150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人均权益模块 ≥3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撮合成功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1417320"/>
            <a:ext cx="91440" cy="466344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运营/财务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活动 40 场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投诉 48h 解决 ≥95%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LTV/CAC ≥3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合规红线与关键风险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先合法，再扩张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合规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566928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91440" cy="475488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499616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合规铁律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01952"/>
            <a:ext cx="530352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不承诺投资回报 / 租金保证（除非书面担保并披露）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不吸收资金、不代持、不设资金池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不做未持牌移民 / 法律 / 医疗 / 金融经营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不用未经证实的“最大/第一/保证”宣传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会员数据未经授权不得对外提供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活动尊重当地宗教文化与斋月安排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遵守 UAE PDPL 与中国 PIPL 跨境规则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91440" cy="475488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4996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高优先级风险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901952"/>
            <a:ext cx="51206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R1 房产销售不及预期 → 现金流断裂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R2 过度依赖房产收入 → Y2 强制生态≥35%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R3 权益承诺无法兑付 → 先签合作商再上线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R4 牌照/合规问题 → 立项前法律意见书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R5 创始身份贬值 → 治理权 + 透明度报告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R8 品牌舆情 → 24h 响应与发言人制度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盈亏平衡点约 143 套，必须月度监控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落地执行抓手（四重点融合）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把战略拆成可分配的工作包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落地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91440" cy="466344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主办方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注册双主体与牌照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理事会与章程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团队 20–24 人编制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预算与启动金 5M AED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417320"/>
            <a:ext cx="91440" cy="466344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会员定价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五级产品上架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权益手册 + SLA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入会 7 天顾问接待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续费与升级路径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417320"/>
            <a:ext cx="91440" cy="466344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会员生态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首年启 ①③⑥ 中心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合作商准入五步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首年 150 家认证商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保障金 3% 计提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1417320"/>
            <a:ext cx="2834640" cy="466344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1417320"/>
            <a:ext cx="91440" cy="4663440"/>
          </a:xfrm>
          <a:prstGeom prst="rect">
            <a:avLst/>
          </a:prstGeom>
          <a:solidFill>
            <a:srgbClr val="5A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154533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社群搭建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1947672"/>
            <a:ext cx="24688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微信私域分层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FB 主群+主页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IG/LinkedIn/WhatsApp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12 分会与活动日历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98755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背书辅助落地：分阶段动作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49808"/>
            <a:ext cx="9875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D0A0"/>
                </a:solidFill>
                <a:latin typeface="微软雅黑"/>
                <a:ea typeface="微软雅黑"/>
              </a:rPr>
              <a:t>先商会与学术，后市区级平台，省级慎用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92608"/>
            <a:ext cx="1691640" cy="384048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 w="15875">
            <a:solidFill>
              <a:srgbClr val="C9A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E8D0A0"/>
                </a:solidFill>
                <a:latin typeface="微软雅黑"/>
                <a:ea typeface="微软雅黑"/>
              </a:rPr>
              <a:t>行动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1905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91440" cy="470916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阶段一 · 0–90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对接驻迪拜总领馆相关活动渠道与华人商会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签约 1–2 家大学/研究机构为学术支持单位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上海侧以区级企联/国际会客厅做活动共创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对外话术：联合支持 / 学术指导，非政府主办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417320"/>
            <a:ext cx="91440" cy="4709160"/>
          </a:xfrm>
          <a:prstGeom prst="rect">
            <a:avLst/>
          </a:prstGeom>
          <a:solidFill>
            <a:srgbClr val="D4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阶段二 · 3–12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白皮书联名发布，抬升国内信任度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争取市级相关平台作为“支持单位”出现在峰会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形成可复制的上海—迪拜双向考察团产品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评估是否引入省级产业联盟作战略合作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1A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417320"/>
            <a:ext cx="91440" cy="4709160"/>
          </a:xfrm>
          <a:prstGeom prst="rect">
            <a:avLst/>
          </a:prstGeom>
          <a:solidFill>
            <a:srgbClr val="2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545336"/>
            <a:ext cx="338327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D0A0"/>
                </a:solidFill>
                <a:latin typeface="微软雅黑"/>
                <a:ea typeface="微软雅黑"/>
              </a:rPr>
              <a:t>阶段三 · 12 月后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1947672"/>
            <a:ext cx="3383279" cy="4069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在有实质 GMV 与会员履约数据后再谈更高级背书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背书服务于扩张，不替代产品与合规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保持商业主体独立决策与快速迭代能力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8EEF1"/>
                </a:solidFill>
                <a:latin typeface="微软雅黑"/>
                <a:ea typeface="微软雅黑"/>
              </a:rPr>
              <a:t>• 所有背书关系写入合作备忘录，明确权责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25400"/>
          </a:xfrm>
          <a:prstGeom prst="rect">
            <a:avLst/>
          </a:prstGeom>
          <a:solidFill>
            <a:srgbClr val="C9A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E8EEF1"/>
                </a:solidFill>
                <a:latin typeface="微软雅黑"/>
                <a:ea typeface="微软雅黑"/>
              </a:rPr>
              <a:t>一套房，只能改变一个家庭的居住方式；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一个平台，却可以改变一代华人在中东的发展方式。</a:t>
            </a:r>
          </a:p>
          <a:p>
            <a:pPr algn="l">
              <a:spcAft>
                <a:spcPts val="800"/>
              </a:spcAft>
            </a:pPr>
            <a:r>
              <a:rPr sz="2800" b="1">
                <a:solidFill>
                  <a:srgbClr val="C9A26B"/>
                </a:solidFill>
                <a:latin typeface="微软雅黑"/>
                <a:ea typeface="微软雅黑"/>
              </a:rPr>
              <a:t>中东华人共创共享联盟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8D0A0"/>
                </a:solidFill>
                <a:latin typeface="微软雅黑"/>
                <a:ea typeface="微软雅黑"/>
              </a:rPr>
              <a:t>让世界因连接而更有价值，让华人因共创而更加精彩。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AB4BE"/>
                </a:solidFill>
                <a:latin typeface="微软雅黑"/>
                <a:ea typeface="微软雅黑"/>
              </a:rPr>
              <a:t>下一步：法律意见书 → 真实财务参数替换 → 立项评审确认 90 天责任人与预算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中东华人共创共享联盟 MECA · 战略与落地执行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AB4BE"/>
                </a:solidFill>
                <a:latin typeface="微软雅黑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